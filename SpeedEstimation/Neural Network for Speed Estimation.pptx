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67" r:id="rId6"/>
    <p:sldId id="268" r:id="rId7"/>
    <p:sldId id="269" r:id="rId8"/>
    <p:sldId id="270" r:id="rId9"/>
    <p:sldId id="266" r:id="rId10"/>
    <p:sldId id="259" r:id="rId11"/>
    <p:sldId id="257" r:id="rId12"/>
    <p:sldId id="258" r:id="rId13"/>
    <p:sldId id="260" r:id="rId14"/>
    <p:sldId id="264" r:id="rId15"/>
    <p:sldId id="265" r:id="rId16"/>
    <p:sldId id="261" r:id="rId17"/>
    <p:sldId id="262" r:id="rId18"/>
    <p:sldId id="263" r:id="rId1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100" d="100"/>
          <a:sy n="100" d="100"/>
        </p:scale>
        <p:origin x="936" y="4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고 찬영" userId="c468a845-c569-4fcb-a2a8-261805febc02" providerId="ADAL" clId="{CBE7EC5F-EC01-4FD6-80DC-8F84B5AE7C62}"/>
    <pc:docChg chg="undo custSel addSld delSld modSld">
      <pc:chgData name="고 찬영" userId="c468a845-c569-4fcb-a2a8-261805febc02" providerId="ADAL" clId="{CBE7EC5F-EC01-4FD6-80DC-8F84B5AE7C62}" dt="2026-01-14T08:36:22.184" v="8752" actId="20577"/>
      <pc:docMkLst>
        <pc:docMk/>
      </pc:docMkLst>
      <pc:sldChg chg="delSp modSp">
        <pc:chgData name="고 찬영" userId="c468a845-c569-4fcb-a2a8-261805febc02" providerId="ADAL" clId="{CBE7EC5F-EC01-4FD6-80DC-8F84B5AE7C62}" dt="2026-01-12T13:17:31.667" v="210" actId="1076"/>
        <pc:sldMkLst>
          <pc:docMk/>
          <pc:sldMk cId="1810024767" sldId="256"/>
        </pc:sldMkLst>
        <pc:spChg chg="mod">
          <ac:chgData name="고 찬영" userId="c468a845-c569-4fcb-a2a8-261805febc02" providerId="ADAL" clId="{CBE7EC5F-EC01-4FD6-80DC-8F84B5AE7C62}" dt="2026-01-12T13:17:31.667" v="210" actId="1076"/>
          <ac:spMkLst>
            <pc:docMk/>
            <pc:sldMk cId="1810024767" sldId="256"/>
            <ac:spMk id="4" creationId="{4885E2C1-F738-4809-B7F0-1F1DC0FA18F7}"/>
          </ac:spMkLst>
        </pc:spChg>
        <pc:spChg chg="del mod">
          <ac:chgData name="고 찬영" userId="c468a845-c569-4fcb-a2a8-261805febc02" providerId="ADAL" clId="{CBE7EC5F-EC01-4FD6-80DC-8F84B5AE7C62}" dt="2026-01-12T13:17:22.008" v="207" actId="478"/>
          <ac:spMkLst>
            <pc:docMk/>
            <pc:sldMk cId="1810024767" sldId="256"/>
            <ac:spMk id="5" creationId="{CBC40804-93C6-4998-8374-CF98D96E3799}"/>
          </ac:spMkLst>
        </pc:spChg>
        <pc:picChg chg="del">
          <ac:chgData name="고 찬영" userId="c468a845-c569-4fcb-a2a8-261805febc02" providerId="ADAL" clId="{CBE7EC5F-EC01-4FD6-80DC-8F84B5AE7C62}" dt="2026-01-12T13:17:22.008" v="207" actId="478"/>
          <ac:picMkLst>
            <pc:docMk/>
            <pc:sldMk cId="1810024767" sldId="256"/>
            <ac:picMk id="8" creationId="{B4D4C914-3651-461F-8F79-E17E18599F0D}"/>
          </ac:picMkLst>
        </pc:picChg>
      </pc:sldChg>
      <pc:sldChg chg="modSp">
        <pc:chgData name="고 찬영" userId="c468a845-c569-4fcb-a2a8-261805febc02" providerId="ADAL" clId="{CBE7EC5F-EC01-4FD6-80DC-8F84B5AE7C62}" dt="2026-01-12T13:20:00.615" v="298" actId="20577"/>
        <pc:sldMkLst>
          <pc:docMk/>
          <pc:sldMk cId="3968024402" sldId="257"/>
        </pc:sldMkLst>
        <pc:spChg chg="mod">
          <ac:chgData name="고 찬영" userId="c468a845-c569-4fcb-a2a8-261805febc02" providerId="ADAL" clId="{CBE7EC5F-EC01-4FD6-80DC-8F84B5AE7C62}" dt="2026-01-12T13:20:00.615" v="298" actId="20577"/>
          <ac:spMkLst>
            <pc:docMk/>
            <pc:sldMk cId="3968024402" sldId="257"/>
            <ac:spMk id="6" creationId="{EC60EAAC-3DBC-45E9-AB04-4681F0F33284}"/>
          </ac:spMkLst>
        </pc:spChg>
      </pc:sldChg>
      <pc:sldChg chg="modSp">
        <pc:chgData name="고 찬영" userId="c468a845-c569-4fcb-a2a8-261805febc02" providerId="ADAL" clId="{CBE7EC5F-EC01-4FD6-80DC-8F84B5AE7C62}" dt="2026-01-12T13:20:07.363" v="301" actId="20577"/>
        <pc:sldMkLst>
          <pc:docMk/>
          <pc:sldMk cId="1942058201" sldId="258"/>
        </pc:sldMkLst>
        <pc:spChg chg="mod">
          <ac:chgData name="고 찬영" userId="c468a845-c569-4fcb-a2a8-261805febc02" providerId="ADAL" clId="{CBE7EC5F-EC01-4FD6-80DC-8F84B5AE7C62}" dt="2026-01-12T13:20:07.363" v="301" actId="20577"/>
          <ac:spMkLst>
            <pc:docMk/>
            <pc:sldMk cId="1942058201" sldId="258"/>
            <ac:spMk id="6" creationId="{EC60EAAC-3DBC-45E9-AB04-4681F0F33284}"/>
          </ac:spMkLst>
        </pc:spChg>
      </pc:sldChg>
      <pc:sldChg chg="delSp modSp add">
        <pc:chgData name="고 찬영" userId="c468a845-c569-4fcb-a2a8-261805febc02" providerId="ADAL" clId="{CBE7EC5F-EC01-4FD6-80DC-8F84B5AE7C62}" dt="2026-01-12T13:18:44.600" v="254" actId="12"/>
        <pc:sldMkLst>
          <pc:docMk/>
          <pc:sldMk cId="3765913597" sldId="259"/>
        </pc:sldMkLst>
        <pc:spChg chg="del">
          <ac:chgData name="고 찬영" userId="c468a845-c569-4fcb-a2a8-261805febc02" providerId="ADAL" clId="{CBE7EC5F-EC01-4FD6-80DC-8F84B5AE7C62}" dt="2026-01-12T13:17:34.142" v="211" actId="478"/>
          <ac:spMkLst>
            <pc:docMk/>
            <pc:sldMk cId="3765913597" sldId="259"/>
            <ac:spMk id="4" creationId="{4885E2C1-F738-4809-B7F0-1F1DC0FA18F7}"/>
          </ac:spMkLst>
        </pc:spChg>
        <pc:spChg chg="mod">
          <ac:chgData name="고 찬영" userId="c468a845-c569-4fcb-a2a8-261805febc02" providerId="ADAL" clId="{CBE7EC5F-EC01-4FD6-80DC-8F84B5AE7C62}" dt="2026-01-12T13:18:44.600" v="254" actId="12"/>
          <ac:spMkLst>
            <pc:docMk/>
            <pc:sldMk cId="3765913597" sldId="259"/>
            <ac:spMk id="5" creationId="{CBC40804-93C6-4998-8374-CF98D96E3799}"/>
          </ac:spMkLst>
        </pc:spChg>
      </pc:sldChg>
      <pc:sldChg chg="addSp delSp modSp add">
        <pc:chgData name="고 찬영" userId="c468a845-c569-4fcb-a2a8-261805febc02" providerId="ADAL" clId="{CBE7EC5F-EC01-4FD6-80DC-8F84B5AE7C62}" dt="2026-01-14T08:14:59.057" v="8730" actId="14100"/>
        <pc:sldMkLst>
          <pc:docMk/>
          <pc:sldMk cId="2428374097" sldId="260"/>
        </pc:sldMkLst>
        <pc:spChg chg="add mod">
          <ac:chgData name="고 찬영" userId="c468a845-c569-4fcb-a2a8-261805febc02" providerId="ADAL" clId="{CBE7EC5F-EC01-4FD6-80DC-8F84B5AE7C62}" dt="2026-01-14T06:33:24.151" v="4119" actId="20577"/>
          <ac:spMkLst>
            <pc:docMk/>
            <pc:sldMk cId="2428374097" sldId="260"/>
            <ac:spMk id="3" creationId="{12325E3C-B977-41D9-9518-D36387EBC89B}"/>
          </ac:spMkLst>
        </pc:spChg>
        <pc:spChg chg="del mod">
          <ac:chgData name="고 찬영" userId="c468a845-c569-4fcb-a2a8-261805febc02" providerId="ADAL" clId="{CBE7EC5F-EC01-4FD6-80DC-8F84B5AE7C62}" dt="2026-01-14T05:23:56.168" v="2619" actId="478"/>
          <ac:spMkLst>
            <pc:docMk/>
            <pc:sldMk cId="2428374097" sldId="260"/>
            <ac:spMk id="6" creationId="{EC60EAAC-3DBC-45E9-AB04-4681F0F33284}"/>
          </ac:spMkLst>
        </pc:spChg>
        <pc:picChg chg="add mod">
          <ac:chgData name="고 찬영" userId="c468a845-c569-4fcb-a2a8-261805febc02" providerId="ADAL" clId="{CBE7EC5F-EC01-4FD6-80DC-8F84B5AE7C62}" dt="2026-01-14T08:14:59.057" v="8730" actId="14100"/>
          <ac:picMkLst>
            <pc:docMk/>
            <pc:sldMk cId="2428374097" sldId="260"/>
            <ac:picMk id="5122" creationId="{DEA6844C-B5EE-43EC-A15B-2396A8BF3156}"/>
          </ac:picMkLst>
        </pc:picChg>
      </pc:sldChg>
      <pc:sldChg chg="modSp add">
        <pc:chgData name="고 찬영" userId="c468a845-c569-4fcb-a2a8-261805febc02" providerId="ADAL" clId="{CBE7EC5F-EC01-4FD6-80DC-8F84B5AE7C62}" dt="2026-01-12T13:21:42.808" v="591" actId="20577"/>
        <pc:sldMkLst>
          <pc:docMk/>
          <pc:sldMk cId="2422886783" sldId="261"/>
        </pc:sldMkLst>
        <pc:spChg chg="mod">
          <ac:chgData name="고 찬영" userId="c468a845-c569-4fcb-a2a8-261805febc02" providerId="ADAL" clId="{CBE7EC5F-EC01-4FD6-80DC-8F84B5AE7C62}" dt="2026-01-12T13:21:42.808" v="591" actId="20577"/>
          <ac:spMkLst>
            <pc:docMk/>
            <pc:sldMk cId="2422886783" sldId="261"/>
            <ac:spMk id="6" creationId="{EC60EAAC-3DBC-45E9-AB04-4681F0F33284}"/>
          </ac:spMkLst>
        </pc:spChg>
      </pc:sldChg>
      <pc:sldChg chg="modSp add">
        <pc:chgData name="고 찬영" userId="c468a845-c569-4fcb-a2a8-261805febc02" providerId="ADAL" clId="{CBE7EC5F-EC01-4FD6-80DC-8F84B5AE7C62}" dt="2026-01-12T13:22:28.601" v="722" actId="20577"/>
        <pc:sldMkLst>
          <pc:docMk/>
          <pc:sldMk cId="2081702126" sldId="262"/>
        </pc:sldMkLst>
        <pc:spChg chg="mod">
          <ac:chgData name="고 찬영" userId="c468a845-c569-4fcb-a2a8-261805febc02" providerId="ADAL" clId="{CBE7EC5F-EC01-4FD6-80DC-8F84B5AE7C62}" dt="2026-01-12T13:22:28.601" v="722" actId="20577"/>
          <ac:spMkLst>
            <pc:docMk/>
            <pc:sldMk cId="2081702126" sldId="262"/>
            <ac:spMk id="6" creationId="{EC60EAAC-3DBC-45E9-AB04-4681F0F33284}"/>
          </ac:spMkLst>
        </pc:spChg>
      </pc:sldChg>
      <pc:sldChg chg="delSp modSp add">
        <pc:chgData name="고 찬영" userId="c468a845-c569-4fcb-a2a8-261805febc02" providerId="ADAL" clId="{CBE7EC5F-EC01-4FD6-80DC-8F84B5AE7C62}" dt="2026-01-14T05:23:52.066" v="2618"/>
        <pc:sldMkLst>
          <pc:docMk/>
          <pc:sldMk cId="929161598" sldId="263"/>
        </pc:sldMkLst>
        <pc:spChg chg="del mod">
          <ac:chgData name="고 찬영" userId="c468a845-c569-4fcb-a2a8-261805febc02" providerId="ADAL" clId="{CBE7EC5F-EC01-4FD6-80DC-8F84B5AE7C62}" dt="2026-01-14T05:23:52.066" v="2618"/>
          <ac:spMkLst>
            <pc:docMk/>
            <pc:sldMk cId="929161598" sldId="263"/>
            <ac:spMk id="6" creationId="{EC60EAAC-3DBC-45E9-AB04-4681F0F33284}"/>
          </ac:spMkLst>
        </pc:spChg>
      </pc:sldChg>
      <pc:sldChg chg="delSp modSp add del">
        <pc:chgData name="고 찬영" userId="c468a845-c569-4fcb-a2a8-261805febc02" providerId="ADAL" clId="{CBE7EC5F-EC01-4FD6-80DC-8F84B5AE7C62}" dt="2026-01-14T08:13:59.523" v="8728"/>
        <pc:sldMkLst>
          <pc:docMk/>
          <pc:sldMk cId="1421921319" sldId="264"/>
        </pc:sldMkLst>
        <pc:spChg chg="mod">
          <ac:chgData name="고 찬영" userId="c468a845-c569-4fcb-a2a8-261805febc02" providerId="ADAL" clId="{CBE7EC5F-EC01-4FD6-80DC-8F84B5AE7C62}" dt="2026-01-14T08:13:59.523" v="8728"/>
          <ac:spMkLst>
            <pc:docMk/>
            <pc:sldMk cId="1421921319" sldId="264"/>
            <ac:spMk id="3" creationId="{12325E3C-B977-41D9-9518-D36387EBC89B}"/>
          </ac:spMkLst>
        </pc:spChg>
        <pc:picChg chg="del">
          <ac:chgData name="고 찬영" userId="c468a845-c569-4fcb-a2a8-261805febc02" providerId="ADAL" clId="{CBE7EC5F-EC01-4FD6-80DC-8F84B5AE7C62}" dt="2026-01-14T06:25:40.687" v="3621" actId="478"/>
          <ac:picMkLst>
            <pc:docMk/>
            <pc:sldMk cId="1421921319" sldId="264"/>
            <ac:picMk id="5122" creationId="{DEA6844C-B5EE-43EC-A15B-2396A8BF3156}"/>
          </ac:picMkLst>
        </pc:picChg>
      </pc:sldChg>
      <pc:sldChg chg="modSp add">
        <pc:chgData name="고 찬영" userId="c468a845-c569-4fcb-a2a8-261805febc02" providerId="ADAL" clId="{CBE7EC5F-EC01-4FD6-80DC-8F84B5AE7C62}" dt="2026-01-14T08:36:22.184" v="8752" actId="20577"/>
        <pc:sldMkLst>
          <pc:docMk/>
          <pc:sldMk cId="3461325842" sldId="265"/>
        </pc:sldMkLst>
        <pc:spChg chg="mod">
          <ac:chgData name="고 찬영" userId="c468a845-c569-4fcb-a2a8-261805febc02" providerId="ADAL" clId="{CBE7EC5F-EC01-4FD6-80DC-8F84B5AE7C62}" dt="2026-01-14T08:36:22.184" v="8752" actId="20577"/>
          <ac:spMkLst>
            <pc:docMk/>
            <pc:sldMk cId="3461325842" sldId="265"/>
            <ac:spMk id="3" creationId="{12325E3C-B977-41D9-9518-D36387EBC89B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1324B3-96DF-4837-B201-ACCA8C7B2C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B9D5433-D4FF-4FBF-8572-72502F3DA9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03B37FB-7E4B-4F6E-89E9-76FD075A9E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0782D7-C8C0-45A2-9103-BEE2C034E0BF}" type="datetimeFigureOut">
              <a:rPr lang="ko-KR" altLang="en-US" smtClean="0"/>
              <a:t>2026-01-15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8C35A6D-B0B8-44F1-BAB7-FB6FD894EE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F438724-2509-4E5D-B4F2-895CA0164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5C1B78-58CC-4764-9DA1-EBAF942FFA4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46851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A5D6AB3-4109-426A-80EE-4EC2CD4154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929C79E-E743-437A-8D8A-B0FC835DFC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6F700E3-A8AD-4ADA-B818-F98FC5C695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0782D7-C8C0-45A2-9103-BEE2C034E0BF}" type="datetimeFigureOut">
              <a:rPr lang="ko-KR" altLang="en-US" smtClean="0"/>
              <a:t>2026-01-15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6A779FC-CD5F-4366-AC1E-DC3881FC51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B09C455-3188-419D-A1E2-96E515786F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5C1B78-58CC-4764-9DA1-EBAF942FFA4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36073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FB99803-438E-4308-BA52-ABBAE90D28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EF2A56B-8FCE-49DC-944F-4BADBDC2CD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6D2D33C-A347-4D88-974B-8F8975581C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0782D7-C8C0-45A2-9103-BEE2C034E0BF}" type="datetimeFigureOut">
              <a:rPr lang="ko-KR" altLang="en-US" smtClean="0"/>
              <a:t>2026-01-15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90960F4-8014-4314-984E-5AD62D74FE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B592F12-34EB-4BE1-AA64-B21BA77C62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5C1B78-58CC-4764-9DA1-EBAF942FFA4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15405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6EBBF48-1728-4EAD-9B11-1B03B10618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3DBE7AE-A887-4A68-AB5E-1D506CE3B5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A618EC7-8C96-4056-A771-59A3201828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78A1129-53F3-480A-9340-0533F7908A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0782D7-C8C0-45A2-9103-BEE2C034E0BF}" type="datetimeFigureOut">
              <a:rPr lang="ko-KR" altLang="en-US" smtClean="0"/>
              <a:t>2026-01-15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9217F87-EBF2-4A79-8C0B-89917AAC23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766A036-9827-4CE5-AD83-FE709E114D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5C1B78-58CC-4764-9DA1-EBAF942FFA4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37120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8000A9-4E23-4120-A53F-0F41A20D13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6C72EFD-CDE7-43FC-AC32-B52FA3C659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400C15B-CC41-4C5D-AAFA-0C8DA060D2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F45FD1E-7FC7-49B5-AD6C-8C65DFD8052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50F007B-7963-46CA-81CC-1A1C5015635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5C7E995-3179-46F1-B08F-E630530D6B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0782D7-C8C0-45A2-9103-BEE2C034E0BF}" type="datetimeFigureOut">
              <a:rPr lang="ko-KR" altLang="en-US" smtClean="0"/>
              <a:t>2026-01-15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69323F67-9E4E-4F30-BFD8-5E038877F8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340E6F3-960E-4BC4-ABE3-F009F640C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5C1B78-58CC-4764-9DA1-EBAF942FFA4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18214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B970FE-9966-41E0-B8A2-84F2B81060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6E6E35E-A6FF-452F-8D50-0B94A39FC6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0782D7-C8C0-45A2-9103-BEE2C034E0BF}" type="datetimeFigureOut">
              <a:rPr lang="ko-KR" altLang="en-US" smtClean="0"/>
              <a:t>2026-01-15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81DD15C-C82F-409D-8873-A9A5A78C12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56A411D-C5A8-4890-AB6F-8B8E3A6FAF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5C1B78-58CC-4764-9DA1-EBAF942FFA4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64298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145640D-D40B-4E08-B02A-CEB6C93AE8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0782D7-C8C0-45A2-9103-BEE2C034E0BF}" type="datetimeFigureOut">
              <a:rPr lang="ko-KR" altLang="en-US" smtClean="0"/>
              <a:t>2026-01-15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504A5E01-B244-4D6D-9B1B-C2D2C00D7F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280A81B-A3B7-4707-904F-4C884223D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5C1B78-58CC-4764-9DA1-EBAF942FFA4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44462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801509-AB3A-4429-AAFE-4EB5D54B12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797845B-4E50-4510-96D1-A12CA973F4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6D62C34-AC54-4BFF-BFE3-AF3CB45084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6F4ED95-63D7-4871-B2B1-65149AC005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0782D7-C8C0-45A2-9103-BEE2C034E0BF}" type="datetimeFigureOut">
              <a:rPr lang="ko-KR" altLang="en-US" smtClean="0"/>
              <a:t>2026-01-15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8FE3574-30C1-41D3-9B9C-6BD5FDA054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0488686-F3FD-435F-9929-B7C102DBB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5C1B78-58CC-4764-9DA1-EBAF942FFA4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78111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77229D-CBC0-47F7-B66D-E229FE1049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5F88375-B60F-4610-B0EE-E3931DF4CA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C894E9F-5866-4775-9EB3-8A798B4DEA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86D3FAA-A854-4F07-9D26-9ABA4B4F1B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0782D7-C8C0-45A2-9103-BEE2C034E0BF}" type="datetimeFigureOut">
              <a:rPr lang="ko-KR" altLang="en-US" smtClean="0"/>
              <a:t>2026-01-15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80CB6FA-1D0F-40A1-B6E7-C5B245A4D6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CDFACC9-A8C8-4473-8CF5-FD7DE639F5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5C1B78-58CC-4764-9DA1-EBAF942FFA4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96910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DC2DDEE-F975-43DD-B957-6D4EE0CE7F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F4E6234-3829-4239-B1F6-40180B858D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EA4778F-5772-4101-A122-0306182BB0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0782D7-C8C0-45A2-9103-BEE2C034E0BF}" type="datetimeFigureOut">
              <a:rPr lang="ko-KR" altLang="en-US" smtClean="0"/>
              <a:t>2026-01-15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C9BE7D5-8DEB-4A49-8E6F-7617BFFC4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D01BD58-168F-420B-885B-21A959A5E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5C1B78-58CC-4764-9DA1-EBAF942FFA4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80573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461A754-437B-423A-BA3C-7C3493352ED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C85478C-43B2-4C12-A2EB-8E197838B6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6C30CD5-A607-45E7-9078-0254CCC5C4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0782D7-C8C0-45A2-9103-BEE2C034E0BF}" type="datetimeFigureOut">
              <a:rPr lang="ko-KR" altLang="en-US" smtClean="0"/>
              <a:t>2026-01-15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D9EA912-2006-4A13-9CF1-0BCA2DB93D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B6E0E2D-3078-49A8-BBE0-F7F018C958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5C1B78-58CC-4764-9DA1-EBAF942FFA4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1122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50F87C7-E40D-46A8-8ED3-0E0F0D0B63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018058D-9F97-4172-8098-0E744B029F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48DA585-8DDB-4647-A74B-AF69FB6789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0782D7-C8C0-45A2-9103-BEE2C034E0BF}" type="datetimeFigureOut">
              <a:rPr lang="ko-KR" altLang="en-US" smtClean="0"/>
              <a:t>2026-01-15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FF70786-A537-43CA-9F0D-7D718994EF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B126A5F-4C90-4F05-964E-890D80FA45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5C1B78-58CC-4764-9DA1-EBAF942FFA4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73665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885E2C1-F738-4809-B7F0-1F1DC0FA18F7}"/>
              </a:ext>
            </a:extLst>
          </p:cNvPr>
          <p:cNvSpPr txBox="1"/>
          <p:nvPr/>
        </p:nvSpPr>
        <p:spPr>
          <a:xfrm>
            <a:off x="4693212" y="3152001"/>
            <a:ext cx="2805576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Speed Definition</a:t>
            </a:r>
            <a:endParaRPr lang="ko-KR" alt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00247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BC40804-93C6-4998-8374-CF98D96E3799}"/>
              </a:ext>
            </a:extLst>
          </p:cNvPr>
          <p:cNvSpPr txBox="1"/>
          <p:nvPr/>
        </p:nvSpPr>
        <p:spPr>
          <a:xfrm>
            <a:off x="0" y="0"/>
            <a:ext cx="35470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arenBoth"/>
            </a:pPr>
            <a:r>
              <a:rPr lang="en-US" altLang="ko-KR" b="1" dirty="0">
                <a:latin typeface="+mn-ea"/>
                <a:cs typeface="Times New Roman" panose="02020603050405020304" pitchFamily="18" charset="0"/>
              </a:rPr>
              <a:t>Neuromorphic framework I</a:t>
            </a:r>
          </a:p>
        </p:txBody>
      </p:sp>
      <p:sp>
        <p:nvSpPr>
          <p:cNvPr id="4" name="자유형: 도형 3">
            <a:extLst>
              <a:ext uri="{FF2B5EF4-FFF2-40B4-BE49-F238E27FC236}">
                <a16:creationId xmlns:a16="http://schemas.microsoft.com/office/drawing/2014/main" id="{38B79779-46FC-4361-9399-4AB357FD79CC}"/>
              </a:ext>
            </a:extLst>
          </p:cNvPr>
          <p:cNvSpPr/>
          <p:nvPr/>
        </p:nvSpPr>
        <p:spPr>
          <a:xfrm flipH="1">
            <a:off x="6455632" y="681221"/>
            <a:ext cx="827615" cy="3225800"/>
          </a:xfrm>
          <a:custGeom>
            <a:avLst/>
            <a:gdLst>
              <a:gd name="connsiteX0" fmla="*/ 6350 w 1181100"/>
              <a:gd name="connsiteY0" fmla="*/ 0 h 3225800"/>
              <a:gd name="connsiteX1" fmla="*/ 0 w 1181100"/>
              <a:gd name="connsiteY1" fmla="*/ 3225800 h 3225800"/>
              <a:gd name="connsiteX2" fmla="*/ 1181100 w 1181100"/>
              <a:gd name="connsiteY2" fmla="*/ 1708150 h 3225800"/>
              <a:gd name="connsiteX3" fmla="*/ 1181100 w 1181100"/>
              <a:gd name="connsiteY3" fmla="*/ 1485900 h 3225800"/>
              <a:gd name="connsiteX4" fmla="*/ 6350 w 1181100"/>
              <a:gd name="connsiteY4" fmla="*/ 0 h 3225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81100" h="3225800">
                <a:moveTo>
                  <a:pt x="6350" y="0"/>
                </a:moveTo>
                <a:cubicBezTo>
                  <a:pt x="4233" y="1075267"/>
                  <a:pt x="2117" y="2150533"/>
                  <a:pt x="0" y="3225800"/>
                </a:cubicBezTo>
                <a:lnTo>
                  <a:pt x="1181100" y="1708150"/>
                </a:lnTo>
                <a:lnTo>
                  <a:pt x="1181100" y="1485900"/>
                </a:lnTo>
                <a:lnTo>
                  <a:pt x="6350" y="0"/>
                </a:lnTo>
                <a:close/>
              </a:path>
            </a:pathLst>
          </a:custGeom>
          <a:gradFill>
            <a:gsLst>
              <a:gs pos="0">
                <a:schemeClr val="bg1"/>
              </a:gs>
              <a:gs pos="100000">
                <a:srgbClr val="F2F2F2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76D9A275-F828-44D8-8FA2-5FA937DEEF87}"/>
              </a:ext>
            </a:extLst>
          </p:cNvPr>
          <p:cNvGrpSpPr/>
          <p:nvPr/>
        </p:nvGrpSpPr>
        <p:grpSpPr>
          <a:xfrm>
            <a:off x="5460224" y="560072"/>
            <a:ext cx="1503369" cy="527049"/>
            <a:chOff x="3402146" y="970878"/>
            <a:chExt cx="924489" cy="324106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D3E219BD-2660-4C60-823F-27623F2E08A8}"/>
                </a:ext>
              </a:extLst>
            </p:cNvPr>
            <p:cNvSpPr/>
            <p:nvPr/>
          </p:nvSpPr>
          <p:spPr>
            <a:xfrm>
              <a:off x="3402146" y="970878"/>
              <a:ext cx="923350" cy="32410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65000"/>
                </a:schemeClr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9" name="직선 화살표 연결선 8">
              <a:extLst>
                <a:ext uri="{FF2B5EF4-FFF2-40B4-BE49-F238E27FC236}">
                  <a16:creationId xmlns:a16="http://schemas.microsoft.com/office/drawing/2014/main" id="{F8C790A1-1138-4AC1-9A38-0133A5A99397}"/>
                </a:ext>
              </a:extLst>
            </p:cNvPr>
            <p:cNvCxnSpPr>
              <a:cxnSpLocks/>
            </p:cNvCxnSpPr>
            <p:nvPr/>
          </p:nvCxnSpPr>
          <p:spPr>
            <a:xfrm>
              <a:off x="3433151" y="1062529"/>
              <a:ext cx="144000" cy="1096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화살표 연결선 9">
              <a:extLst>
                <a:ext uri="{FF2B5EF4-FFF2-40B4-BE49-F238E27FC236}">
                  <a16:creationId xmlns:a16="http://schemas.microsoft.com/office/drawing/2014/main" id="{85BB1CF7-2CB0-4CE6-AAC7-64235D1D0FA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29976" y="1205586"/>
              <a:ext cx="144000" cy="0"/>
            </a:xfrm>
            <a:prstGeom prst="straightConnector1">
              <a:avLst/>
            </a:prstGeom>
            <a:ln w="12700">
              <a:solidFill>
                <a:schemeClr val="accent1">
                  <a:lumMod val="75000"/>
                </a:schemeClr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4E50E42-1A49-4F6F-9D2D-4B3CEF2E5700}"/>
                </a:ext>
              </a:extLst>
            </p:cNvPr>
            <p:cNvSpPr txBox="1"/>
            <p:nvPr/>
          </p:nvSpPr>
          <p:spPr>
            <a:xfrm>
              <a:off x="3553686" y="1014305"/>
              <a:ext cx="772949" cy="8516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>
                <a:defRPr sz="1400"/>
              </a:lvl1pPr>
            </a:lstStyle>
            <a:p>
              <a:pPr algn="ctr"/>
              <a:r>
                <a:rPr lang="en-US" sz="900">
                  <a:latin typeface="Arial" panose="020B0604020202020204" pitchFamily="34" charset="0"/>
                  <a:cs typeface="Arial" panose="020B0604020202020204" pitchFamily="34" charset="0"/>
                </a:rPr>
                <a:t>: Desending pathways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904442D2-D5A9-4806-9FB4-4C5E37B865BF}"/>
                </a:ext>
              </a:extLst>
            </p:cNvPr>
            <p:cNvSpPr txBox="1"/>
            <p:nvPr/>
          </p:nvSpPr>
          <p:spPr>
            <a:xfrm>
              <a:off x="3587815" y="1160420"/>
              <a:ext cx="696609" cy="8516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>
                <a:defRPr sz="1400"/>
              </a:lvl1pPr>
            </a:lstStyle>
            <a:p>
              <a:pPr algn="ctr"/>
              <a:r>
                <a:rPr lang="en-US" sz="900">
                  <a:latin typeface="Arial" panose="020B0604020202020204" pitchFamily="34" charset="0"/>
                  <a:cs typeface="Arial" panose="020B0604020202020204" pitchFamily="34" charset="0"/>
                </a:rPr>
                <a:t>: Ascending pathways</a:t>
              </a:r>
            </a:p>
          </p:txBody>
        </p:sp>
      </p:grp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58AEE9E2-09A0-4951-A519-2F08844628F1}"/>
              </a:ext>
            </a:extLst>
          </p:cNvPr>
          <p:cNvSpPr/>
          <p:nvPr/>
        </p:nvSpPr>
        <p:spPr>
          <a:xfrm>
            <a:off x="7267473" y="665235"/>
            <a:ext cx="4052985" cy="320656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C5065EE-3377-43AC-A398-62BED9983A20}"/>
              </a:ext>
            </a:extLst>
          </p:cNvPr>
          <p:cNvSpPr/>
          <p:nvPr/>
        </p:nvSpPr>
        <p:spPr>
          <a:xfrm>
            <a:off x="7248950" y="4046852"/>
            <a:ext cx="4056797" cy="17262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E074ABFE-2E28-45AD-A1DE-26986B2965B8}"/>
              </a:ext>
            </a:extLst>
          </p:cNvPr>
          <p:cNvSpPr/>
          <p:nvPr/>
        </p:nvSpPr>
        <p:spPr>
          <a:xfrm>
            <a:off x="7854927" y="2409620"/>
            <a:ext cx="1342828" cy="624571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Speed  predictor</a:t>
            </a:r>
          </a:p>
          <a:p>
            <a:pPr algn="ctr"/>
            <a:r>
              <a:rPr lang="en-US" sz="1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network</a:t>
            </a:r>
          </a:p>
        </p:txBody>
      </p: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7D790C6F-83FE-4EF3-A403-420905E6F409}"/>
              </a:ext>
            </a:extLst>
          </p:cNvPr>
          <p:cNvCxnSpPr>
            <a:cxnSpLocks/>
          </p:cNvCxnSpPr>
          <p:nvPr/>
        </p:nvCxnSpPr>
        <p:spPr>
          <a:xfrm>
            <a:off x="8876559" y="4636004"/>
            <a:ext cx="1" cy="323165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531D6613-3043-47F7-B5DF-0AE76D16FD1D}"/>
              </a:ext>
            </a:extLst>
          </p:cNvPr>
          <p:cNvCxnSpPr>
            <a:cxnSpLocks/>
          </p:cNvCxnSpPr>
          <p:nvPr/>
        </p:nvCxnSpPr>
        <p:spPr>
          <a:xfrm>
            <a:off x="8170694" y="4619841"/>
            <a:ext cx="1" cy="339328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E22452B5-8E1E-4A17-8927-E18997BAA6F9}"/>
              </a:ext>
            </a:extLst>
          </p:cNvPr>
          <p:cNvSpPr txBox="1"/>
          <p:nvPr/>
        </p:nvSpPr>
        <p:spPr>
          <a:xfrm>
            <a:off x="9049608" y="4656302"/>
            <a:ext cx="741750" cy="3231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7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sz="1050"/>
              <a:t>Extensor</a:t>
            </a:r>
          </a:p>
          <a:p>
            <a:r>
              <a:rPr lang="en-US" sz="1050"/>
              <a:t>oscillator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A9D06C4-D133-4876-AFE0-E78A914A067D}"/>
              </a:ext>
            </a:extLst>
          </p:cNvPr>
          <p:cNvSpPr txBox="1"/>
          <p:nvPr/>
        </p:nvSpPr>
        <p:spPr>
          <a:xfrm>
            <a:off x="7435934" y="4650562"/>
            <a:ext cx="694957" cy="3231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sz="1050"/>
              <a:t>Flexor</a:t>
            </a:r>
          </a:p>
          <a:p>
            <a:r>
              <a:rPr lang="en-US" sz="1050"/>
              <a:t>oscillator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E3853DE-83A7-4491-9F75-775C302DF283}"/>
              </a:ext>
            </a:extLst>
          </p:cNvPr>
          <p:cNvSpPr txBox="1"/>
          <p:nvPr/>
        </p:nvSpPr>
        <p:spPr>
          <a:xfrm>
            <a:off x="8800615" y="5484149"/>
            <a:ext cx="1350469" cy="16158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sz="1050"/>
              <a:t>Extension torque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45CD148-75C3-432B-8191-98C43FAF06D7}"/>
              </a:ext>
            </a:extLst>
          </p:cNvPr>
          <p:cNvSpPr txBox="1"/>
          <p:nvPr/>
        </p:nvSpPr>
        <p:spPr>
          <a:xfrm>
            <a:off x="7136668" y="5496315"/>
            <a:ext cx="1097408" cy="16158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sz="1050"/>
              <a:t>Flexion torque</a:t>
            </a:r>
          </a:p>
        </p:txBody>
      </p:sp>
      <p:cxnSp>
        <p:nvCxnSpPr>
          <p:cNvPr id="22" name="연결선: 꺾임 21">
            <a:extLst>
              <a:ext uri="{FF2B5EF4-FFF2-40B4-BE49-F238E27FC236}">
                <a16:creationId xmlns:a16="http://schemas.microsoft.com/office/drawing/2014/main" id="{0A2E6B42-B3C9-483B-AF79-FDA31E06B682}"/>
              </a:ext>
            </a:extLst>
          </p:cNvPr>
          <p:cNvCxnSpPr>
            <a:cxnSpLocks/>
            <a:endCxn id="23" idx="6"/>
          </p:cNvCxnSpPr>
          <p:nvPr/>
        </p:nvCxnSpPr>
        <p:spPr>
          <a:xfrm rot="5400000">
            <a:off x="8481806" y="5302360"/>
            <a:ext cx="473286" cy="329977"/>
          </a:xfrm>
          <a:prstGeom prst="bentConnector2">
            <a:avLst/>
          </a:prstGeom>
          <a:ln w="12700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타원 22">
            <a:extLst>
              <a:ext uri="{FF2B5EF4-FFF2-40B4-BE49-F238E27FC236}">
                <a16:creationId xmlns:a16="http://schemas.microsoft.com/office/drawing/2014/main" id="{E3DEB777-030D-47A3-BC97-4D7200AAE79E}"/>
              </a:ext>
            </a:extLst>
          </p:cNvPr>
          <p:cNvSpPr/>
          <p:nvPr/>
        </p:nvSpPr>
        <p:spPr>
          <a:xfrm>
            <a:off x="8491003" y="5672762"/>
            <a:ext cx="62457" cy="624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A0A8C48-623B-496D-9423-8A4BF8D8CEA5}"/>
              </a:ext>
            </a:extLst>
          </p:cNvPr>
          <p:cNvSpPr txBox="1"/>
          <p:nvPr/>
        </p:nvSpPr>
        <p:spPr>
          <a:xfrm>
            <a:off x="8743683" y="6045179"/>
            <a:ext cx="1067333" cy="16158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sz="1050"/>
              <a:t>Net torque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5E63841-A029-4844-96F5-A8523F5ADD8C}"/>
              </a:ext>
            </a:extLst>
          </p:cNvPr>
          <p:cNvSpPr txBox="1"/>
          <p:nvPr/>
        </p:nvSpPr>
        <p:spPr>
          <a:xfrm>
            <a:off x="7397972" y="2017342"/>
            <a:ext cx="114489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50">
                <a:latin typeface="Arial" panose="020B0604020202020204" pitchFamily="34" charset="0"/>
                <a:cs typeface="Arial" panose="020B0604020202020204" pitchFamily="34" charset="0"/>
              </a:rPr>
              <a:t>Gait intention</a:t>
            </a:r>
          </a:p>
        </p:txBody>
      </p:sp>
      <p:cxnSp>
        <p:nvCxnSpPr>
          <p:cNvPr id="26" name="연결선: 꺾임 25">
            <a:extLst>
              <a:ext uri="{FF2B5EF4-FFF2-40B4-BE49-F238E27FC236}">
                <a16:creationId xmlns:a16="http://schemas.microsoft.com/office/drawing/2014/main" id="{BF75B1ED-8ECB-432B-BD10-475C7F2E17EF}"/>
              </a:ext>
            </a:extLst>
          </p:cNvPr>
          <p:cNvCxnSpPr>
            <a:cxnSpLocks/>
            <a:endCxn id="23" idx="2"/>
          </p:cNvCxnSpPr>
          <p:nvPr/>
        </p:nvCxnSpPr>
        <p:spPr>
          <a:xfrm rot="16200000" flipH="1">
            <a:off x="8090036" y="5303024"/>
            <a:ext cx="461434" cy="340500"/>
          </a:xfrm>
          <a:prstGeom prst="bentConnector2">
            <a:avLst/>
          </a:prstGeom>
          <a:ln w="12700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7F8DB688-B966-40EA-9EBB-9FBC06579ED4}"/>
              </a:ext>
            </a:extLst>
          </p:cNvPr>
          <p:cNvCxnSpPr>
            <a:cxnSpLocks/>
            <a:stCxn id="33" idx="2"/>
            <a:endCxn id="15" idx="0"/>
          </p:cNvCxnSpPr>
          <p:nvPr/>
        </p:nvCxnSpPr>
        <p:spPr>
          <a:xfrm>
            <a:off x="8526341" y="1877987"/>
            <a:ext cx="0" cy="531633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302B2EFD-7355-4C01-90DD-3FF1AE782AA9}"/>
              </a:ext>
            </a:extLst>
          </p:cNvPr>
          <p:cNvCxnSpPr>
            <a:cxnSpLocks/>
            <a:stCxn id="15" idx="2"/>
            <a:endCxn id="34" idx="0"/>
          </p:cNvCxnSpPr>
          <p:nvPr/>
        </p:nvCxnSpPr>
        <p:spPr>
          <a:xfrm>
            <a:off x="8526341" y="3034191"/>
            <a:ext cx="0" cy="1089019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연결선: 꺾임 28">
            <a:extLst>
              <a:ext uri="{FF2B5EF4-FFF2-40B4-BE49-F238E27FC236}">
                <a16:creationId xmlns:a16="http://schemas.microsoft.com/office/drawing/2014/main" id="{BA5EB748-FF5D-4DD7-BDFE-CD65721B8B0E}"/>
              </a:ext>
            </a:extLst>
          </p:cNvPr>
          <p:cNvCxnSpPr>
            <a:cxnSpLocks/>
            <a:stCxn id="23" idx="4"/>
            <a:endCxn id="45" idx="1"/>
          </p:cNvCxnSpPr>
          <p:nvPr/>
        </p:nvCxnSpPr>
        <p:spPr>
          <a:xfrm rot="16200000" flipH="1">
            <a:off x="9042389" y="5215062"/>
            <a:ext cx="294576" cy="1334890"/>
          </a:xfrm>
          <a:prstGeom prst="bentConnector2">
            <a:avLst/>
          </a:prstGeom>
          <a:ln w="12700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연결선: 꺾임 29">
            <a:extLst>
              <a:ext uri="{FF2B5EF4-FFF2-40B4-BE49-F238E27FC236}">
                <a16:creationId xmlns:a16="http://schemas.microsoft.com/office/drawing/2014/main" id="{36D71AC8-4059-4B41-A831-0C3ACE5EF3ED}"/>
              </a:ext>
            </a:extLst>
          </p:cNvPr>
          <p:cNvCxnSpPr>
            <a:cxnSpLocks/>
            <a:stCxn id="32" idx="0"/>
            <a:endCxn id="33" idx="0"/>
          </p:cNvCxnSpPr>
          <p:nvPr/>
        </p:nvCxnSpPr>
        <p:spPr>
          <a:xfrm rot="16200000" flipV="1">
            <a:off x="8765767" y="1013991"/>
            <a:ext cx="1153201" cy="1632051"/>
          </a:xfrm>
          <a:prstGeom prst="bentConnector3">
            <a:avLst>
              <a:gd name="adj1" fmla="val 119823"/>
            </a:avLst>
          </a:prstGeom>
          <a:ln w="12700">
            <a:solidFill>
              <a:schemeClr val="accent1">
                <a:lumMod val="75000"/>
              </a:schemeClr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연결선: 꺾임 30">
            <a:extLst>
              <a:ext uri="{FF2B5EF4-FFF2-40B4-BE49-F238E27FC236}">
                <a16:creationId xmlns:a16="http://schemas.microsoft.com/office/drawing/2014/main" id="{044F85EA-1235-449F-A1A2-8215DD2E560B}"/>
              </a:ext>
            </a:extLst>
          </p:cNvPr>
          <p:cNvCxnSpPr>
            <a:cxnSpLocks/>
            <a:stCxn id="45" idx="3"/>
            <a:endCxn id="32" idx="3"/>
          </p:cNvCxnSpPr>
          <p:nvPr/>
        </p:nvCxnSpPr>
        <p:spPr>
          <a:xfrm flipH="1" flipV="1">
            <a:off x="10823468" y="2716829"/>
            <a:ext cx="72436" cy="3312966"/>
          </a:xfrm>
          <a:prstGeom prst="bentConnector3">
            <a:avLst>
              <a:gd name="adj1" fmla="val -315589"/>
            </a:avLst>
          </a:prstGeom>
          <a:ln w="12700">
            <a:solidFill>
              <a:schemeClr val="accent1">
                <a:lumMod val="75000"/>
              </a:schemeClr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FFD33E44-61DB-42A5-B747-9ECF2A073353}"/>
              </a:ext>
            </a:extLst>
          </p:cNvPr>
          <p:cNvSpPr/>
          <p:nvPr/>
        </p:nvSpPr>
        <p:spPr>
          <a:xfrm>
            <a:off x="9493315" y="2406617"/>
            <a:ext cx="1330153" cy="620423"/>
          </a:xfrm>
          <a:prstGeom prst="rect">
            <a:avLst/>
          </a:prstGeom>
          <a:solidFill>
            <a:schemeClr val="bg1"/>
          </a:solidFill>
          <a:ln w="19050">
            <a:solidFill>
              <a:srgbClr val="FFD97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Body schema </a:t>
            </a:r>
          </a:p>
          <a:p>
            <a:pPr algn="ctr"/>
            <a:r>
              <a:rPr lang="en-US" sz="1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generator network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F933AD88-8B08-4189-8D91-62F8D2D65E8F}"/>
              </a:ext>
            </a:extLst>
          </p:cNvPr>
          <p:cNvSpPr/>
          <p:nvPr/>
        </p:nvSpPr>
        <p:spPr>
          <a:xfrm>
            <a:off x="7854927" y="1253416"/>
            <a:ext cx="1342828" cy="624571"/>
          </a:xfrm>
          <a:prstGeom prst="rect">
            <a:avLst/>
          </a:prstGeom>
          <a:solidFill>
            <a:schemeClr val="bg1"/>
          </a:solidFill>
          <a:ln w="25400">
            <a:solidFill>
              <a:srgbClr val="C5E0B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Locomotion planner </a:t>
            </a:r>
          </a:p>
          <a:p>
            <a:pPr algn="ctr"/>
            <a:r>
              <a:rPr lang="en-US" sz="1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network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FFB82373-6550-4FF8-B61A-E86CCEC82257}"/>
              </a:ext>
            </a:extLst>
          </p:cNvPr>
          <p:cNvSpPr/>
          <p:nvPr/>
        </p:nvSpPr>
        <p:spPr>
          <a:xfrm>
            <a:off x="7854927" y="4123210"/>
            <a:ext cx="1342828" cy="493496"/>
          </a:xfrm>
          <a:prstGeom prst="rect">
            <a:avLst/>
          </a:prstGeom>
          <a:solidFill>
            <a:schemeClr val="bg1"/>
          </a:solidFill>
          <a:ln w="25400">
            <a:solidFill>
              <a:srgbClr val="FDE3D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Rhythmic </a:t>
            </a:r>
          </a:p>
          <a:p>
            <a:pPr algn="ctr"/>
            <a:r>
              <a:rPr lang="en-US" sz="1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generator network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7E9F34BB-F8BF-4266-A4BB-2F403F5DD306}"/>
              </a:ext>
            </a:extLst>
          </p:cNvPr>
          <p:cNvSpPr/>
          <p:nvPr/>
        </p:nvSpPr>
        <p:spPr>
          <a:xfrm>
            <a:off x="7854927" y="5006260"/>
            <a:ext cx="1342828" cy="456882"/>
          </a:xfrm>
          <a:prstGeom prst="rect">
            <a:avLst/>
          </a:prstGeom>
          <a:solidFill>
            <a:schemeClr val="bg1"/>
          </a:solidFill>
          <a:ln w="25400">
            <a:solidFill>
              <a:srgbClr val="E599C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Torque pattern </a:t>
            </a:r>
          </a:p>
          <a:p>
            <a:pPr algn="ctr"/>
            <a:r>
              <a:rPr lang="en-US" sz="1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generator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F7CD9067-7C74-4C04-ACF1-5114D12529A5}"/>
                  </a:ext>
                </a:extLst>
              </p:cNvPr>
              <p:cNvSpPr txBox="1"/>
              <p:nvPr/>
            </p:nvSpPr>
            <p:spPr>
              <a:xfrm>
                <a:off x="8487161" y="5489134"/>
                <a:ext cx="30901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US" sz="1200"/>
              </a:p>
            </p:txBody>
          </p:sp>
        </mc:Choice>
        <mc:Fallback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F7CD9067-7C74-4C04-ACF1-5114D12529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87161" y="5489134"/>
                <a:ext cx="309012" cy="27699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TextBox 36">
            <a:extLst>
              <a:ext uri="{FF2B5EF4-FFF2-40B4-BE49-F238E27FC236}">
                <a16:creationId xmlns:a16="http://schemas.microsoft.com/office/drawing/2014/main" id="{AAC3604E-C7D8-4B6A-8F90-AC5A8DD4EA10}"/>
              </a:ext>
            </a:extLst>
          </p:cNvPr>
          <p:cNvSpPr txBox="1"/>
          <p:nvPr/>
        </p:nvSpPr>
        <p:spPr>
          <a:xfrm>
            <a:off x="10138485" y="1434896"/>
            <a:ext cx="149002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>
                <a:latin typeface="Arial" panose="020B0604020202020204" pitchFamily="34" charset="0"/>
                <a:cs typeface="Arial" panose="020B0604020202020204" pitchFamily="34" charset="0"/>
              </a:rPr>
              <a:t>Kinematics &amp; Kinetics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FD6399A-2848-4EB5-8782-3D18B3626F56}"/>
              </a:ext>
            </a:extLst>
          </p:cNvPr>
          <p:cNvSpPr txBox="1"/>
          <p:nvPr/>
        </p:nvSpPr>
        <p:spPr>
          <a:xfrm>
            <a:off x="9650922" y="3287837"/>
            <a:ext cx="1546439" cy="16158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algn="ctr">
              <a:defRPr sz="105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IMU/Hip encoder/GRF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FC245BB-3224-4793-AF83-D0325BF1D9E5}"/>
              </a:ext>
            </a:extLst>
          </p:cNvPr>
          <p:cNvSpPr txBox="1"/>
          <p:nvPr/>
        </p:nvSpPr>
        <p:spPr>
          <a:xfrm>
            <a:off x="9711762" y="4180241"/>
            <a:ext cx="1301905" cy="16158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05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Hip encoder/GRF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407FC06D-0A10-4B78-BBB9-690EDAE1A515}"/>
                  </a:ext>
                </a:extLst>
              </p:cNvPr>
              <p:cNvSpPr txBox="1"/>
              <p:nvPr/>
            </p:nvSpPr>
            <p:spPr>
              <a:xfrm>
                <a:off x="8242220" y="5482553"/>
                <a:ext cx="30901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US" sz="1200"/>
              </a:p>
            </p:txBody>
          </p:sp>
        </mc:Choice>
        <mc:Fallback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407FC06D-0A10-4B78-BBB9-690EDAE1A5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42220" y="5482553"/>
                <a:ext cx="309012" cy="27699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TextBox 40">
            <a:extLst>
              <a:ext uri="{FF2B5EF4-FFF2-40B4-BE49-F238E27FC236}">
                <a16:creationId xmlns:a16="http://schemas.microsoft.com/office/drawing/2014/main" id="{ECB68FB4-7E7A-4365-8CF1-18674F8E8532}"/>
              </a:ext>
            </a:extLst>
          </p:cNvPr>
          <p:cNvSpPr txBox="1"/>
          <p:nvPr/>
        </p:nvSpPr>
        <p:spPr>
          <a:xfrm>
            <a:off x="7660834" y="3253994"/>
            <a:ext cx="94011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>
                <a:latin typeface="Arial" panose="020B0604020202020204" pitchFamily="34" charset="0"/>
                <a:cs typeface="Arial" panose="020B0604020202020204" pitchFamily="34" charset="0"/>
              </a:rPr>
              <a:t>Gait speed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4B0E886-88C7-45E6-B6A0-2FDF3A931DA3}"/>
              </a:ext>
            </a:extLst>
          </p:cNvPr>
          <p:cNvSpPr txBox="1"/>
          <p:nvPr/>
        </p:nvSpPr>
        <p:spPr>
          <a:xfrm>
            <a:off x="1055322" y="6377050"/>
            <a:ext cx="37861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/>
              <a:t>[Human CNS for locomotion]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736465A-0635-46AB-9729-27635710611D}"/>
              </a:ext>
            </a:extLst>
          </p:cNvPr>
          <p:cNvSpPr txBox="1"/>
          <p:nvPr/>
        </p:nvSpPr>
        <p:spPr>
          <a:xfrm>
            <a:off x="6961741" y="6381812"/>
            <a:ext cx="456996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[Neuromorphic locomotion control framework]</a:t>
            </a:r>
          </a:p>
        </p:txBody>
      </p:sp>
      <p:pic>
        <p:nvPicPr>
          <p:cNvPr id="44" name="Picture 4" descr="https://www.angel-robotics.com/images/products/angel-suit/h10/angel-a-trainning-model.png">
            <a:extLst>
              <a:ext uri="{FF2B5EF4-FFF2-40B4-BE49-F238E27FC236}">
                <a16:creationId xmlns:a16="http://schemas.microsoft.com/office/drawing/2014/main" id="{7E3A5ACC-64F5-4C01-A029-24C55861A33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3406"/>
          <a:stretch/>
        </p:blipFill>
        <p:spPr bwMode="auto">
          <a:xfrm>
            <a:off x="5171226" y="1999171"/>
            <a:ext cx="2055092" cy="36430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5" name="직사각형 44">
            <a:extLst>
              <a:ext uri="{FF2B5EF4-FFF2-40B4-BE49-F238E27FC236}">
                <a16:creationId xmlns:a16="http://schemas.microsoft.com/office/drawing/2014/main" id="{4CC574EF-C69A-4B59-9642-167C27725E00}"/>
              </a:ext>
            </a:extLst>
          </p:cNvPr>
          <p:cNvSpPr/>
          <p:nvPr/>
        </p:nvSpPr>
        <p:spPr>
          <a:xfrm>
            <a:off x="9857122" y="5792195"/>
            <a:ext cx="1038782" cy="4752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Wearable robot</a:t>
            </a:r>
          </a:p>
        </p:txBody>
      </p:sp>
      <p:cxnSp>
        <p:nvCxnSpPr>
          <p:cNvPr id="46" name="연결선: 꺾임 45">
            <a:extLst>
              <a:ext uri="{FF2B5EF4-FFF2-40B4-BE49-F238E27FC236}">
                <a16:creationId xmlns:a16="http://schemas.microsoft.com/office/drawing/2014/main" id="{1466EDE8-891B-4D57-A4E2-CDA0F3106425}"/>
              </a:ext>
            </a:extLst>
          </p:cNvPr>
          <p:cNvCxnSpPr>
            <a:cxnSpLocks/>
            <a:stCxn id="45" idx="3"/>
            <a:endCxn id="34" idx="3"/>
          </p:cNvCxnSpPr>
          <p:nvPr/>
        </p:nvCxnSpPr>
        <p:spPr>
          <a:xfrm flipH="1" flipV="1">
            <a:off x="9197755" y="4369958"/>
            <a:ext cx="1698149" cy="1659837"/>
          </a:xfrm>
          <a:prstGeom prst="bentConnector3">
            <a:avLst>
              <a:gd name="adj1" fmla="val -13462"/>
            </a:avLst>
          </a:prstGeom>
          <a:ln w="12700">
            <a:solidFill>
              <a:schemeClr val="accent1">
                <a:lumMod val="75000"/>
              </a:schemeClr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9CF8F691-978A-4D50-B302-F018C1D9E22B}"/>
              </a:ext>
            </a:extLst>
          </p:cNvPr>
          <p:cNvSpPr/>
          <p:nvPr/>
        </p:nvSpPr>
        <p:spPr>
          <a:xfrm>
            <a:off x="374162" y="4046852"/>
            <a:ext cx="4726451" cy="172184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/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77BCCFDC-D0C4-45EC-85AD-ECD776A29B63}"/>
              </a:ext>
            </a:extLst>
          </p:cNvPr>
          <p:cNvSpPr/>
          <p:nvPr/>
        </p:nvSpPr>
        <p:spPr>
          <a:xfrm>
            <a:off x="374162" y="667089"/>
            <a:ext cx="4726451" cy="323239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/>
          </a:p>
        </p:txBody>
      </p:sp>
      <p:sp>
        <p:nvSpPr>
          <p:cNvPr id="49" name="사각형: 둥근 모서리 48">
            <a:extLst>
              <a:ext uri="{FF2B5EF4-FFF2-40B4-BE49-F238E27FC236}">
                <a16:creationId xmlns:a16="http://schemas.microsoft.com/office/drawing/2014/main" id="{5D37E33D-0894-4AFF-9CC5-902ADCE237DC}"/>
              </a:ext>
            </a:extLst>
          </p:cNvPr>
          <p:cNvSpPr/>
          <p:nvPr/>
        </p:nvSpPr>
        <p:spPr>
          <a:xfrm>
            <a:off x="3226443" y="1714618"/>
            <a:ext cx="1030343" cy="1360629"/>
          </a:xfrm>
          <a:prstGeom prst="roundRect">
            <a:avLst>
              <a:gd name="adj" fmla="val 2848"/>
            </a:avLst>
          </a:prstGeom>
          <a:solidFill>
            <a:srgbClr val="FFD97F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0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0" name="사각형: 둥근 모서리 49">
            <a:extLst>
              <a:ext uri="{FF2B5EF4-FFF2-40B4-BE49-F238E27FC236}">
                <a16:creationId xmlns:a16="http://schemas.microsoft.com/office/drawing/2014/main" id="{C80C4B48-96A3-4C9B-9500-04F151D12F87}"/>
              </a:ext>
            </a:extLst>
          </p:cNvPr>
          <p:cNvSpPr/>
          <p:nvPr/>
        </p:nvSpPr>
        <p:spPr>
          <a:xfrm>
            <a:off x="1162533" y="1054447"/>
            <a:ext cx="1987271" cy="1081355"/>
          </a:xfrm>
          <a:prstGeom prst="roundRect">
            <a:avLst>
              <a:gd name="adj" fmla="val 2848"/>
            </a:avLst>
          </a:prstGeom>
          <a:solidFill>
            <a:schemeClr val="accent6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0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1" name="사각형: 둥근 모서리 50">
            <a:extLst>
              <a:ext uri="{FF2B5EF4-FFF2-40B4-BE49-F238E27FC236}">
                <a16:creationId xmlns:a16="http://schemas.microsoft.com/office/drawing/2014/main" id="{8592ED8C-AC4E-4223-A49F-167477B0FFF0}"/>
              </a:ext>
            </a:extLst>
          </p:cNvPr>
          <p:cNvSpPr/>
          <p:nvPr/>
        </p:nvSpPr>
        <p:spPr>
          <a:xfrm>
            <a:off x="2071886" y="2301230"/>
            <a:ext cx="1105634" cy="1360629"/>
          </a:xfrm>
          <a:prstGeom prst="roundRect">
            <a:avLst>
              <a:gd name="adj" fmla="val 2848"/>
            </a:avLst>
          </a:prstGeom>
          <a:solidFill>
            <a:srgbClr val="80D2D2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0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C358084-1199-4775-B159-0D8C34957526}"/>
              </a:ext>
            </a:extLst>
          </p:cNvPr>
          <p:cNvSpPr txBox="1"/>
          <p:nvPr/>
        </p:nvSpPr>
        <p:spPr>
          <a:xfrm>
            <a:off x="407799" y="727050"/>
            <a:ext cx="699690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100" b="1">
                <a:latin typeface="Arial" panose="020B0604020202020204" pitchFamily="34" charset="0"/>
                <a:cs typeface="Arial" panose="020B0604020202020204" pitchFamily="34" charset="0"/>
              </a:rPr>
              <a:t>Brain</a:t>
            </a: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5264C1B7-E066-4EA2-88C0-4C1565DF9192}"/>
              </a:ext>
            </a:extLst>
          </p:cNvPr>
          <p:cNvSpPr/>
          <p:nvPr/>
        </p:nvSpPr>
        <p:spPr>
          <a:xfrm>
            <a:off x="1407734" y="1194357"/>
            <a:ext cx="1485342" cy="430718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Cerebral cortex</a:t>
            </a:r>
          </a:p>
          <a:p>
            <a:pPr algn="ctr"/>
            <a:r>
              <a:rPr lang="en-US" sz="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(Prefrontal cortex, Premotor cortex, SMA, M1)</a:t>
            </a: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BD213BD6-1C14-4875-8B6F-22229E7CA945}"/>
              </a:ext>
            </a:extLst>
          </p:cNvPr>
          <p:cNvSpPr/>
          <p:nvPr/>
        </p:nvSpPr>
        <p:spPr>
          <a:xfrm>
            <a:off x="1706606" y="1721983"/>
            <a:ext cx="887595" cy="36726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Basal</a:t>
            </a:r>
            <a:r>
              <a:rPr lang="ko-KR" altLang="en-US"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ganglia</a:t>
            </a:r>
            <a:endParaRPr lang="en-US" sz="10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689AFB5E-EC97-4AB7-BA13-227152392FBB}"/>
              </a:ext>
            </a:extLst>
          </p:cNvPr>
          <p:cNvSpPr/>
          <p:nvPr/>
        </p:nvSpPr>
        <p:spPr>
          <a:xfrm>
            <a:off x="3318848" y="2481952"/>
            <a:ext cx="813037" cy="441597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Cerebellum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6" name="직사각형 55">
                <a:extLst>
                  <a:ext uri="{FF2B5EF4-FFF2-40B4-BE49-F238E27FC236}">
                    <a16:creationId xmlns:a16="http://schemas.microsoft.com/office/drawing/2014/main" id="{CA512107-000E-4820-84AE-7CFCED781B73}"/>
                  </a:ext>
                </a:extLst>
              </p:cNvPr>
              <p:cNvSpPr/>
              <p:nvPr/>
            </p:nvSpPr>
            <p:spPr>
              <a:xfrm>
                <a:off x="2179062" y="5937589"/>
                <a:ext cx="881328" cy="475488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sz="1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𝛼</m:t>
                    </m:r>
                  </m:oMath>
                </a14:m>
                <a:r>
                  <a:rPr lang="en-US" sz="1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-motor </a:t>
                </a:r>
              </a:p>
              <a:p>
                <a:pPr algn="ctr"/>
                <a:r>
                  <a:rPr lang="en-US" sz="1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neuron</a:t>
                </a:r>
              </a:p>
            </p:txBody>
          </p:sp>
        </mc:Choice>
        <mc:Fallback>
          <p:sp>
            <p:nvSpPr>
              <p:cNvPr id="56" name="직사각형 55">
                <a:extLst>
                  <a:ext uri="{FF2B5EF4-FFF2-40B4-BE49-F238E27FC236}">
                    <a16:creationId xmlns:a16="http://schemas.microsoft.com/office/drawing/2014/main" id="{CA512107-000E-4820-84AE-7CFCED781B7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79062" y="5937589"/>
                <a:ext cx="881328" cy="47548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7" name="연결선: 꺾임 56">
            <a:extLst>
              <a:ext uri="{FF2B5EF4-FFF2-40B4-BE49-F238E27FC236}">
                <a16:creationId xmlns:a16="http://schemas.microsoft.com/office/drawing/2014/main" id="{73DC8C1A-EF62-469F-918C-677691529664}"/>
              </a:ext>
            </a:extLst>
          </p:cNvPr>
          <p:cNvCxnSpPr>
            <a:cxnSpLocks/>
            <a:stCxn id="53" idx="1"/>
            <a:endCxn id="73" idx="1"/>
          </p:cNvCxnSpPr>
          <p:nvPr/>
        </p:nvCxnSpPr>
        <p:spPr>
          <a:xfrm rot="10800000" flipH="1" flipV="1">
            <a:off x="1407733" y="1409716"/>
            <a:ext cx="803085" cy="3632300"/>
          </a:xfrm>
          <a:prstGeom prst="bentConnector3">
            <a:avLst>
              <a:gd name="adj1" fmla="val -47029"/>
            </a:avLst>
          </a:prstGeom>
          <a:ln w="12700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연결선: 꺾임 57">
            <a:extLst>
              <a:ext uri="{FF2B5EF4-FFF2-40B4-BE49-F238E27FC236}">
                <a16:creationId xmlns:a16="http://schemas.microsoft.com/office/drawing/2014/main" id="{C5C9613B-C92B-47F4-BA6E-31279D6ACFD6}"/>
              </a:ext>
            </a:extLst>
          </p:cNvPr>
          <p:cNvCxnSpPr>
            <a:cxnSpLocks/>
            <a:stCxn id="54" idx="2"/>
            <a:endCxn id="80" idx="0"/>
          </p:cNvCxnSpPr>
          <p:nvPr/>
        </p:nvCxnSpPr>
        <p:spPr>
          <a:xfrm rot="16200000" flipH="1">
            <a:off x="2211536" y="2028116"/>
            <a:ext cx="348657" cy="470920"/>
          </a:xfrm>
          <a:prstGeom prst="bentConnector3">
            <a:avLst>
              <a:gd name="adj1" fmla="val 34452"/>
            </a:avLst>
          </a:prstGeom>
          <a:ln w="12700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2BD10982-7624-4DFC-AFE6-C5E86D048082}"/>
              </a:ext>
            </a:extLst>
          </p:cNvPr>
          <p:cNvSpPr/>
          <p:nvPr/>
        </p:nvSpPr>
        <p:spPr>
          <a:xfrm>
            <a:off x="3224288" y="5937589"/>
            <a:ext cx="1464816" cy="475488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Musculoskeletal system</a:t>
            </a:r>
          </a:p>
        </p:txBody>
      </p:sp>
      <p:cxnSp>
        <p:nvCxnSpPr>
          <p:cNvPr id="60" name="직선 화살표 연결선 59">
            <a:extLst>
              <a:ext uri="{FF2B5EF4-FFF2-40B4-BE49-F238E27FC236}">
                <a16:creationId xmlns:a16="http://schemas.microsoft.com/office/drawing/2014/main" id="{633A74DC-3647-4814-9192-CE9B3C410BAE}"/>
              </a:ext>
            </a:extLst>
          </p:cNvPr>
          <p:cNvCxnSpPr>
            <a:cxnSpLocks/>
            <a:stCxn id="56" idx="3"/>
            <a:endCxn id="59" idx="1"/>
          </p:cNvCxnSpPr>
          <p:nvPr/>
        </p:nvCxnSpPr>
        <p:spPr>
          <a:xfrm>
            <a:off x="3060390" y="6175333"/>
            <a:ext cx="163898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51EB4969-2F95-4E32-A4C7-BA70DCB701F0}"/>
              </a:ext>
            </a:extLst>
          </p:cNvPr>
          <p:cNvSpPr txBox="1"/>
          <p:nvPr/>
        </p:nvSpPr>
        <p:spPr>
          <a:xfrm>
            <a:off x="203446" y="3703044"/>
            <a:ext cx="941749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algn="ctr">
              <a:defRPr sz="1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Corticospinal </a:t>
            </a:r>
          </a:p>
          <a:p>
            <a:r>
              <a:rPr lang="en-US"/>
              <a:t>track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00726A23-5F24-44B2-93E1-23F9B3AD31AE}"/>
              </a:ext>
            </a:extLst>
          </p:cNvPr>
          <p:cNvSpPr txBox="1"/>
          <p:nvPr/>
        </p:nvSpPr>
        <p:spPr>
          <a:xfrm>
            <a:off x="1560470" y="3718078"/>
            <a:ext cx="1020399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000">
                <a:latin typeface="Arial" panose="020B0604020202020204" pitchFamily="34" charset="0"/>
                <a:cs typeface="Arial" panose="020B0604020202020204" pitchFamily="34" charset="0"/>
              </a:rPr>
              <a:t>Reticulospinal</a:t>
            </a:r>
          </a:p>
          <a:p>
            <a:pPr algn="ctr"/>
            <a:r>
              <a:rPr lang="en-US" sz="1000">
                <a:latin typeface="Arial" panose="020B0604020202020204" pitchFamily="34" charset="0"/>
                <a:cs typeface="Arial" panose="020B0604020202020204" pitchFamily="34" charset="0"/>
              </a:rPr>
              <a:t>track</a:t>
            </a:r>
          </a:p>
        </p:txBody>
      </p:sp>
      <p:cxnSp>
        <p:nvCxnSpPr>
          <p:cNvPr id="63" name="연결선: 꺾임 62">
            <a:extLst>
              <a:ext uri="{FF2B5EF4-FFF2-40B4-BE49-F238E27FC236}">
                <a16:creationId xmlns:a16="http://schemas.microsoft.com/office/drawing/2014/main" id="{457AF46C-DBF7-4608-BB71-6AD64A1BE848}"/>
              </a:ext>
            </a:extLst>
          </p:cNvPr>
          <p:cNvCxnSpPr>
            <a:cxnSpLocks/>
            <a:stCxn id="55" idx="2"/>
            <a:endCxn id="73" idx="3"/>
          </p:cNvCxnSpPr>
          <p:nvPr/>
        </p:nvCxnSpPr>
        <p:spPr>
          <a:xfrm rot="5400000">
            <a:off x="2319365" y="3636013"/>
            <a:ext cx="2118467" cy="693539"/>
          </a:xfrm>
          <a:prstGeom prst="bentConnector2">
            <a:avLst/>
          </a:prstGeom>
          <a:ln w="12700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696E2F3B-79F7-4404-BFD6-4F3D596C3213}"/>
              </a:ext>
            </a:extLst>
          </p:cNvPr>
          <p:cNvSpPr txBox="1"/>
          <p:nvPr/>
        </p:nvSpPr>
        <p:spPr>
          <a:xfrm>
            <a:off x="3662788" y="3705415"/>
            <a:ext cx="107274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algn="ctr">
              <a:defRPr sz="1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Vestibulospinal</a:t>
            </a:r>
          </a:p>
          <a:p>
            <a:r>
              <a:rPr lang="en-US"/>
              <a:t>track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D0DAAD82-2032-484A-A349-E15301D5D210}"/>
              </a:ext>
            </a:extLst>
          </p:cNvPr>
          <p:cNvSpPr txBox="1"/>
          <p:nvPr/>
        </p:nvSpPr>
        <p:spPr>
          <a:xfrm>
            <a:off x="407799" y="4050893"/>
            <a:ext cx="598385" cy="33855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>
              <a:defRPr sz="8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sz="1100"/>
              <a:t>Spinal </a:t>
            </a:r>
          </a:p>
          <a:p>
            <a:r>
              <a:rPr lang="en-US" sz="1100"/>
              <a:t>cord</a:t>
            </a:r>
          </a:p>
        </p:txBody>
      </p:sp>
      <p:cxnSp>
        <p:nvCxnSpPr>
          <p:cNvPr id="66" name="연결선: 꺾임 65">
            <a:extLst>
              <a:ext uri="{FF2B5EF4-FFF2-40B4-BE49-F238E27FC236}">
                <a16:creationId xmlns:a16="http://schemas.microsoft.com/office/drawing/2014/main" id="{A0D1910A-A538-488C-9499-514F81661D6A}"/>
              </a:ext>
            </a:extLst>
          </p:cNvPr>
          <p:cNvCxnSpPr>
            <a:cxnSpLocks/>
            <a:stCxn id="53" idx="1"/>
            <a:endCxn id="54" idx="1"/>
          </p:cNvCxnSpPr>
          <p:nvPr/>
        </p:nvCxnSpPr>
        <p:spPr>
          <a:xfrm rot="10800000" flipH="1" flipV="1">
            <a:off x="1407734" y="1409716"/>
            <a:ext cx="298872" cy="495900"/>
          </a:xfrm>
          <a:prstGeom prst="bentConnector3">
            <a:avLst>
              <a:gd name="adj1" fmla="val -50086"/>
            </a:avLst>
          </a:prstGeom>
          <a:ln w="12700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연결선: 꺾임 66">
            <a:extLst>
              <a:ext uri="{FF2B5EF4-FFF2-40B4-BE49-F238E27FC236}">
                <a16:creationId xmlns:a16="http://schemas.microsoft.com/office/drawing/2014/main" id="{EE0963CC-C39C-47CA-AA31-D54DF1C5DB60}"/>
              </a:ext>
            </a:extLst>
          </p:cNvPr>
          <p:cNvCxnSpPr>
            <a:cxnSpLocks/>
            <a:stCxn id="54" idx="3"/>
            <a:endCxn id="53" idx="3"/>
          </p:cNvCxnSpPr>
          <p:nvPr/>
        </p:nvCxnSpPr>
        <p:spPr>
          <a:xfrm flipV="1">
            <a:off x="2594201" y="1409716"/>
            <a:ext cx="298875" cy="495900"/>
          </a:xfrm>
          <a:prstGeom prst="bentConnector3">
            <a:avLst>
              <a:gd name="adj1" fmla="val 162510"/>
            </a:avLst>
          </a:prstGeom>
          <a:ln w="12700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연결선: 꺾임 67">
            <a:extLst>
              <a:ext uri="{FF2B5EF4-FFF2-40B4-BE49-F238E27FC236}">
                <a16:creationId xmlns:a16="http://schemas.microsoft.com/office/drawing/2014/main" id="{B5CE882D-4F54-4E8A-B078-D7CFC6ABDC4C}"/>
              </a:ext>
            </a:extLst>
          </p:cNvPr>
          <p:cNvCxnSpPr>
            <a:cxnSpLocks/>
            <a:stCxn id="55" idx="2"/>
            <a:endCxn id="82" idx="3"/>
          </p:cNvCxnSpPr>
          <p:nvPr/>
        </p:nvCxnSpPr>
        <p:spPr>
          <a:xfrm rot="5400000">
            <a:off x="3175504" y="2803896"/>
            <a:ext cx="430213" cy="669519"/>
          </a:xfrm>
          <a:prstGeom prst="bentConnector2">
            <a:avLst/>
          </a:prstGeom>
          <a:ln w="12700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0F0FD644-CCD6-4246-A24F-812A7FDBA6C2}"/>
              </a:ext>
            </a:extLst>
          </p:cNvPr>
          <p:cNvSpPr/>
          <p:nvPr/>
        </p:nvSpPr>
        <p:spPr>
          <a:xfrm>
            <a:off x="3281183" y="1844292"/>
            <a:ext cx="887592" cy="36726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Parietal</a:t>
            </a:r>
            <a:r>
              <a:rPr lang="ko-KR" altLang="en-US"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cortex</a:t>
            </a:r>
            <a:endParaRPr lang="en-US" sz="10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70" name="직선 화살표 연결선 69">
            <a:extLst>
              <a:ext uri="{FF2B5EF4-FFF2-40B4-BE49-F238E27FC236}">
                <a16:creationId xmlns:a16="http://schemas.microsoft.com/office/drawing/2014/main" id="{2AEC53FB-4D76-4FC7-B2ED-F0F63BF6E66B}"/>
              </a:ext>
            </a:extLst>
          </p:cNvPr>
          <p:cNvCxnSpPr>
            <a:cxnSpLocks/>
            <a:stCxn id="82" idx="2"/>
            <a:endCxn id="72" idx="0"/>
          </p:cNvCxnSpPr>
          <p:nvPr/>
        </p:nvCxnSpPr>
        <p:spPr>
          <a:xfrm flipH="1">
            <a:off x="2621324" y="3560755"/>
            <a:ext cx="325" cy="702848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연결선: 꺾임 70">
            <a:extLst>
              <a:ext uri="{FF2B5EF4-FFF2-40B4-BE49-F238E27FC236}">
                <a16:creationId xmlns:a16="http://schemas.microsoft.com/office/drawing/2014/main" id="{DBA79B38-EB3D-48FD-BD5F-3D22D773AC10}"/>
              </a:ext>
            </a:extLst>
          </p:cNvPr>
          <p:cNvCxnSpPr>
            <a:cxnSpLocks/>
            <a:stCxn id="69" idx="0"/>
            <a:endCxn id="53" idx="0"/>
          </p:cNvCxnSpPr>
          <p:nvPr/>
        </p:nvCxnSpPr>
        <p:spPr>
          <a:xfrm rot="16200000" flipV="1">
            <a:off x="2612725" y="732038"/>
            <a:ext cx="649935" cy="1574574"/>
          </a:xfrm>
          <a:prstGeom prst="bentConnector3">
            <a:avLst>
              <a:gd name="adj1" fmla="val 135173"/>
            </a:avLst>
          </a:prstGeom>
          <a:ln w="12700">
            <a:solidFill>
              <a:schemeClr val="accent1">
                <a:lumMod val="75000"/>
              </a:schemeClr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5C72D495-A489-4196-9108-E0A9DCA674BC}"/>
              </a:ext>
            </a:extLst>
          </p:cNvPr>
          <p:cNvSpPr/>
          <p:nvPr/>
        </p:nvSpPr>
        <p:spPr>
          <a:xfrm>
            <a:off x="2210819" y="4263603"/>
            <a:ext cx="821009" cy="375370"/>
          </a:xfrm>
          <a:prstGeom prst="rect">
            <a:avLst/>
          </a:prstGeom>
          <a:solidFill>
            <a:schemeClr val="bg1"/>
          </a:solidFill>
          <a:ln w="19050">
            <a:solidFill>
              <a:srgbClr val="FDE3D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Rhythm </a:t>
            </a:r>
          </a:p>
          <a:p>
            <a:pPr algn="ctr"/>
            <a:r>
              <a:rPr lang="en-US"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generator</a:t>
            </a:r>
          </a:p>
        </p:txBody>
      </p: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C991A5F1-0A5D-4404-AA9E-168924C0C954}"/>
              </a:ext>
            </a:extLst>
          </p:cNvPr>
          <p:cNvSpPr/>
          <p:nvPr/>
        </p:nvSpPr>
        <p:spPr>
          <a:xfrm>
            <a:off x="2210819" y="4854331"/>
            <a:ext cx="821009" cy="375370"/>
          </a:xfrm>
          <a:prstGeom prst="rect">
            <a:avLst/>
          </a:prstGeom>
          <a:solidFill>
            <a:schemeClr val="bg1"/>
          </a:solidFill>
          <a:ln w="12700">
            <a:solidFill>
              <a:srgbClr val="E599C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Pattern </a:t>
            </a:r>
          </a:p>
          <a:p>
            <a:pPr algn="ctr"/>
            <a:r>
              <a:rPr lang="en-US"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formation</a:t>
            </a:r>
          </a:p>
        </p:txBody>
      </p:sp>
      <p:cxnSp>
        <p:nvCxnSpPr>
          <p:cNvPr id="74" name="직선 화살표 연결선 73">
            <a:extLst>
              <a:ext uri="{FF2B5EF4-FFF2-40B4-BE49-F238E27FC236}">
                <a16:creationId xmlns:a16="http://schemas.microsoft.com/office/drawing/2014/main" id="{D4EDAB1F-FE1B-42A7-B0B0-0C73FF20F30F}"/>
              </a:ext>
            </a:extLst>
          </p:cNvPr>
          <p:cNvCxnSpPr>
            <a:cxnSpLocks/>
            <a:stCxn id="72" idx="2"/>
            <a:endCxn id="73" idx="0"/>
          </p:cNvCxnSpPr>
          <p:nvPr/>
        </p:nvCxnSpPr>
        <p:spPr>
          <a:xfrm>
            <a:off x="2621324" y="4638973"/>
            <a:ext cx="0" cy="215358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직선 화살표 연결선 74">
            <a:extLst>
              <a:ext uri="{FF2B5EF4-FFF2-40B4-BE49-F238E27FC236}">
                <a16:creationId xmlns:a16="http://schemas.microsoft.com/office/drawing/2014/main" id="{5066D5C4-5607-4368-BB13-0D32C668D550}"/>
              </a:ext>
            </a:extLst>
          </p:cNvPr>
          <p:cNvCxnSpPr>
            <a:cxnSpLocks/>
            <a:stCxn id="55" idx="0"/>
            <a:endCxn id="69" idx="2"/>
          </p:cNvCxnSpPr>
          <p:nvPr/>
        </p:nvCxnSpPr>
        <p:spPr>
          <a:xfrm flipH="1" flipV="1">
            <a:off x="3724979" y="2211557"/>
            <a:ext cx="389" cy="270395"/>
          </a:xfrm>
          <a:prstGeom prst="straightConnector1">
            <a:avLst/>
          </a:prstGeom>
          <a:ln w="12700">
            <a:solidFill>
              <a:schemeClr val="accent1">
                <a:lumMod val="75000"/>
              </a:schemeClr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연결선: 꺾임 75">
            <a:extLst>
              <a:ext uri="{FF2B5EF4-FFF2-40B4-BE49-F238E27FC236}">
                <a16:creationId xmlns:a16="http://schemas.microsoft.com/office/drawing/2014/main" id="{77A2C25A-8604-41BD-8A15-2954ECA17B1F}"/>
              </a:ext>
            </a:extLst>
          </p:cNvPr>
          <p:cNvCxnSpPr>
            <a:cxnSpLocks/>
            <a:stCxn id="59" idx="3"/>
            <a:endCxn id="55" idx="3"/>
          </p:cNvCxnSpPr>
          <p:nvPr/>
        </p:nvCxnSpPr>
        <p:spPr>
          <a:xfrm flipH="1" flipV="1">
            <a:off x="4131885" y="2702751"/>
            <a:ext cx="557219" cy="3472582"/>
          </a:xfrm>
          <a:prstGeom prst="bentConnector3">
            <a:avLst>
              <a:gd name="adj1" fmla="val -41025"/>
            </a:avLst>
          </a:prstGeom>
          <a:ln w="12700">
            <a:solidFill>
              <a:schemeClr val="accent1">
                <a:lumMod val="75000"/>
              </a:schemeClr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815B536D-7221-449C-B039-767B86D4E02C}"/>
              </a:ext>
            </a:extLst>
          </p:cNvPr>
          <p:cNvSpPr/>
          <p:nvPr/>
        </p:nvSpPr>
        <p:spPr>
          <a:xfrm>
            <a:off x="2070595" y="4114843"/>
            <a:ext cx="1106924" cy="1238342"/>
          </a:xfrm>
          <a:prstGeom prst="rect">
            <a:avLst/>
          </a:prstGeom>
          <a:noFill/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0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416FEFA1-6C79-41B8-88BB-21867368BFFF}"/>
              </a:ext>
            </a:extLst>
          </p:cNvPr>
          <p:cNvSpPr txBox="1"/>
          <p:nvPr/>
        </p:nvSpPr>
        <p:spPr>
          <a:xfrm>
            <a:off x="1049628" y="4114843"/>
            <a:ext cx="954173" cy="3231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050" b="1">
                <a:latin typeface="Arial" panose="020B0604020202020204" pitchFamily="34" charset="0"/>
                <a:cs typeface="Arial" panose="020B0604020202020204" pitchFamily="34" charset="0"/>
              </a:rPr>
              <a:t>Central pattern generator</a:t>
            </a:r>
          </a:p>
        </p:txBody>
      </p:sp>
      <p:cxnSp>
        <p:nvCxnSpPr>
          <p:cNvPr id="79" name="연결선: 꺾임 78">
            <a:extLst>
              <a:ext uri="{FF2B5EF4-FFF2-40B4-BE49-F238E27FC236}">
                <a16:creationId xmlns:a16="http://schemas.microsoft.com/office/drawing/2014/main" id="{508E7393-69AF-4B0D-BC10-32BE112A2C7D}"/>
              </a:ext>
            </a:extLst>
          </p:cNvPr>
          <p:cNvCxnSpPr>
            <a:cxnSpLocks/>
            <a:stCxn id="59" idx="3"/>
            <a:endCxn id="77" idx="3"/>
          </p:cNvCxnSpPr>
          <p:nvPr/>
        </p:nvCxnSpPr>
        <p:spPr>
          <a:xfrm flipH="1" flipV="1">
            <a:off x="3177519" y="4734014"/>
            <a:ext cx="1511585" cy="1441319"/>
          </a:xfrm>
          <a:prstGeom prst="bentConnector3">
            <a:avLst>
              <a:gd name="adj1" fmla="val -15123"/>
            </a:avLst>
          </a:prstGeom>
          <a:ln w="12700">
            <a:solidFill>
              <a:schemeClr val="accent1">
                <a:lumMod val="75000"/>
              </a:schemeClr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DC13ED4D-2D5F-4EB1-BB72-C45DBECD594F}"/>
              </a:ext>
            </a:extLst>
          </p:cNvPr>
          <p:cNvSpPr/>
          <p:nvPr/>
        </p:nvSpPr>
        <p:spPr>
          <a:xfrm>
            <a:off x="2210819" y="2437906"/>
            <a:ext cx="821009" cy="52969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MLR</a:t>
            </a:r>
          </a:p>
          <a:p>
            <a:pPr algn="ctr"/>
            <a:r>
              <a:rPr lang="en-US"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(CnF, PPN)</a:t>
            </a:r>
          </a:p>
        </p:txBody>
      </p:sp>
      <p:cxnSp>
        <p:nvCxnSpPr>
          <p:cNvPr id="81" name="직선 화살표 연결선 80">
            <a:extLst>
              <a:ext uri="{FF2B5EF4-FFF2-40B4-BE49-F238E27FC236}">
                <a16:creationId xmlns:a16="http://schemas.microsoft.com/office/drawing/2014/main" id="{21E12195-2935-4E69-8D16-03FE22190617}"/>
              </a:ext>
            </a:extLst>
          </p:cNvPr>
          <p:cNvCxnSpPr>
            <a:cxnSpLocks/>
            <a:stCxn id="80" idx="2"/>
            <a:endCxn id="82" idx="0"/>
          </p:cNvCxnSpPr>
          <p:nvPr/>
        </p:nvCxnSpPr>
        <p:spPr>
          <a:xfrm>
            <a:off x="2621324" y="2967596"/>
            <a:ext cx="325" cy="179174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20CD57C1-7299-43DD-9232-52AECD1EF6FC}"/>
              </a:ext>
            </a:extLst>
          </p:cNvPr>
          <p:cNvSpPr/>
          <p:nvPr/>
        </p:nvSpPr>
        <p:spPr>
          <a:xfrm>
            <a:off x="2187450" y="3146769"/>
            <a:ext cx="868400" cy="41398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Reticular </a:t>
            </a:r>
          </a:p>
          <a:p>
            <a:pPr algn="ctr"/>
            <a:r>
              <a:rPr lang="en-US"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formation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BB4E3B0F-2D5C-434D-B70C-5362DEFBB0E3}"/>
              </a:ext>
            </a:extLst>
          </p:cNvPr>
          <p:cNvSpPr txBox="1"/>
          <p:nvPr/>
        </p:nvSpPr>
        <p:spPr>
          <a:xfrm>
            <a:off x="3724979" y="4915125"/>
            <a:ext cx="1214281" cy="43858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algn="ctr">
              <a:defRPr sz="105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Sensory feedback</a:t>
            </a:r>
          </a:p>
          <a:p>
            <a:r>
              <a:rPr lang="en-US" sz="900"/>
              <a:t>(muscle spindle, GTO, </a:t>
            </a:r>
          </a:p>
          <a:p>
            <a:r>
              <a:rPr lang="en-US" sz="900"/>
              <a:t>joint receptors, GRF)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ACA39562-C927-4C19-86E0-B60B8E70DDBC}"/>
              </a:ext>
            </a:extLst>
          </p:cNvPr>
          <p:cNvSpPr txBox="1"/>
          <p:nvPr/>
        </p:nvSpPr>
        <p:spPr>
          <a:xfrm>
            <a:off x="3685261" y="1260318"/>
            <a:ext cx="10727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>
                <a:solidFill>
                  <a:schemeClr val="accent4"/>
                </a:solidFill>
              </a:rPr>
              <a:t>Body schema </a:t>
            </a:r>
          </a:p>
          <a:p>
            <a:pPr algn="ctr"/>
            <a:r>
              <a:rPr lang="en-US" sz="1200" b="1">
                <a:solidFill>
                  <a:schemeClr val="accent4"/>
                </a:solidFill>
              </a:rPr>
              <a:t>generation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27599EA9-5003-4B8E-82F7-41BF21B0AA3E}"/>
              </a:ext>
            </a:extLst>
          </p:cNvPr>
          <p:cNvSpPr txBox="1"/>
          <p:nvPr/>
        </p:nvSpPr>
        <p:spPr>
          <a:xfrm>
            <a:off x="949646" y="696145"/>
            <a:ext cx="17916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>
                <a:solidFill>
                  <a:schemeClr val="accent6"/>
                </a:solidFill>
              </a:rPr>
              <a:t>Locomotion planning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BEE6E1D5-6BEB-4DDC-A402-E672620BDDB0}"/>
              </a:ext>
            </a:extLst>
          </p:cNvPr>
          <p:cNvSpPr txBox="1"/>
          <p:nvPr/>
        </p:nvSpPr>
        <p:spPr>
          <a:xfrm>
            <a:off x="1203878" y="2283670"/>
            <a:ext cx="8843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>
                <a:solidFill>
                  <a:srgbClr val="49C2BF"/>
                </a:solidFill>
              </a:rPr>
              <a:t>Speed </a:t>
            </a:r>
          </a:p>
          <a:p>
            <a:pPr algn="ctr"/>
            <a:r>
              <a:rPr lang="en-US" sz="1200" b="1">
                <a:solidFill>
                  <a:srgbClr val="49C2BF"/>
                </a:solidFill>
              </a:rPr>
              <a:t>regulation</a:t>
            </a:r>
          </a:p>
        </p:txBody>
      </p:sp>
      <p:cxnSp>
        <p:nvCxnSpPr>
          <p:cNvPr id="87" name="직선 화살표 연결선 86">
            <a:extLst>
              <a:ext uri="{FF2B5EF4-FFF2-40B4-BE49-F238E27FC236}">
                <a16:creationId xmlns:a16="http://schemas.microsoft.com/office/drawing/2014/main" id="{424FA157-BBB6-4A21-8B2F-71BF66400500}"/>
              </a:ext>
            </a:extLst>
          </p:cNvPr>
          <p:cNvCxnSpPr>
            <a:cxnSpLocks/>
            <a:stCxn id="32" idx="1"/>
            <a:endCxn id="15" idx="3"/>
          </p:cNvCxnSpPr>
          <p:nvPr/>
        </p:nvCxnSpPr>
        <p:spPr>
          <a:xfrm flipH="1">
            <a:off x="9197755" y="2716829"/>
            <a:ext cx="295560" cy="5077"/>
          </a:xfrm>
          <a:prstGeom prst="straightConnector1">
            <a:avLst/>
          </a:prstGeom>
          <a:ln w="12700">
            <a:solidFill>
              <a:schemeClr val="accent1">
                <a:lumMod val="75000"/>
              </a:schemeClr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자유형: 도형 87">
            <a:extLst>
              <a:ext uri="{FF2B5EF4-FFF2-40B4-BE49-F238E27FC236}">
                <a16:creationId xmlns:a16="http://schemas.microsoft.com/office/drawing/2014/main" id="{ACF524AE-05BA-41EC-9394-E765571ED587}"/>
              </a:ext>
            </a:extLst>
          </p:cNvPr>
          <p:cNvSpPr/>
          <p:nvPr/>
        </p:nvSpPr>
        <p:spPr>
          <a:xfrm>
            <a:off x="5080000" y="674265"/>
            <a:ext cx="1181100" cy="3225800"/>
          </a:xfrm>
          <a:custGeom>
            <a:avLst/>
            <a:gdLst>
              <a:gd name="connsiteX0" fmla="*/ 6350 w 1181100"/>
              <a:gd name="connsiteY0" fmla="*/ 0 h 3225800"/>
              <a:gd name="connsiteX1" fmla="*/ 0 w 1181100"/>
              <a:gd name="connsiteY1" fmla="*/ 3225800 h 3225800"/>
              <a:gd name="connsiteX2" fmla="*/ 1181100 w 1181100"/>
              <a:gd name="connsiteY2" fmla="*/ 1708150 h 3225800"/>
              <a:gd name="connsiteX3" fmla="*/ 1181100 w 1181100"/>
              <a:gd name="connsiteY3" fmla="*/ 1485900 h 3225800"/>
              <a:gd name="connsiteX4" fmla="*/ 6350 w 1181100"/>
              <a:gd name="connsiteY4" fmla="*/ 0 h 3225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81100" h="3225800">
                <a:moveTo>
                  <a:pt x="6350" y="0"/>
                </a:moveTo>
                <a:cubicBezTo>
                  <a:pt x="4233" y="1075267"/>
                  <a:pt x="2117" y="2150533"/>
                  <a:pt x="0" y="3225800"/>
                </a:cubicBezTo>
                <a:lnTo>
                  <a:pt x="1181100" y="1708150"/>
                </a:lnTo>
                <a:lnTo>
                  <a:pt x="1181100" y="1485900"/>
                </a:lnTo>
                <a:lnTo>
                  <a:pt x="6350" y="0"/>
                </a:lnTo>
                <a:close/>
              </a:path>
            </a:pathLst>
          </a:custGeom>
          <a:gradFill>
            <a:gsLst>
              <a:gs pos="0">
                <a:schemeClr val="bg1"/>
              </a:gs>
              <a:gs pos="100000">
                <a:srgbClr val="F2F2F2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9" name="그룹 88">
            <a:extLst>
              <a:ext uri="{FF2B5EF4-FFF2-40B4-BE49-F238E27FC236}">
                <a16:creationId xmlns:a16="http://schemas.microsoft.com/office/drawing/2014/main" id="{653BE50C-7F6A-417A-891C-4BE1B5020065}"/>
              </a:ext>
            </a:extLst>
          </p:cNvPr>
          <p:cNvGrpSpPr/>
          <p:nvPr/>
        </p:nvGrpSpPr>
        <p:grpSpPr>
          <a:xfrm>
            <a:off x="6105408" y="2071473"/>
            <a:ext cx="527388" cy="1456298"/>
            <a:chOff x="6105408" y="2188695"/>
            <a:chExt cx="527388" cy="1456298"/>
          </a:xfrm>
        </p:grpSpPr>
        <p:pic>
          <p:nvPicPr>
            <p:cNvPr id="90" name="Picture 2" descr="https://sdmntpraustraliaeast.oaiusercontent.com/files/00000000-5ae4-61fa-8c3b-2b3a4bb39ec3/raw?se=2025-09-11T07%3A08%3A45Z&amp;sp=r&amp;sv=2024-08-04&amp;sr=b&amp;scid=539b0bfa-f801-56d3-9be8-40a88aae66b0&amp;skoid=f8b66c09-1aa0-4801-9884-173c5cef2b8c&amp;sktid=a48cca56-e6da-484e-a814-9c849652bcb3&amp;skt=2025-09-10T21%3A52%3A46Z&amp;ske=2025-09-11T21%3A52%3A46Z&amp;sks=b&amp;skv=2024-08-04&amp;sig=6LkWAeWbskxIueDiqq9PJqhpfPzUZRoWCfFjWWGg/4M%3D">
              <a:extLst>
                <a:ext uri="{FF2B5EF4-FFF2-40B4-BE49-F238E27FC236}">
                  <a16:creationId xmlns:a16="http://schemas.microsoft.com/office/drawing/2014/main" id="{4178FD2C-56B2-4FEA-B447-75F16BF6B97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 cstate="hqprint">
              <a:duotone>
                <a:prstClr val="black"/>
                <a:srgbClr val="D9C3A5">
                  <a:tint val="50000"/>
                  <a:satMod val="180000"/>
                </a:srgb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25123"/>
            <a:stretch/>
          </p:blipFill>
          <p:spPr bwMode="auto">
            <a:xfrm flipH="1">
              <a:off x="6105408" y="2188695"/>
              <a:ext cx="500060" cy="56164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1" name="Picture 2" descr="https://sdmntpraustraliaeast.oaiusercontent.com/files/00000000-5ae4-61fa-8c3b-2b3a4bb39ec3/raw?se=2025-09-11T07%3A08%3A45Z&amp;sp=r&amp;sv=2024-08-04&amp;sr=b&amp;scid=539b0bfa-f801-56d3-9be8-40a88aae66b0&amp;skoid=f8b66c09-1aa0-4801-9884-173c5cef2b8c&amp;sktid=a48cca56-e6da-484e-a814-9c849652bcb3&amp;skt=2025-09-10T21%3A52%3A46Z&amp;ske=2025-09-11T21%3A52%3A46Z&amp;sks=b&amp;skv=2024-08-04&amp;sig=6LkWAeWbskxIueDiqq9PJqhpfPzUZRoWCfFjWWGg/4M%3D">
              <a:extLst>
                <a:ext uri="{FF2B5EF4-FFF2-40B4-BE49-F238E27FC236}">
                  <a16:creationId xmlns:a16="http://schemas.microsoft.com/office/drawing/2014/main" id="{FB099336-CABA-4347-9E42-0534633AEDC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 cstate="hqprint">
              <a:duotone>
                <a:prstClr val="black"/>
                <a:srgbClr val="D9C3A5">
                  <a:tint val="50000"/>
                  <a:satMod val="180000"/>
                </a:srgb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46925"/>
            <a:stretch/>
          </p:blipFill>
          <p:spPr bwMode="auto">
            <a:xfrm flipH="1">
              <a:off x="6132736" y="3246880"/>
              <a:ext cx="500060" cy="39811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2" name="Picture 2" descr="https://sdmntpraustraliaeast.oaiusercontent.com/files/00000000-5ae4-61fa-8c3b-2b3a4bb39ec3/raw?se=2025-09-11T07%3A08%3A45Z&amp;sp=r&amp;sv=2024-08-04&amp;sr=b&amp;scid=539b0bfa-f801-56d3-9be8-40a88aae66b0&amp;skoid=f8b66c09-1aa0-4801-9884-173c5cef2b8c&amp;sktid=a48cca56-e6da-484e-a814-9c849652bcb3&amp;skt=2025-09-10T21%3A52%3A46Z&amp;ske=2025-09-11T21%3A52%3A46Z&amp;sks=b&amp;skv=2024-08-04&amp;sig=6LkWAeWbskxIueDiqq9PJqhpfPzUZRoWCfFjWWGg/4M%3D">
              <a:extLst>
                <a:ext uri="{FF2B5EF4-FFF2-40B4-BE49-F238E27FC236}">
                  <a16:creationId xmlns:a16="http://schemas.microsoft.com/office/drawing/2014/main" id="{B8EA26A7-F306-4DCE-A2B2-0F3A25A5F18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 cstate="hqprint">
              <a:duotone>
                <a:prstClr val="black"/>
                <a:srgbClr val="D9C3A5">
                  <a:tint val="50000"/>
                  <a:satMod val="180000"/>
                </a:srgb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46925" b="19977"/>
            <a:stretch/>
          </p:blipFill>
          <p:spPr bwMode="auto">
            <a:xfrm flipH="1">
              <a:off x="6114519" y="2750344"/>
              <a:ext cx="500060" cy="24826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3" name="Picture 2" descr="https://sdmntpraustraliaeast.oaiusercontent.com/files/00000000-5ae4-61fa-8c3b-2b3a4bb39ec3/raw?se=2025-09-11T07%3A08%3A45Z&amp;sp=r&amp;sv=2024-08-04&amp;sr=b&amp;scid=539b0bfa-f801-56d3-9be8-40a88aae66b0&amp;skoid=f8b66c09-1aa0-4801-9884-173c5cef2b8c&amp;sktid=a48cca56-e6da-484e-a814-9c849652bcb3&amp;skt=2025-09-10T21%3A52%3A46Z&amp;ske=2025-09-11T21%3A52%3A46Z&amp;sks=b&amp;skv=2024-08-04&amp;sig=6LkWAeWbskxIueDiqq9PJqhpfPzUZRoWCfFjWWGg/4M%3D">
              <a:extLst>
                <a:ext uri="{FF2B5EF4-FFF2-40B4-BE49-F238E27FC236}">
                  <a16:creationId xmlns:a16="http://schemas.microsoft.com/office/drawing/2014/main" id="{2116CC75-481D-45E3-8EF8-CA3B6A34FBA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 cstate="hqprint">
              <a:duotone>
                <a:prstClr val="black"/>
                <a:srgbClr val="D9C3A5">
                  <a:tint val="50000"/>
                  <a:satMod val="180000"/>
                </a:srgb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46925" b="19977"/>
            <a:stretch/>
          </p:blipFill>
          <p:spPr bwMode="auto">
            <a:xfrm flipH="1">
              <a:off x="6125576" y="2998612"/>
              <a:ext cx="500060" cy="24826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94" name="자유형: 도형 93">
            <a:extLst>
              <a:ext uri="{FF2B5EF4-FFF2-40B4-BE49-F238E27FC236}">
                <a16:creationId xmlns:a16="http://schemas.microsoft.com/office/drawing/2014/main" id="{21EAA327-2B2E-448E-816D-13DB6C64AA39}"/>
              </a:ext>
            </a:extLst>
          </p:cNvPr>
          <p:cNvSpPr/>
          <p:nvPr/>
        </p:nvSpPr>
        <p:spPr>
          <a:xfrm>
            <a:off x="5081114" y="2507781"/>
            <a:ext cx="1244600" cy="3281695"/>
          </a:xfrm>
          <a:custGeom>
            <a:avLst/>
            <a:gdLst>
              <a:gd name="connsiteX0" fmla="*/ 6350 w 1181100"/>
              <a:gd name="connsiteY0" fmla="*/ 0 h 3225800"/>
              <a:gd name="connsiteX1" fmla="*/ 0 w 1181100"/>
              <a:gd name="connsiteY1" fmla="*/ 3225800 h 3225800"/>
              <a:gd name="connsiteX2" fmla="*/ 1181100 w 1181100"/>
              <a:gd name="connsiteY2" fmla="*/ 1708150 h 3225800"/>
              <a:gd name="connsiteX3" fmla="*/ 1181100 w 1181100"/>
              <a:gd name="connsiteY3" fmla="*/ 1485900 h 3225800"/>
              <a:gd name="connsiteX4" fmla="*/ 6350 w 1181100"/>
              <a:gd name="connsiteY4" fmla="*/ 0 h 3225800"/>
              <a:gd name="connsiteX0" fmla="*/ 6350 w 1219200"/>
              <a:gd name="connsiteY0" fmla="*/ 2776672 h 6002472"/>
              <a:gd name="connsiteX1" fmla="*/ 0 w 1219200"/>
              <a:gd name="connsiteY1" fmla="*/ 6002472 h 6002472"/>
              <a:gd name="connsiteX2" fmla="*/ 1181100 w 1219200"/>
              <a:gd name="connsiteY2" fmla="*/ 4484822 h 6002472"/>
              <a:gd name="connsiteX3" fmla="*/ 1219200 w 1219200"/>
              <a:gd name="connsiteY3" fmla="*/ 0 h 6002472"/>
              <a:gd name="connsiteX4" fmla="*/ 6350 w 1219200"/>
              <a:gd name="connsiteY4" fmla="*/ 2776672 h 6002472"/>
              <a:gd name="connsiteX0" fmla="*/ 6350 w 1244600"/>
              <a:gd name="connsiteY0" fmla="*/ 2776672 h 6002472"/>
              <a:gd name="connsiteX1" fmla="*/ 0 w 1244600"/>
              <a:gd name="connsiteY1" fmla="*/ 6002472 h 6002472"/>
              <a:gd name="connsiteX2" fmla="*/ 1244600 w 1244600"/>
              <a:gd name="connsiteY2" fmla="*/ 1697310 h 6002472"/>
              <a:gd name="connsiteX3" fmla="*/ 1219200 w 1244600"/>
              <a:gd name="connsiteY3" fmla="*/ 0 h 6002472"/>
              <a:gd name="connsiteX4" fmla="*/ 6350 w 1244600"/>
              <a:gd name="connsiteY4" fmla="*/ 2776672 h 60024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4600" h="6002472">
                <a:moveTo>
                  <a:pt x="6350" y="2776672"/>
                </a:moveTo>
                <a:cubicBezTo>
                  <a:pt x="4233" y="3851939"/>
                  <a:pt x="2117" y="4927205"/>
                  <a:pt x="0" y="6002472"/>
                </a:cubicBezTo>
                <a:lnTo>
                  <a:pt x="1244600" y="1697310"/>
                </a:lnTo>
                <a:lnTo>
                  <a:pt x="1219200" y="0"/>
                </a:lnTo>
                <a:lnTo>
                  <a:pt x="6350" y="2776672"/>
                </a:lnTo>
                <a:close/>
              </a:path>
            </a:pathLst>
          </a:custGeom>
          <a:gradFill>
            <a:gsLst>
              <a:gs pos="0">
                <a:schemeClr val="bg1">
                  <a:alpha val="49000"/>
                </a:schemeClr>
              </a:gs>
              <a:gs pos="100000">
                <a:srgbClr val="DAE3F3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자유형: 도형 94">
            <a:extLst>
              <a:ext uri="{FF2B5EF4-FFF2-40B4-BE49-F238E27FC236}">
                <a16:creationId xmlns:a16="http://schemas.microsoft.com/office/drawing/2014/main" id="{BB5D8C93-26C1-45F9-A4F0-9ADD9A15E4F9}"/>
              </a:ext>
            </a:extLst>
          </p:cNvPr>
          <p:cNvSpPr/>
          <p:nvPr/>
        </p:nvSpPr>
        <p:spPr>
          <a:xfrm flipH="1">
            <a:off x="6340907" y="2506353"/>
            <a:ext cx="912835" cy="3265026"/>
          </a:xfrm>
          <a:custGeom>
            <a:avLst/>
            <a:gdLst>
              <a:gd name="connsiteX0" fmla="*/ 6350 w 1181100"/>
              <a:gd name="connsiteY0" fmla="*/ 0 h 3225800"/>
              <a:gd name="connsiteX1" fmla="*/ 0 w 1181100"/>
              <a:gd name="connsiteY1" fmla="*/ 3225800 h 3225800"/>
              <a:gd name="connsiteX2" fmla="*/ 1181100 w 1181100"/>
              <a:gd name="connsiteY2" fmla="*/ 1708150 h 3225800"/>
              <a:gd name="connsiteX3" fmla="*/ 1181100 w 1181100"/>
              <a:gd name="connsiteY3" fmla="*/ 1485900 h 3225800"/>
              <a:gd name="connsiteX4" fmla="*/ 6350 w 1181100"/>
              <a:gd name="connsiteY4" fmla="*/ 0 h 3225800"/>
              <a:gd name="connsiteX0" fmla="*/ 6350 w 1219200"/>
              <a:gd name="connsiteY0" fmla="*/ 2776672 h 6002472"/>
              <a:gd name="connsiteX1" fmla="*/ 0 w 1219200"/>
              <a:gd name="connsiteY1" fmla="*/ 6002472 h 6002472"/>
              <a:gd name="connsiteX2" fmla="*/ 1181100 w 1219200"/>
              <a:gd name="connsiteY2" fmla="*/ 4484822 h 6002472"/>
              <a:gd name="connsiteX3" fmla="*/ 1219200 w 1219200"/>
              <a:gd name="connsiteY3" fmla="*/ 0 h 6002472"/>
              <a:gd name="connsiteX4" fmla="*/ 6350 w 1219200"/>
              <a:gd name="connsiteY4" fmla="*/ 2776672 h 6002472"/>
              <a:gd name="connsiteX0" fmla="*/ 6350 w 1244600"/>
              <a:gd name="connsiteY0" fmla="*/ 2776672 h 6002472"/>
              <a:gd name="connsiteX1" fmla="*/ 0 w 1244600"/>
              <a:gd name="connsiteY1" fmla="*/ 6002472 h 6002472"/>
              <a:gd name="connsiteX2" fmla="*/ 1244600 w 1244600"/>
              <a:gd name="connsiteY2" fmla="*/ 1697310 h 6002472"/>
              <a:gd name="connsiteX3" fmla="*/ 1219200 w 1244600"/>
              <a:gd name="connsiteY3" fmla="*/ 0 h 6002472"/>
              <a:gd name="connsiteX4" fmla="*/ 6350 w 1244600"/>
              <a:gd name="connsiteY4" fmla="*/ 2776672 h 6002472"/>
              <a:gd name="connsiteX0" fmla="*/ 1925 w 1244600"/>
              <a:gd name="connsiteY0" fmla="*/ 2863782 h 6002472"/>
              <a:gd name="connsiteX1" fmla="*/ 0 w 1244600"/>
              <a:gd name="connsiteY1" fmla="*/ 6002472 h 6002472"/>
              <a:gd name="connsiteX2" fmla="*/ 1244600 w 1244600"/>
              <a:gd name="connsiteY2" fmla="*/ 1697310 h 6002472"/>
              <a:gd name="connsiteX3" fmla="*/ 1219200 w 1244600"/>
              <a:gd name="connsiteY3" fmla="*/ 0 h 6002472"/>
              <a:gd name="connsiteX4" fmla="*/ 1925 w 1244600"/>
              <a:gd name="connsiteY4" fmla="*/ 2863782 h 6002472"/>
              <a:gd name="connsiteX0" fmla="*/ 1925 w 1272303"/>
              <a:gd name="connsiteY0" fmla="*/ 2833293 h 5971983"/>
              <a:gd name="connsiteX1" fmla="*/ 0 w 1272303"/>
              <a:gd name="connsiteY1" fmla="*/ 5971983 h 5971983"/>
              <a:gd name="connsiteX2" fmla="*/ 1244600 w 1272303"/>
              <a:gd name="connsiteY2" fmla="*/ 1666821 h 5971983"/>
              <a:gd name="connsiteX3" fmla="*/ 1272303 w 1272303"/>
              <a:gd name="connsiteY3" fmla="*/ 0 h 5971983"/>
              <a:gd name="connsiteX4" fmla="*/ 1925 w 1272303"/>
              <a:gd name="connsiteY4" fmla="*/ 2833293 h 5971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72303" h="5971983">
                <a:moveTo>
                  <a:pt x="1925" y="2833293"/>
                </a:moveTo>
                <a:cubicBezTo>
                  <a:pt x="-192" y="3908560"/>
                  <a:pt x="2117" y="4896716"/>
                  <a:pt x="0" y="5971983"/>
                </a:cubicBezTo>
                <a:lnTo>
                  <a:pt x="1244600" y="1666821"/>
                </a:lnTo>
                <a:lnTo>
                  <a:pt x="1272303" y="0"/>
                </a:lnTo>
                <a:lnTo>
                  <a:pt x="1925" y="2833293"/>
                </a:lnTo>
                <a:close/>
              </a:path>
            </a:pathLst>
          </a:custGeom>
          <a:gradFill>
            <a:gsLst>
              <a:gs pos="0">
                <a:schemeClr val="bg1">
                  <a:alpha val="49000"/>
                </a:schemeClr>
              </a:gs>
              <a:gs pos="100000">
                <a:srgbClr val="DAE3F3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6" name="직선 화살표 연결선 95">
            <a:extLst>
              <a:ext uri="{FF2B5EF4-FFF2-40B4-BE49-F238E27FC236}">
                <a16:creationId xmlns:a16="http://schemas.microsoft.com/office/drawing/2014/main" id="{F257A1DC-324D-47C2-BBEC-F42A7760E724}"/>
              </a:ext>
            </a:extLst>
          </p:cNvPr>
          <p:cNvCxnSpPr>
            <a:cxnSpLocks/>
            <a:stCxn id="73" idx="2"/>
            <a:endCxn id="56" idx="0"/>
          </p:cNvCxnSpPr>
          <p:nvPr/>
        </p:nvCxnSpPr>
        <p:spPr>
          <a:xfrm flipH="1">
            <a:off x="2619726" y="5229701"/>
            <a:ext cx="1598" cy="707888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57043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 tmFilter="0, 0; .2, .5; .8, .5; 1, 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5" dur="250" autoRev="1" fill="hold"/>
                                        <p:tgtEl>
                                          <p:spTgt spid="7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500" tmFilter="0, 0; .2, .5; .8, .5; 1, 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0" dur="250" autoRev="1" fill="hold"/>
                                        <p:tgtEl>
                                          <p:spTgt spid="7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3" grpId="0" animBg="1"/>
      <p:bldP spid="14" grpId="0" animBg="1"/>
      <p:bldP spid="15" grpId="0" animBg="1"/>
      <p:bldP spid="18" grpId="0"/>
      <p:bldP spid="19" grpId="0"/>
      <p:bldP spid="20" grpId="0"/>
      <p:bldP spid="21" grpId="0"/>
      <p:bldP spid="23" grpId="0" animBg="1"/>
      <p:bldP spid="24" grpId="0"/>
      <p:bldP spid="25" grpId="0"/>
      <p:bldP spid="32" grpId="0" animBg="1"/>
      <p:bldP spid="33" grpId="0" animBg="1"/>
      <p:bldP spid="34" grpId="0" animBg="1"/>
      <p:bldP spid="35" grpId="0" animBg="1"/>
      <p:bldP spid="36" grpId="0"/>
      <p:bldP spid="37" grpId="0"/>
      <p:bldP spid="38" grpId="0"/>
      <p:bldP spid="39" grpId="0"/>
      <p:bldP spid="40" grpId="0"/>
      <p:bldP spid="41" grpId="0"/>
      <p:bldP spid="45" grpId="0" animBg="1"/>
      <p:bldP spid="49" grpId="0" animBg="1"/>
      <p:bldP spid="50" grpId="0" animBg="1"/>
      <p:bldP spid="51" grpId="0" animBg="1"/>
      <p:bldP spid="72" grpId="0" animBg="1"/>
      <p:bldP spid="73" grpId="0" animBg="1"/>
      <p:bldP spid="84" grpId="0"/>
      <p:bldP spid="85" grpId="0"/>
      <p:bldP spid="86" grpId="0"/>
      <p:bldP spid="9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BC40804-93C6-4998-8374-CF98D96E3799}"/>
              </a:ext>
            </a:extLst>
          </p:cNvPr>
          <p:cNvSpPr txBox="1"/>
          <p:nvPr/>
        </p:nvSpPr>
        <p:spPr>
          <a:xfrm>
            <a:off x="0" y="0"/>
            <a:ext cx="36191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arenBoth"/>
            </a:pPr>
            <a:r>
              <a:rPr lang="en-US" altLang="ko-KR" b="1" dirty="0">
                <a:latin typeface="+mn-ea"/>
                <a:cs typeface="Times New Roman" panose="02020603050405020304" pitchFamily="18" charset="0"/>
              </a:rPr>
              <a:t>Neuromorphic framework II</a:t>
            </a:r>
          </a:p>
        </p:txBody>
      </p:sp>
      <p:sp>
        <p:nvSpPr>
          <p:cNvPr id="97" name="내용 개체 틀 2">
            <a:extLst>
              <a:ext uri="{FF2B5EF4-FFF2-40B4-BE49-F238E27FC236}">
                <a16:creationId xmlns:a16="http://schemas.microsoft.com/office/drawing/2014/main" id="{E905A3DC-50F1-4E74-B451-4537BA47E6DF}"/>
              </a:ext>
            </a:extLst>
          </p:cNvPr>
          <p:cNvSpPr txBox="1">
            <a:spLocks/>
          </p:cNvSpPr>
          <p:nvPr/>
        </p:nvSpPr>
        <p:spPr>
          <a:xfrm>
            <a:off x="165699" y="773222"/>
            <a:ext cx="11626970" cy="2260986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 of locomotion speed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brainstem circuit: MLR(Mesencephalic Locomotion Region), reticular formation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Graded optogenetic stimulation of MLR can control locomotion speed in rodents*</a:t>
            </a:r>
          </a:p>
          <a:p>
            <a:pPr lvl="1" algn="l">
              <a:buFont typeface="Wingdings" panose="05000000000000000000" pitchFamily="2" charset="2"/>
              <a:buChar char="ü"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Firing rate of </a:t>
            </a:r>
            <a:r>
              <a:rPr lang="en-US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CnF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neurons has linear correlation with walking speed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Corrected by cerebellum with sensory feedback at reticular formation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Speed command</a:t>
            </a:r>
            <a:r>
              <a:rPr lang="en-US" altLang="ko-KR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projected to spinal cord via descending input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ko-KR" sz="15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Speed command becomes basic signal for movements  </a:t>
            </a:r>
            <a:r>
              <a:rPr lang="en-US" altLang="ko-KR" sz="15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Reflects the intentions for gait</a:t>
            </a:r>
            <a:endParaRPr lang="en-US" sz="15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8" name="그림 97">
            <a:extLst>
              <a:ext uri="{FF2B5EF4-FFF2-40B4-BE49-F238E27FC236}">
                <a16:creationId xmlns:a16="http://schemas.microsoft.com/office/drawing/2014/main" id="{6F707849-38D7-4DEC-AFA3-054F74F49C4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76795"/>
          <a:stretch/>
        </p:blipFill>
        <p:spPr>
          <a:xfrm>
            <a:off x="4968099" y="3935769"/>
            <a:ext cx="6017547" cy="1338279"/>
          </a:xfrm>
          <a:prstGeom prst="rect">
            <a:avLst/>
          </a:prstGeom>
        </p:spPr>
      </p:pic>
      <p:sp>
        <p:nvSpPr>
          <p:cNvPr id="99" name="직사각형 98">
            <a:extLst>
              <a:ext uri="{FF2B5EF4-FFF2-40B4-BE49-F238E27FC236}">
                <a16:creationId xmlns:a16="http://schemas.microsoft.com/office/drawing/2014/main" id="{28EFF590-3E95-4D34-BAD2-07C01F266B4F}"/>
              </a:ext>
            </a:extLst>
          </p:cNvPr>
          <p:cNvSpPr/>
          <p:nvPr/>
        </p:nvSpPr>
        <p:spPr>
          <a:xfrm>
            <a:off x="0" y="6543026"/>
            <a:ext cx="1162697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Caggiano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Vittorio, et al. "Midbrain circuits that set locomotor speed and gait selection." Nature 553.7689 (2018): 455-460.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DFB2F269-4015-45FC-8C69-B503B5F805F6}"/>
              </a:ext>
            </a:extLst>
          </p:cNvPr>
          <p:cNvSpPr txBox="1"/>
          <p:nvPr/>
        </p:nvSpPr>
        <p:spPr>
          <a:xfrm>
            <a:off x="5423499" y="5354539"/>
            <a:ext cx="50966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[Coding of speed in glutamatergic neurons in CnF]</a:t>
            </a:r>
          </a:p>
        </p:txBody>
      </p:sp>
      <p:sp>
        <p:nvSpPr>
          <p:cNvPr id="101" name="사각형: 둥근 모서리 100">
            <a:extLst>
              <a:ext uri="{FF2B5EF4-FFF2-40B4-BE49-F238E27FC236}">
                <a16:creationId xmlns:a16="http://schemas.microsoft.com/office/drawing/2014/main" id="{85F6BCC7-A900-4829-A603-61C455E1A83E}"/>
              </a:ext>
            </a:extLst>
          </p:cNvPr>
          <p:cNvSpPr/>
          <p:nvPr/>
        </p:nvSpPr>
        <p:spPr>
          <a:xfrm>
            <a:off x="1334684" y="4147751"/>
            <a:ext cx="1105634" cy="1360629"/>
          </a:xfrm>
          <a:prstGeom prst="roundRect">
            <a:avLst>
              <a:gd name="adj" fmla="val 2848"/>
            </a:avLst>
          </a:prstGeom>
          <a:solidFill>
            <a:srgbClr val="80D2D2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0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2" name="직사각형 101">
            <a:extLst>
              <a:ext uri="{FF2B5EF4-FFF2-40B4-BE49-F238E27FC236}">
                <a16:creationId xmlns:a16="http://schemas.microsoft.com/office/drawing/2014/main" id="{E10F267C-055B-4213-996F-FD863684DFFE}"/>
              </a:ext>
            </a:extLst>
          </p:cNvPr>
          <p:cNvSpPr/>
          <p:nvPr/>
        </p:nvSpPr>
        <p:spPr>
          <a:xfrm>
            <a:off x="2581646" y="4328473"/>
            <a:ext cx="813037" cy="441597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Cerebellum</a:t>
            </a:r>
          </a:p>
        </p:txBody>
      </p:sp>
      <p:cxnSp>
        <p:nvCxnSpPr>
          <p:cNvPr id="103" name="연결선: 꺾임 102">
            <a:extLst>
              <a:ext uri="{FF2B5EF4-FFF2-40B4-BE49-F238E27FC236}">
                <a16:creationId xmlns:a16="http://schemas.microsoft.com/office/drawing/2014/main" id="{C57DA91B-CDDF-40AE-B37C-63659EDBBDB8}"/>
              </a:ext>
            </a:extLst>
          </p:cNvPr>
          <p:cNvCxnSpPr>
            <a:cxnSpLocks/>
            <a:stCxn id="102" idx="2"/>
            <a:endCxn id="106" idx="3"/>
          </p:cNvCxnSpPr>
          <p:nvPr/>
        </p:nvCxnSpPr>
        <p:spPr>
          <a:xfrm rot="5400000">
            <a:off x="2438302" y="4650417"/>
            <a:ext cx="430213" cy="669519"/>
          </a:xfrm>
          <a:prstGeom prst="bentConnector2">
            <a:avLst/>
          </a:prstGeom>
          <a:ln w="19050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직선 화살표 연결선 103">
            <a:extLst>
              <a:ext uri="{FF2B5EF4-FFF2-40B4-BE49-F238E27FC236}">
                <a16:creationId xmlns:a16="http://schemas.microsoft.com/office/drawing/2014/main" id="{A4F6B281-1F58-4718-9B50-EDFAFCDB682A}"/>
              </a:ext>
            </a:extLst>
          </p:cNvPr>
          <p:cNvCxnSpPr>
            <a:cxnSpLocks/>
            <a:stCxn id="106" idx="2"/>
          </p:cNvCxnSpPr>
          <p:nvPr/>
        </p:nvCxnSpPr>
        <p:spPr>
          <a:xfrm flipH="1">
            <a:off x="1884447" y="5407275"/>
            <a:ext cx="1" cy="515606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직사각형 104">
            <a:extLst>
              <a:ext uri="{FF2B5EF4-FFF2-40B4-BE49-F238E27FC236}">
                <a16:creationId xmlns:a16="http://schemas.microsoft.com/office/drawing/2014/main" id="{266CD7D3-2577-458A-BB79-DA280BF3EB23}"/>
              </a:ext>
            </a:extLst>
          </p:cNvPr>
          <p:cNvSpPr/>
          <p:nvPr/>
        </p:nvSpPr>
        <p:spPr>
          <a:xfrm>
            <a:off x="1473617" y="4284427"/>
            <a:ext cx="821009" cy="52969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MLR</a:t>
            </a:r>
          </a:p>
          <a:p>
            <a:pPr algn="ctr"/>
            <a:r>
              <a:rPr lang="en-US" sz="1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(CnF, PPN)</a:t>
            </a:r>
          </a:p>
        </p:txBody>
      </p:sp>
      <p:sp>
        <p:nvSpPr>
          <p:cNvPr id="106" name="직사각형 105">
            <a:extLst>
              <a:ext uri="{FF2B5EF4-FFF2-40B4-BE49-F238E27FC236}">
                <a16:creationId xmlns:a16="http://schemas.microsoft.com/office/drawing/2014/main" id="{8FE7810E-57E3-4D5C-97F3-89D8BCD58A7F}"/>
              </a:ext>
            </a:extLst>
          </p:cNvPr>
          <p:cNvSpPr/>
          <p:nvPr/>
        </p:nvSpPr>
        <p:spPr>
          <a:xfrm>
            <a:off x="1450248" y="4993290"/>
            <a:ext cx="868400" cy="41398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Reticular </a:t>
            </a:r>
          </a:p>
          <a:p>
            <a:pPr algn="ctr"/>
            <a:r>
              <a:rPr lang="en-US" sz="1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formation</a:t>
            </a:r>
          </a:p>
        </p:txBody>
      </p:sp>
      <p:cxnSp>
        <p:nvCxnSpPr>
          <p:cNvPr id="107" name="직선 화살표 연결선 106">
            <a:extLst>
              <a:ext uri="{FF2B5EF4-FFF2-40B4-BE49-F238E27FC236}">
                <a16:creationId xmlns:a16="http://schemas.microsoft.com/office/drawing/2014/main" id="{989E20F2-35F9-4D3D-BE80-86667950CE32}"/>
              </a:ext>
            </a:extLst>
          </p:cNvPr>
          <p:cNvCxnSpPr>
            <a:cxnSpLocks/>
            <a:stCxn id="105" idx="2"/>
            <a:endCxn id="106" idx="0"/>
          </p:cNvCxnSpPr>
          <p:nvPr/>
        </p:nvCxnSpPr>
        <p:spPr>
          <a:xfrm>
            <a:off x="1884122" y="4814117"/>
            <a:ext cx="326" cy="179173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TextBox 107">
            <a:extLst>
              <a:ext uri="{FF2B5EF4-FFF2-40B4-BE49-F238E27FC236}">
                <a16:creationId xmlns:a16="http://schemas.microsoft.com/office/drawing/2014/main" id="{7ED4718C-C328-48CB-9820-CBB9DF2928DB}"/>
              </a:ext>
            </a:extLst>
          </p:cNvPr>
          <p:cNvSpPr txBox="1"/>
          <p:nvPr/>
        </p:nvSpPr>
        <p:spPr>
          <a:xfrm>
            <a:off x="1191168" y="5895250"/>
            <a:ext cx="13790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Speed command </a:t>
            </a:r>
          </a:p>
          <a:p>
            <a:pPr algn="ctr"/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(to CPG)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32D11964-31B9-4C8E-8AF4-34EE0AFA8B64}"/>
              </a:ext>
            </a:extLst>
          </p:cNvPr>
          <p:cNvSpPr txBox="1"/>
          <p:nvPr/>
        </p:nvSpPr>
        <p:spPr>
          <a:xfrm>
            <a:off x="909281" y="3299053"/>
            <a:ext cx="19496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Gait intention</a:t>
            </a:r>
          </a:p>
          <a:p>
            <a:pPr algn="ctr"/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(from basal ganglia)</a:t>
            </a:r>
          </a:p>
        </p:txBody>
      </p:sp>
      <p:cxnSp>
        <p:nvCxnSpPr>
          <p:cNvPr id="110" name="직선 화살표 연결선 109">
            <a:extLst>
              <a:ext uri="{FF2B5EF4-FFF2-40B4-BE49-F238E27FC236}">
                <a16:creationId xmlns:a16="http://schemas.microsoft.com/office/drawing/2014/main" id="{2DD07D01-4456-41B3-9830-727252707218}"/>
              </a:ext>
            </a:extLst>
          </p:cNvPr>
          <p:cNvCxnSpPr>
            <a:cxnSpLocks/>
            <a:endCxn id="105" idx="0"/>
          </p:cNvCxnSpPr>
          <p:nvPr/>
        </p:nvCxnSpPr>
        <p:spPr>
          <a:xfrm>
            <a:off x="1884122" y="3848775"/>
            <a:ext cx="0" cy="435652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1" name="그림 110">
            <a:extLst>
              <a:ext uri="{FF2B5EF4-FFF2-40B4-BE49-F238E27FC236}">
                <a16:creationId xmlns:a16="http://schemas.microsoft.com/office/drawing/2014/main" id="{8E839EFC-26BF-4E9A-B3AB-D4FDC674D1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17835" y="680566"/>
            <a:ext cx="2780085" cy="32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07365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BC40804-93C6-4998-8374-CF98D96E3799}"/>
              </a:ext>
            </a:extLst>
          </p:cNvPr>
          <p:cNvSpPr txBox="1"/>
          <p:nvPr/>
        </p:nvSpPr>
        <p:spPr>
          <a:xfrm>
            <a:off x="0" y="0"/>
            <a:ext cx="36493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latin typeface="+mn-ea"/>
                <a:cs typeface="Times New Roman" panose="02020603050405020304" pitchFamily="18" charset="0"/>
              </a:rPr>
              <a:t>(2) Speed Intention Definition I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BAD0C3F8-699A-441D-92B2-8A9445A31A5A}"/>
              </a:ext>
            </a:extLst>
          </p:cNvPr>
          <p:cNvSpPr/>
          <p:nvPr/>
        </p:nvSpPr>
        <p:spPr>
          <a:xfrm>
            <a:off x="885505" y="1426570"/>
            <a:ext cx="1105634" cy="1360629"/>
          </a:xfrm>
          <a:prstGeom prst="roundRect">
            <a:avLst>
              <a:gd name="adj" fmla="val 2848"/>
            </a:avLst>
          </a:prstGeom>
          <a:solidFill>
            <a:srgbClr val="80D2D2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0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F6CADD5-2E59-49E0-94B3-8FA8D6D6F720}"/>
              </a:ext>
            </a:extLst>
          </p:cNvPr>
          <p:cNvSpPr/>
          <p:nvPr/>
        </p:nvSpPr>
        <p:spPr>
          <a:xfrm>
            <a:off x="2044350" y="1946291"/>
            <a:ext cx="813037" cy="441597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Cerebellum</a:t>
            </a:r>
          </a:p>
        </p:txBody>
      </p:sp>
      <p:cxnSp>
        <p:nvCxnSpPr>
          <p:cNvPr id="20" name="연결선: 꺾임 19">
            <a:extLst>
              <a:ext uri="{FF2B5EF4-FFF2-40B4-BE49-F238E27FC236}">
                <a16:creationId xmlns:a16="http://schemas.microsoft.com/office/drawing/2014/main" id="{0905107E-4262-4351-8E6D-7B8F2CC4FA18}"/>
              </a:ext>
            </a:extLst>
          </p:cNvPr>
          <p:cNvCxnSpPr>
            <a:cxnSpLocks/>
            <a:stCxn id="19" idx="2"/>
            <a:endCxn id="23" idx="3"/>
          </p:cNvCxnSpPr>
          <p:nvPr/>
        </p:nvCxnSpPr>
        <p:spPr>
          <a:xfrm rot="5400000">
            <a:off x="2114562" y="2142795"/>
            <a:ext cx="91214" cy="581400"/>
          </a:xfrm>
          <a:prstGeom prst="bentConnector2">
            <a:avLst/>
          </a:prstGeom>
          <a:ln w="19050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00A6844C-22C7-4670-922D-75C674B77D08}"/>
              </a:ext>
            </a:extLst>
          </p:cNvPr>
          <p:cNvCxnSpPr>
            <a:cxnSpLocks/>
            <a:stCxn id="23" idx="2"/>
            <a:endCxn id="25" idx="0"/>
          </p:cNvCxnSpPr>
          <p:nvPr/>
        </p:nvCxnSpPr>
        <p:spPr>
          <a:xfrm flipH="1">
            <a:off x="1431525" y="2686094"/>
            <a:ext cx="3744" cy="252554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6C648B11-3F79-4C51-92B3-C0767959076F}"/>
              </a:ext>
            </a:extLst>
          </p:cNvPr>
          <p:cNvSpPr/>
          <p:nvPr/>
        </p:nvSpPr>
        <p:spPr>
          <a:xfrm>
            <a:off x="1024438" y="1563246"/>
            <a:ext cx="821009" cy="52969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MLR</a:t>
            </a:r>
          </a:p>
          <a:p>
            <a:pPr algn="ctr"/>
            <a:r>
              <a:rPr lang="en-US" sz="1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(CnF, PPN)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CC53B771-F58C-4442-9668-E88045E00002}"/>
              </a:ext>
            </a:extLst>
          </p:cNvPr>
          <p:cNvSpPr/>
          <p:nvPr/>
        </p:nvSpPr>
        <p:spPr>
          <a:xfrm>
            <a:off x="1001069" y="2272109"/>
            <a:ext cx="868400" cy="41398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Reticular </a:t>
            </a:r>
          </a:p>
          <a:p>
            <a:pPr algn="ctr"/>
            <a:r>
              <a:rPr lang="en-US" sz="1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formation</a:t>
            </a:r>
          </a:p>
        </p:txBody>
      </p: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F0DBF869-382B-41FD-A327-6264AA8264E9}"/>
              </a:ext>
            </a:extLst>
          </p:cNvPr>
          <p:cNvCxnSpPr>
            <a:cxnSpLocks/>
            <a:stCxn id="22" idx="2"/>
            <a:endCxn id="23" idx="0"/>
          </p:cNvCxnSpPr>
          <p:nvPr/>
        </p:nvCxnSpPr>
        <p:spPr>
          <a:xfrm>
            <a:off x="1434943" y="2092936"/>
            <a:ext cx="326" cy="179173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B50DF3F7-43E5-41EE-BD67-B7285849396C}"/>
              </a:ext>
            </a:extLst>
          </p:cNvPr>
          <p:cNvSpPr txBox="1"/>
          <p:nvPr/>
        </p:nvSpPr>
        <p:spPr>
          <a:xfrm>
            <a:off x="741989" y="2938648"/>
            <a:ext cx="1379072" cy="52322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Speed command </a:t>
            </a:r>
          </a:p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(to CPG)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38BB94C-24CD-4EDE-9991-EB0AD5343C6F}"/>
              </a:ext>
            </a:extLst>
          </p:cNvPr>
          <p:cNvSpPr txBox="1"/>
          <p:nvPr/>
        </p:nvSpPr>
        <p:spPr>
          <a:xfrm>
            <a:off x="460102" y="730343"/>
            <a:ext cx="19496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Gait intention</a:t>
            </a:r>
          </a:p>
          <a:p>
            <a:pPr algn="ctr"/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(from basal ganglia)</a:t>
            </a:r>
          </a:p>
        </p:txBody>
      </p: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F7A1E681-9EE5-4898-9661-FF782E84940D}"/>
              </a:ext>
            </a:extLst>
          </p:cNvPr>
          <p:cNvCxnSpPr>
            <a:cxnSpLocks/>
            <a:stCxn id="26" idx="2"/>
            <a:endCxn id="22" idx="0"/>
          </p:cNvCxnSpPr>
          <p:nvPr/>
        </p:nvCxnSpPr>
        <p:spPr>
          <a:xfrm>
            <a:off x="1434942" y="1253563"/>
            <a:ext cx="1" cy="309683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그림 28">
            <a:extLst>
              <a:ext uri="{FF2B5EF4-FFF2-40B4-BE49-F238E27FC236}">
                <a16:creationId xmlns:a16="http://schemas.microsoft.com/office/drawing/2014/main" id="{A4623E0E-1AF1-4FAA-9FDF-76A9C5AC072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178" t="3316" r="7039" b="4246"/>
          <a:stretch>
            <a:fillRect/>
          </a:stretch>
        </p:blipFill>
        <p:spPr>
          <a:xfrm>
            <a:off x="3724710" y="1591827"/>
            <a:ext cx="5911191" cy="2289305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60E4879C-5019-403C-A791-857BFC159A23}"/>
              </a:ext>
            </a:extLst>
          </p:cNvPr>
          <p:cNvSpPr txBox="1"/>
          <p:nvPr/>
        </p:nvSpPr>
        <p:spPr>
          <a:xfrm>
            <a:off x="3724710" y="431394"/>
            <a:ext cx="800718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Supraspinal drive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Intensity decides the gait speed*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 frequency tonic signal</a:t>
            </a:r>
          </a:p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</a:t>
            </a:r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However, Observation on COM speed shows </a:t>
            </a:r>
            <a:r>
              <a:rPr lang="en-US" altLang="ko-KR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oscillatory characteristics</a:t>
            </a:r>
            <a:endParaRPr lang="ko-KR" altLang="en-US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ko-KR" altLang="en-US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ko-KR" altLang="en-US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A55E76A-20DE-4C09-938B-43FF17B24CE1}"/>
              </a:ext>
            </a:extLst>
          </p:cNvPr>
          <p:cNvSpPr/>
          <p:nvPr/>
        </p:nvSpPr>
        <p:spPr>
          <a:xfrm>
            <a:off x="460102" y="698502"/>
            <a:ext cx="2635436" cy="295924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" name="연결선: 꺾임 7">
            <a:extLst>
              <a:ext uri="{FF2B5EF4-FFF2-40B4-BE49-F238E27FC236}">
                <a16:creationId xmlns:a16="http://schemas.microsoft.com/office/drawing/2014/main" id="{6B3193D4-908E-43C6-828E-4799BB26CBEA}"/>
              </a:ext>
            </a:extLst>
          </p:cNvPr>
          <p:cNvCxnSpPr>
            <a:cxnSpLocks/>
            <a:stCxn id="25" idx="3"/>
            <a:endCxn id="32" idx="1"/>
          </p:cNvCxnSpPr>
          <p:nvPr/>
        </p:nvCxnSpPr>
        <p:spPr>
          <a:xfrm flipV="1">
            <a:off x="2121061" y="1308557"/>
            <a:ext cx="1603649" cy="1891701"/>
          </a:xfrm>
          <a:prstGeom prst="bentConnector3">
            <a:avLst>
              <a:gd name="adj1" fmla="val 50000"/>
            </a:avLst>
          </a:prstGeom>
          <a:ln w="12700">
            <a:solidFill>
              <a:srgbClr val="FF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E7D79F72-0139-4AA0-B96A-1D4B1385EE41}"/>
              </a:ext>
            </a:extLst>
          </p:cNvPr>
          <p:cNvSpPr txBox="1"/>
          <p:nvPr/>
        </p:nvSpPr>
        <p:spPr>
          <a:xfrm>
            <a:off x="9514781" y="2524511"/>
            <a:ext cx="2491388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5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</a:t>
            </a:r>
            <a:r>
              <a:rPr lang="en-US" altLang="ko-KR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 frequency component</a:t>
            </a:r>
            <a:endParaRPr lang="ko-KR" alt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DC569E0-2A8E-4799-9769-FE231E13BC2D}"/>
              </a:ext>
            </a:extLst>
          </p:cNvPr>
          <p:cNvSpPr txBox="1"/>
          <p:nvPr/>
        </p:nvSpPr>
        <p:spPr>
          <a:xfrm>
            <a:off x="9514781" y="3267417"/>
            <a:ext cx="2523448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5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High</a:t>
            </a:r>
            <a:r>
              <a:rPr lang="en-US" altLang="ko-KR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frequency component</a:t>
            </a:r>
            <a:endParaRPr lang="ko-KR" alt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EA18298-1E7C-4C7E-BF82-6993CF01DB14}"/>
              </a:ext>
            </a:extLst>
          </p:cNvPr>
          <p:cNvSpPr txBox="1"/>
          <p:nvPr/>
        </p:nvSpPr>
        <p:spPr>
          <a:xfrm>
            <a:off x="460101" y="4150905"/>
            <a:ext cx="1157812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Oscillatory characteristics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Human gait can be modeled as inverted pendulum: kinetic and potential energy exchange leads to speed change</a:t>
            </a:r>
          </a:p>
          <a:p>
            <a:pPr lvl="1"/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</a:t>
            </a:r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 of physical structure, not from supraspinal drive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C39280D-03A2-42A5-B5AA-A8F29B41D095}"/>
              </a:ext>
            </a:extLst>
          </p:cNvPr>
          <p:cNvSpPr txBox="1"/>
          <p:nvPr/>
        </p:nvSpPr>
        <p:spPr>
          <a:xfrm>
            <a:off x="1601016" y="5824077"/>
            <a:ext cx="92962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extract the gait intentions from gait speed,</a:t>
            </a:r>
          </a:p>
          <a:p>
            <a:pPr algn="ctr"/>
            <a:r>
              <a:rPr lang="en-US" altLang="ko-KR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low-frequency components should be extracted, that reflects the tonic signal</a:t>
            </a:r>
            <a:endParaRPr lang="ko-KR" altLang="en-US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화살표: 아래쪽 44">
            <a:extLst>
              <a:ext uri="{FF2B5EF4-FFF2-40B4-BE49-F238E27FC236}">
                <a16:creationId xmlns:a16="http://schemas.microsoft.com/office/drawing/2014/main" id="{606D9164-073D-4357-8004-54CF2DD161DB}"/>
              </a:ext>
            </a:extLst>
          </p:cNvPr>
          <p:cNvSpPr/>
          <p:nvPr/>
        </p:nvSpPr>
        <p:spPr>
          <a:xfrm>
            <a:off x="5919787" y="5251252"/>
            <a:ext cx="352426" cy="395808"/>
          </a:xfrm>
          <a:prstGeom prst="downArrow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AAF20110-A1B8-4D4A-9083-EA2101C6ECCD}"/>
              </a:ext>
            </a:extLst>
          </p:cNvPr>
          <p:cNvSpPr/>
          <p:nvPr/>
        </p:nvSpPr>
        <p:spPr>
          <a:xfrm>
            <a:off x="0" y="6543026"/>
            <a:ext cx="1162697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 </a:t>
            </a:r>
            <a:r>
              <a:rPr lang="en-US" altLang="ko-KR" sz="120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Jordan, Larry M. "Initiation of locomotion in mammals." </a:t>
            </a:r>
            <a:r>
              <a:rPr lang="en-US" altLang="ko-KR" sz="1200" i="1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Annals of the New York Academy of Sciences</a:t>
            </a:r>
            <a:r>
              <a:rPr lang="en-US" altLang="ko-KR" sz="120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860.1 (1998): 83-93.</a:t>
            </a:r>
            <a:endParaRPr lang="ko-KR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25449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BC40804-93C6-4998-8374-CF98D96E3799}"/>
              </a:ext>
            </a:extLst>
          </p:cNvPr>
          <p:cNvSpPr txBox="1"/>
          <p:nvPr/>
        </p:nvSpPr>
        <p:spPr>
          <a:xfrm>
            <a:off x="0" y="0"/>
            <a:ext cx="37214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latin typeface="+mn-ea"/>
                <a:cs typeface="Times New Roman" panose="02020603050405020304" pitchFamily="18" charset="0"/>
              </a:rPr>
              <a:t>(2) Speed Intention Definition II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C7464359-9402-41E1-B5DE-A66691507326}"/>
              </a:ext>
            </a:extLst>
          </p:cNvPr>
          <p:cNvSpPr/>
          <p:nvPr/>
        </p:nvSpPr>
        <p:spPr>
          <a:xfrm>
            <a:off x="450940" y="666750"/>
            <a:ext cx="1128386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 pass filtering with adaptive cutoff frequency</a:t>
            </a:r>
          </a:p>
          <a:p>
            <a:pPr marL="742950" lvl="1" indent="-285750">
              <a:buFontTx/>
              <a:buChar char="-"/>
            </a:pPr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Step-to-step adaptation: human body reflects changes in walking speed at the minimum scale of a single step*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6DFC5DEA-3FC8-463C-8A5C-32FAE80B3C97}"/>
              </a:ext>
            </a:extLst>
          </p:cNvPr>
          <p:cNvSpPr/>
          <p:nvPr/>
        </p:nvSpPr>
        <p:spPr>
          <a:xfrm>
            <a:off x="0" y="6396335"/>
            <a:ext cx="1219200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20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 </a:t>
            </a:r>
            <a:r>
              <a:rPr lang="en-US" altLang="ko-KR" sz="120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Kuo</a:t>
            </a:r>
            <a:r>
              <a:rPr lang="en-US" altLang="ko-KR" sz="120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Arthur D. "A simple model of bipedal walking predicts the preferred speed–step length relationship." </a:t>
            </a:r>
            <a:r>
              <a:rPr lang="en-US" altLang="ko-KR" sz="1200" i="1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Journal of biomechanical engineering</a:t>
            </a:r>
            <a:r>
              <a:rPr lang="en-US" altLang="ko-KR" sz="120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123.3 (2001): 264-269.</a:t>
            </a:r>
            <a:endParaRPr lang="ko-KR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화살표: 아래쪽 2">
            <a:extLst>
              <a:ext uri="{FF2B5EF4-FFF2-40B4-BE49-F238E27FC236}">
                <a16:creationId xmlns:a16="http://schemas.microsoft.com/office/drawing/2014/main" id="{F70710EF-40F9-4CC8-8A5A-194038438069}"/>
              </a:ext>
            </a:extLst>
          </p:cNvPr>
          <p:cNvSpPr/>
          <p:nvPr/>
        </p:nvSpPr>
        <p:spPr>
          <a:xfrm>
            <a:off x="5872162" y="1419999"/>
            <a:ext cx="447675" cy="381000"/>
          </a:xfrm>
          <a:prstGeom prst="down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0" name="직사각형 29">
                <a:extLst>
                  <a:ext uri="{FF2B5EF4-FFF2-40B4-BE49-F238E27FC236}">
                    <a16:creationId xmlns:a16="http://schemas.microsoft.com/office/drawing/2014/main" id="{E7C7B156-A545-4D96-A46E-2A2BA0123603}"/>
                  </a:ext>
                </a:extLst>
              </p:cNvPr>
              <p:cNvSpPr/>
              <p:nvPr/>
            </p:nvSpPr>
            <p:spPr>
              <a:xfrm>
                <a:off x="450940" y="1633963"/>
                <a:ext cx="11283860" cy="110190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Adaptive cutoff frequency(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en-US" altLang="ko-K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):</a:t>
                </a:r>
              </a:p>
              <a:p>
                <a:pPr marL="742950" lvl="1" indent="-285750">
                  <a:buFontTx/>
                  <a:buChar char="-"/>
                </a:pPr>
                <a:r>
                  <a:rPr lang="en-US" altLang="ko-KR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Discrete update as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𝛼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⋅</m:t>
                    </m:r>
                    <m:f>
                      <m:fPr>
                        <m:ctrlPr>
                          <a:rPr lang="en-US" altLang="ko-KR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ko-KR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𝑐𝑦𝑐𝑙𝑒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ko-K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at each step</a:t>
                </a:r>
              </a:p>
              <a:p>
                <a:pPr marL="742950" lvl="1" indent="-285750">
                  <a:buFontTx/>
                  <a:buChar char="-"/>
                </a:pPr>
                <a:r>
                  <a:rPr lang="en-US" altLang="ko-K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Smooth transition of cutoff frequency with cubic spline interpolation</a:t>
                </a:r>
              </a:p>
            </p:txBody>
          </p:sp>
        </mc:Choice>
        <mc:Fallback>
          <p:sp>
            <p:nvSpPr>
              <p:cNvPr id="30" name="직사각형 29">
                <a:extLst>
                  <a:ext uri="{FF2B5EF4-FFF2-40B4-BE49-F238E27FC236}">
                    <a16:creationId xmlns:a16="http://schemas.microsoft.com/office/drawing/2014/main" id="{E7C7B156-A545-4D96-A46E-2A2BA012360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0940" y="1633963"/>
                <a:ext cx="11283860" cy="1101905"/>
              </a:xfrm>
              <a:prstGeom prst="rect">
                <a:avLst/>
              </a:prstGeom>
              <a:blipFill>
                <a:blip r:embed="rId2"/>
                <a:stretch>
                  <a:fillRect l="-378" t="-2762" b="-773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572867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885E2C1-F738-4809-B7F0-1F1DC0FA18F7}"/>
              </a:ext>
            </a:extLst>
          </p:cNvPr>
          <p:cNvSpPr txBox="1"/>
          <p:nvPr/>
        </p:nvSpPr>
        <p:spPr>
          <a:xfrm>
            <a:off x="3763278" y="3152001"/>
            <a:ext cx="4665444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 Training </a:t>
            </a:r>
            <a:r>
              <a:rPr lang="ko-KR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고려 사항</a:t>
            </a:r>
          </a:p>
        </p:txBody>
      </p:sp>
    </p:spTree>
    <p:extLst>
      <p:ext uri="{BB962C8B-B14F-4D97-AF65-F5344CB8AC3E}">
        <p14:creationId xmlns:p14="http://schemas.microsoft.com/office/powerpoint/2010/main" val="20733732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BC40804-93C6-4998-8374-CF98D96E3799}"/>
              </a:ext>
            </a:extLst>
          </p:cNvPr>
          <p:cNvSpPr txBox="1"/>
          <p:nvPr/>
        </p:nvSpPr>
        <p:spPr>
          <a:xfrm>
            <a:off x="0" y="0"/>
            <a:ext cx="10315260" cy="27238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arenBoth"/>
            </a:pPr>
            <a:r>
              <a:rPr lang="ko-KR" altLang="en-US" b="1" dirty="0">
                <a:latin typeface="+mn-ea"/>
                <a:cs typeface="Times New Roman" panose="02020603050405020304" pitchFamily="18" charset="0"/>
              </a:rPr>
              <a:t>데이터 및 학습 과정 관련</a:t>
            </a:r>
            <a:endParaRPr lang="en-US" altLang="ko-KR" b="1" dirty="0">
              <a:latin typeface="+mn-ea"/>
              <a:cs typeface="Times New Roman" panose="02020603050405020304" pitchFamily="18" charset="0"/>
            </a:endParaRPr>
          </a:p>
          <a:p>
            <a:pPr marL="342900" indent="-342900">
              <a:buAutoNum type="arabicParenBoth"/>
            </a:pPr>
            <a:endParaRPr lang="en-US" altLang="ko-KR" b="1" dirty="0">
              <a:latin typeface="+mn-ea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500" dirty="0">
                <a:latin typeface="+mn-ea"/>
                <a:cs typeface="Times New Roman" panose="02020603050405020304" pitchFamily="18" charset="0"/>
              </a:rPr>
              <a:t>Batch size: </a:t>
            </a:r>
            <a:r>
              <a:rPr lang="ko-KR" altLang="en-US" sz="1500" dirty="0">
                <a:latin typeface="+mn-ea"/>
                <a:cs typeface="Times New Roman" panose="02020603050405020304" pitchFamily="18" charset="0"/>
              </a:rPr>
              <a:t>전체 데이터 셋을 여러 작은 그룹으로 나눴을 때</a:t>
            </a:r>
            <a:r>
              <a:rPr lang="en-US" altLang="ko-KR" sz="1500" dirty="0">
                <a:latin typeface="+mn-ea"/>
                <a:cs typeface="Times New Roman" panose="02020603050405020304" pitchFamily="18" charset="0"/>
              </a:rPr>
              <a:t>, </a:t>
            </a:r>
            <a:r>
              <a:rPr lang="ko-KR" altLang="en-US" sz="1500" dirty="0">
                <a:latin typeface="+mn-ea"/>
                <a:cs typeface="Times New Roman" panose="02020603050405020304" pitchFamily="18" charset="0"/>
              </a:rPr>
              <a:t>하나의 소그룹에 속하는 데이터 수</a:t>
            </a:r>
            <a:endParaRPr lang="en-US" altLang="ko-KR" sz="1500" dirty="0">
              <a:latin typeface="+mn-ea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500" dirty="0">
                <a:latin typeface="+mn-ea"/>
                <a:cs typeface="Times New Roman" panose="02020603050405020304" pitchFamily="18" charset="0"/>
              </a:rPr>
              <a:t>Epoch: </a:t>
            </a:r>
            <a:r>
              <a:rPr lang="ko-KR" altLang="en-US" sz="1500" dirty="0">
                <a:latin typeface="+mn-ea"/>
                <a:cs typeface="Times New Roman" panose="02020603050405020304" pitchFamily="18" charset="0"/>
              </a:rPr>
              <a:t>모든 데이터셋을 학습 하는 횟수 </a:t>
            </a:r>
            <a:r>
              <a:rPr lang="en-US" altLang="ko-KR" sz="1500" dirty="0">
                <a:latin typeface="+mn-ea"/>
                <a:cs typeface="Times New Roman" panose="02020603050405020304" pitchFamily="18" charset="0"/>
              </a:rPr>
              <a:t>(</a:t>
            </a:r>
            <a:r>
              <a:rPr lang="ko-KR" altLang="en-US" sz="1500" dirty="0">
                <a:latin typeface="+mn-ea"/>
                <a:cs typeface="Times New Roman" panose="02020603050405020304" pitchFamily="18" charset="0"/>
              </a:rPr>
              <a:t>문제집을 </a:t>
            </a:r>
            <a:r>
              <a:rPr lang="ko-KR" altLang="en-US" sz="1500" dirty="0" err="1">
                <a:latin typeface="+mn-ea"/>
                <a:cs typeface="Times New Roman" panose="02020603050405020304" pitchFamily="18" charset="0"/>
              </a:rPr>
              <a:t>몇회독</a:t>
            </a:r>
            <a:r>
              <a:rPr lang="ko-KR" altLang="en-US" sz="1500" dirty="0">
                <a:latin typeface="+mn-ea"/>
                <a:cs typeface="Times New Roman" panose="02020603050405020304" pitchFamily="18" charset="0"/>
              </a:rPr>
              <a:t> 할 것이냐</a:t>
            </a:r>
            <a:r>
              <a:rPr lang="en-US" altLang="ko-KR" sz="1500" dirty="0">
                <a:latin typeface="+mn-ea"/>
                <a:cs typeface="Times New Roman" panose="02020603050405020304" pitchFamily="18" charset="0"/>
              </a:rPr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500" dirty="0">
                <a:latin typeface="+mn-ea"/>
                <a:cs typeface="Times New Roman" panose="02020603050405020304" pitchFamily="18" charset="0"/>
              </a:rPr>
              <a:t>Iteration: 1-epoch</a:t>
            </a:r>
            <a:r>
              <a:rPr lang="ko-KR" altLang="en-US" sz="1500" dirty="0">
                <a:latin typeface="+mn-ea"/>
                <a:cs typeface="Times New Roman" panose="02020603050405020304" pitchFamily="18" charset="0"/>
              </a:rPr>
              <a:t>를 마치는데 필요한 미니배치의 수 </a:t>
            </a:r>
            <a:r>
              <a:rPr lang="en-US" altLang="ko-KR" sz="1500" dirty="0">
                <a:latin typeface="+mn-ea"/>
                <a:cs typeface="Times New Roman" panose="02020603050405020304" pitchFamily="18" charset="0"/>
              </a:rPr>
              <a:t>(=Epoch/Batch size)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500" dirty="0">
                <a:latin typeface="+mn-ea"/>
                <a:cs typeface="Times New Roman" panose="02020603050405020304" pitchFamily="18" charset="0"/>
              </a:rPr>
              <a:t>Learning rate: </a:t>
            </a:r>
            <a:r>
              <a:rPr lang="ko-KR" altLang="en-US" sz="1500" dirty="0">
                <a:latin typeface="+mn-ea"/>
                <a:cs typeface="Times New Roman" panose="02020603050405020304" pitchFamily="18" charset="0"/>
              </a:rPr>
              <a:t>학습 시 가중치를 얼마나 크게 조정할 지 결정하는 파라미터</a:t>
            </a:r>
            <a:r>
              <a:rPr lang="en-US" altLang="ko-KR" sz="1500" dirty="0">
                <a:latin typeface="+mn-ea"/>
                <a:cs typeface="Times New Roman" panose="02020603050405020304" pitchFamily="18" charset="0"/>
              </a:rPr>
              <a:t>. </a:t>
            </a:r>
            <a:r>
              <a:rPr lang="ko-KR" altLang="en-US" sz="1500" dirty="0">
                <a:latin typeface="+mn-ea"/>
                <a:cs typeface="Times New Roman" panose="02020603050405020304" pitchFamily="18" charset="0"/>
              </a:rPr>
              <a:t>주로 </a:t>
            </a:r>
            <a:r>
              <a:rPr lang="en-US" altLang="ko-KR" sz="1500" dirty="0">
                <a:latin typeface="+mn-ea"/>
                <a:cs typeface="Times New Roman" panose="02020603050405020304" pitchFamily="18" charset="0"/>
              </a:rPr>
              <a:t>0.01</a:t>
            </a:r>
            <a:r>
              <a:rPr lang="ko-KR" altLang="en-US" sz="1500" dirty="0">
                <a:latin typeface="+mn-ea"/>
                <a:cs typeface="Times New Roman" panose="02020603050405020304" pitchFamily="18" charset="0"/>
              </a:rPr>
              <a:t>에서 시작해서 위아래로 튜닝</a:t>
            </a:r>
            <a:endParaRPr lang="en-US" altLang="ko-KR" sz="1500" dirty="0">
              <a:latin typeface="+mn-ea"/>
              <a:cs typeface="Times New Roman" panose="02020603050405020304" pitchFamily="18" charset="0"/>
            </a:endParaRP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ko-KR" altLang="en-US" sz="1500" dirty="0" err="1">
                <a:latin typeface="+mn-ea"/>
                <a:cs typeface="Times New Roman" panose="02020603050405020304" pitchFamily="18" charset="0"/>
              </a:rPr>
              <a:t>학습률이</a:t>
            </a:r>
            <a:r>
              <a:rPr lang="ko-KR" altLang="en-US" sz="1500" dirty="0">
                <a:latin typeface="+mn-ea"/>
                <a:cs typeface="Times New Roman" panose="02020603050405020304" pitchFamily="18" charset="0"/>
              </a:rPr>
              <a:t> 너무 클 때</a:t>
            </a:r>
            <a:r>
              <a:rPr lang="en-US" altLang="ko-KR" sz="1500" dirty="0">
                <a:latin typeface="+mn-ea"/>
                <a:cs typeface="Times New Roman" panose="02020603050405020304" pitchFamily="18" charset="0"/>
              </a:rPr>
              <a:t>: Overshooting </a:t>
            </a:r>
            <a:r>
              <a:rPr lang="ko-KR" altLang="en-US" sz="1500" dirty="0">
                <a:latin typeface="+mn-ea"/>
                <a:cs typeface="Times New Roman" panose="02020603050405020304" pitchFamily="18" charset="0"/>
              </a:rPr>
              <a:t>발생 </a:t>
            </a:r>
            <a:r>
              <a:rPr lang="en-US" altLang="ko-KR" sz="1500" dirty="0">
                <a:latin typeface="+mn-ea"/>
                <a:cs typeface="Times New Roman" panose="02020603050405020304" pitchFamily="18" charset="0"/>
                <a:sym typeface="Wingdings" panose="05000000000000000000" pitchFamily="2" charset="2"/>
              </a:rPr>
              <a:t> </a:t>
            </a:r>
            <a:r>
              <a:rPr lang="ko-KR" altLang="en-US" sz="1500" dirty="0">
                <a:latin typeface="+mn-ea"/>
                <a:cs typeface="Times New Roman" panose="02020603050405020304" pitchFamily="18" charset="0"/>
                <a:sym typeface="Wingdings" panose="05000000000000000000" pitchFamily="2" charset="2"/>
              </a:rPr>
              <a:t>수렴 </a:t>
            </a:r>
            <a:r>
              <a:rPr lang="en-US" altLang="ko-KR" sz="1500" dirty="0">
                <a:latin typeface="+mn-ea"/>
                <a:cs typeface="Times New Roman" panose="02020603050405020304" pitchFamily="18" charset="0"/>
                <a:sym typeface="Wingdings" panose="05000000000000000000" pitchFamily="2" charset="2"/>
              </a:rPr>
              <a:t>X</a:t>
            </a:r>
            <a:endParaRPr lang="en-US" altLang="ko-KR" sz="1500" dirty="0">
              <a:latin typeface="+mn-ea"/>
              <a:cs typeface="Times New Roman" panose="02020603050405020304" pitchFamily="18" charset="0"/>
            </a:endParaRP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ko-KR" altLang="en-US" sz="1500" dirty="0" err="1">
                <a:latin typeface="+mn-ea"/>
                <a:cs typeface="Times New Roman" panose="02020603050405020304" pitchFamily="18" charset="0"/>
              </a:rPr>
              <a:t>학습률이</a:t>
            </a:r>
            <a:r>
              <a:rPr lang="ko-KR" altLang="en-US" sz="1500" dirty="0">
                <a:latin typeface="+mn-ea"/>
                <a:cs typeface="Times New Roman" panose="02020603050405020304" pitchFamily="18" charset="0"/>
              </a:rPr>
              <a:t> 너무 작을 때</a:t>
            </a:r>
            <a:r>
              <a:rPr lang="en-US" altLang="ko-KR" sz="1500" dirty="0">
                <a:latin typeface="+mn-ea"/>
                <a:cs typeface="Times New Roman" panose="02020603050405020304" pitchFamily="18" charset="0"/>
              </a:rPr>
              <a:t>: </a:t>
            </a:r>
            <a:r>
              <a:rPr lang="ko-KR" altLang="en-US" sz="1500" dirty="0">
                <a:latin typeface="+mn-ea"/>
                <a:cs typeface="Times New Roman" panose="02020603050405020304" pitchFamily="18" charset="0"/>
              </a:rPr>
              <a:t>수렴하는데 시간이 오래 걸리며</a:t>
            </a:r>
            <a:r>
              <a:rPr lang="en-US" altLang="ko-KR" sz="1500" dirty="0">
                <a:latin typeface="+mn-ea"/>
                <a:cs typeface="Times New Roman" panose="02020603050405020304" pitchFamily="18" charset="0"/>
              </a:rPr>
              <a:t>, local minima</a:t>
            </a:r>
            <a:r>
              <a:rPr lang="ko-KR" altLang="en-US" sz="1500" dirty="0">
                <a:latin typeface="+mn-ea"/>
                <a:cs typeface="Times New Roman" panose="02020603050405020304" pitchFamily="18" charset="0"/>
              </a:rPr>
              <a:t>에 빠질 수 있음</a:t>
            </a:r>
            <a:r>
              <a:rPr lang="en-US" altLang="ko-KR" sz="1500" dirty="0">
                <a:latin typeface="+mn-ea"/>
                <a:cs typeface="Times New Roman" panose="02020603050405020304" pitchFamily="18" charset="0"/>
              </a:rPr>
              <a:t>.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ko-KR" altLang="en-US" sz="1500" dirty="0">
                <a:latin typeface="+mn-ea"/>
                <a:cs typeface="Times New Roman" panose="02020603050405020304" pitchFamily="18" charset="0"/>
              </a:rPr>
              <a:t>고정 </a:t>
            </a:r>
            <a:r>
              <a:rPr lang="ko-KR" altLang="en-US" sz="1500" dirty="0" err="1">
                <a:latin typeface="+mn-ea"/>
                <a:cs typeface="Times New Roman" panose="02020603050405020304" pitchFamily="18" charset="0"/>
              </a:rPr>
              <a:t>학습률</a:t>
            </a:r>
            <a:r>
              <a:rPr lang="ko-KR" altLang="en-US" sz="1500" dirty="0">
                <a:latin typeface="+mn-ea"/>
                <a:cs typeface="Times New Roman" panose="02020603050405020304" pitchFamily="18" charset="0"/>
              </a:rPr>
              <a:t> </a:t>
            </a:r>
            <a:r>
              <a:rPr lang="en-US" altLang="ko-KR" sz="1500" dirty="0">
                <a:latin typeface="+mn-ea"/>
                <a:cs typeface="Times New Roman" panose="02020603050405020304" pitchFamily="18" charset="0"/>
              </a:rPr>
              <a:t>/ Learning rate decay / Adaptive learning rate / Warm-up </a:t>
            </a:r>
            <a:r>
              <a:rPr lang="ko-KR" altLang="en-US" sz="1500" dirty="0">
                <a:latin typeface="+mn-ea"/>
                <a:cs typeface="Times New Roman" panose="02020603050405020304" pitchFamily="18" charset="0"/>
              </a:rPr>
              <a:t>및 </a:t>
            </a:r>
            <a:r>
              <a:rPr lang="en-US" altLang="ko-KR" sz="1500" dirty="0">
                <a:latin typeface="+mn-ea"/>
                <a:cs typeface="Times New Roman" panose="02020603050405020304" pitchFamily="18" charset="0"/>
              </a:rPr>
              <a:t>cool-down </a:t>
            </a:r>
            <a:r>
              <a:rPr lang="ko-KR" altLang="en-US" sz="1500" dirty="0">
                <a:latin typeface="+mn-ea"/>
                <a:cs typeface="Times New Roman" panose="02020603050405020304" pitchFamily="18" charset="0"/>
              </a:rPr>
              <a:t>기법</a:t>
            </a:r>
            <a:endParaRPr lang="en-US" altLang="ko-KR" sz="1500" dirty="0">
              <a:latin typeface="+mn-ea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500" dirty="0">
                <a:latin typeface="+mn-ea"/>
                <a:cs typeface="Times New Roman" panose="02020603050405020304" pitchFamily="18" charset="0"/>
              </a:rPr>
              <a:t>Dropout: Training </a:t>
            </a:r>
            <a:r>
              <a:rPr lang="ko-KR" altLang="en-US" sz="1500" dirty="0">
                <a:latin typeface="+mn-ea"/>
                <a:cs typeface="Times New Roman" panose="02020603050405020304" pitchFamily="18" charset="0"/>
              </a:rPr>
              <a:t>데이터에 너무 익숙하지 않도록 몇몇 노드를 학습에서 제외시키기 위함</a:t>
            </a:r>
            <a:endParaRPr lang="en-US" altLang="ko-KR" sz="1500" dirty="0">
              <a:latin typeface="+mn-ea"/>
              <a:cs typeface="Times New Roman" panose="02020603050405020304" pitchFamily="18" charset="0"/>
            </a:endParaRPr>
          </a:p>
          <a:p>
            <a:pPr lvl="1"/>
            <a:endParaRPr lang="en-US" altLang="ko-KR" sz="1500" dirty="0">
              <a:latin typeface="+mn-ea"/>
              <a:cs typeface="Times New Roman" panose="02020603050405020304" pitchFamily="18" charset="0"/>
            </a:endParaRPr>
          </a:p>
        </p:txBody>
      </p:sp>
      <p:pic>
        <p:nvPicPr>
          <p:cNvPr id="8" name="Picture 2" descr="https://blog.kakaocdn.net/dna/m6NoZ/btsEHFRrBMP/AAAAAAAAAAAAAAAAAAAAAHuy89ekyEQDEOongF1IVgchq75Ln-HCN_4FVpCQDHOe/img.png?credential=yqXZFxpELC7KVnFOS48ylbz2pIh7yKj8&amp;expires=1769871599&amp;allow_ip=&amp;allow_referer=&amp;signature=SJ2VvdLk3aMTvbJ9RkzxHbrpovo%3D">
            <a:extLst>
              <a:ext uri="{FF2B5EF4-FFF2-40B4-BE49-F238E27FC236}">
                <a16:creationId xmlns:a16="http://schemas.microsoft.com/office/drawing/2014/main" id="{B4D4C914-3651-461F-8F79-E17E18599F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76468" y="2959100"/>
            <a:ext cx="5673016" cy="31415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659135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EC60EAAC-3DBC-45E9-AB04-4681F0F33284}"/>
              </a:ext>
            </a:extLst>
          </p:cNvPr>
          <p:cNvSpPr/>
          <p:nvPr/>
        </p:nvSpPr>
        <p:spPr>
          <a:xfrm>
            <a:off x="0" y="0"/>
            <a:ext cx="10147330" cy="61863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b="1" dirty="0">
                <a:latin typeface="+mn-ea"/>
                <a:cs typeface="Times New Roman" panose="02020603050405020304" pitchFamily="18" charset="0"/>
              </a:rPr>
              <a:t>(2) Optimizers and learning rate I</a:t>
            </a:r>
          </a:p>
          <a:p>
            <a:endParaRPr lang="en-US" altLang="ko-KR" b="1" dirty="0">
              <a:latin typeface="+mn-ea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500" dirty="0">
                <a:latin typeface="+mn-ea"/>
                <a:cs typeface="Times New Roman" panose="02020603050405020304" pitchFamily="18" charset="0"/>
              </a:rPr>
              <a:t>Gradient Descent (GD) or Batch Gradient Descent (BGD)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ko-KR" altLang="en-US" sz="1500" dirty="0">
                <a:latin typeface="+mn-ea"/>
                <a:cs typeface="Times New Roman" panose="02020603050405020304" pitchFamily="18" charset="0"/>
              </a:rPr>
              <a:t>업데이트 시</a:t>
            </a:r>
            <a:r>
              <a:rPr lang="en-US" altLang="ko-KR" sz="1500" dirty="0">
                <a:latin typeface="+mn-ea"/>
                <a:cs typeface="Times New Roman" panose="02020603050405020304" pitchFamily="18" charset="0"/>
              </a:rPr>
              <a:t>,</a:t>
            </a:r>
            <a:r>
              <a:rPr lang="ko-KR" altLang="en-US" sz="1500" dirty="0">
                <a:latin typeface="+mn-ea"/>
                <a:cs typeface="Times New Roman" panose="02020603050405020304" pitchFamily="18" charset="0"/>
              </a:rPr>
              <a:t> 모든 데이터를 활용해 경사 하강을 진행</a:t>
            </a:r>
            <a:endParaRPr lang="en-US" altLang="ko-KR" sz="1500" dirty="0">
              <a:latin typeface="+mn-ea"/>
              <a:cs typeface="Times New Roman" panose="02020603050405020304" pitchFamily="18" charset="0"/>
            </a:endParaRP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altLang="ko-KR" sz="1500" dirty="0">
                <a:latin typeface="+mn-ea"/>
                <a:cs typeface="Times New Roman" panose="02020603050405020304" pitchFamily="18" charset="0"/>
              </a:rPr>
              <a:t>(</a:t>
            </a:r>
            <a:r>
              <a:rPr lang="ko-KR" altLang="en-US" sz="1500" dirty="0">
                <a:latin typeface="+mn-ea"/>
                <a:cs typeface="Times New Roman" panose="02020603050405020304" pitchFamily="18" charset="0"/>
              </a:rPr>
              <a:t>장점</a:t>
            </a:r>
            <a:r>
              <a:rPr lang="en-US" altLang="ko-KR" sz="1500" dirty="0">
                <a:latin typeface="+mn-ea"/>
                <a:cs typeface="Times New Roman" panose="02020603050405020304" pitchFamily="18" charset="0"/>
              </a:rPr>
              <a:t>) </a:t>
            </a:r>
            <a:r>
              <a:rPr lang="ko-KR" altLang="en-US" sz="1500" dirty="0">
                <a:latin typeface="+mn-ea"/>
                <a:cs typeface="Times New Roman" panose="02020603050405020304" pitchFamily="18" charset="0"/>
              </a:rPr>
              <a:t>직관적</a:t>
            </a:r>
            <a:r>
              <a:rPr lang="en-US" altLang="ko-KR" sz="1500" dirty="0">
                <a:latin typeface="+mn-ea"/>
                <a:cs typeface="Times New Roman" panose="02020603050405020304" pitchFamily="18" charset="0"/>
              </a:rPr>
              <a:t>, </a:t>
            </a:r>
            <a:r>
              <a:rPr lang="ko-KR" altLang="en-US" sz="1500" dirty="0">
                <a:latin typeface="+mn-ea"/>
                <a:cs typeface="Times New Roman" panose="02020603050405020304" pitchFamily="18" charset="0"/>
              </a:rPr>
              <a:t>간단</a:t>
            </a:r>
            <a:r>
              <a:rPr lang="en-US" altLang="ko-KR" sz="1500" dirty="0">
                <a:latin typeface="+mn-ea"/>
                <a:cs typeface="Times New Roman" panose="02020603050405020304" pitchFamily="18" charset="0"/>
              </a:rPr>
              <a:t>, </a:t>
            </a:r>
            <a:r>
              <a:rPr lang="ko-KR" altLang="en-US" sz="1500" dirty="0">
                <a:latin typeface="+mn-ea"/>
                <a:cs typeface="Times New Roman" panose="02020603050405020304" pitchFamily="18" charset="0"/>
              </a:rPr>
              <a:t>정확한 기울기 계산</a:t>
            </a:r>
            <a:r>
              <a:rPr lang="en-US" altLang="ko-KR" sz="1500" dirty="0">
                <a:latin typeface="+mn-ea"/>
                <a:cs typeface="Times New Roman" panose="02020603050405020304" pitchFamily="18" charset="0"/>
              </a:rPr>
              <a:t>, </a:t>
            </a:r>
            <a:r>
              <a:rPr lang="ko-KR" altLang="en-US" sz="1500" dirty="0">
                <a:latin typeface="+mn-ea"/>
                <a:cs typeface="Times New Roman" panose="02020603050405020304" pitchFamily="18" charset="0"/>
              </a:rPr>
              <a:t>안정적 수렴</a:t>
            </a:r>
            <a:endParaRPr lang="en-US" altLang="ko-KR" sz="1500" dirty="0">
              <a:latin typeface="+mn-ea"/>
              <a:cs typeface="Times New Roman" panose="02020603050405020304" pitchFamily="18" charset="0"/>
            </a:endParaRP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altLang="ko-KR" sz="1500" dirty="0">
                <a:latin typeface="+mn-ea"/>
                <a:cs typeface="Times New Roman" panose="02020603050405020304" pitchFamily="18" charset="0"/>
              </a:rPr>
              <a:t>(</a:t>
            </a:r>
            <a:r>
              <a:rPr lang="ko-KR" altLang="en-US" sz="1500" dirty="0">
                <a:latin typeface="+mn-ea"/>
                <a:cs typeface="Times New Roman" panose="02020603050405020304" pitchFamily="18" charset="0"/>
              </a:rPr>
              <a:t>단점</a:t>
            </a:r>
            <a:r>
              <a:rPr lang="en-US" altLang="ko-KR" sz="1500" dirty="0">
                <a:latin typeface="+mn-ea"/>
                <a:cs typeface="Times New Roman" panose="02020603050405020304" pitchFamily="18" charset="0"/>
              </a:rPr>
              <a:t>) </a:t>
            </a:r>
            <a:r>
              <a:rPr lang="ko-KR" altLang="en-US" sz="1500" dirty="0">
                <a:latin typeface="+mn-ea"/>
                <a:cs typeface="Times New Roman" panose="02020603050405020304" pitchFamily="18" charset="0"/>
              </a:rPr>
              <a:t>계산 비용이 큼</a:t>
            </a:r>
            <a:r>
              <a:rPr lang="en-US" altLang="ko-KR" sz="1500" dirty="0">
                <a:latin typeface="+mn-ea"/>
                <a:cs typeface="Times New Roman" panose="02020603050405020304" pitchFamily="18" charset="0"/>
              </a:rPr>
              <a:t>, </a:t>
            </a:r>
            <a:r>
              <a:rPr lang="ko-KR" altLang="en-US" sz="1500" dirty="0">
                <a:latin typeface="+mn-ea"/>
                <a:cs typeface="Times New Roman" panose="02020603050405020304" pitchFamily="18" charset="0"/>
              </a:rPr>
              <a:t>느린 수렴</a:t>
            </a:r>
            <a:r>
              <a:rPr lang="en-US" altLang="ko-KR" sz="1500" dirty="0">
                <a:latin typeface="+mn-ea"/>
                <a:cs typeface="Times New Roman" panose="02020603050405020304" pitchFamily="18" charset="0"/>
              </a:rPr>
              <a:t>, local minima </a:t>
            </a:r>
            <a:r>
              <a:rPr lang="ko-KR" altLang="en-US" sz="1500" dirty="0">
                <a:latin typeface="+mn-ea"/>
                <a:cs typeface="Times New Roman" panose="02020603050405020304" pitchFamily="18" charset="0"/>
              </a:rPr>
              <a:t>문제</a:t>
            </a:r>
            <a:endParaRPr lang="en-US" altLang="ko-KR" sz="1500" dirty="0">
              <a:latin typeface="+mn-ea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500" dirty="0">
              <a:latin typeface="+mn-ea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500" dirty="0">
                <a:latin typeface="+mn-ea"/>
                <a:cs typeface="Times New Roman" panose="02020603050405020304" pitchFamily="18" charset="0"/>
              </a:rPr>
              <a:t>Stochastic Gradient Descent (SGD)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ko-KR" altLang="en-US" sz="1500" dirty="0">
                <a:latin typeface="+mn-ea"/>
                <a:cs typeface="Times New Roman" panose="02020603050405020304" pitchFamily="18" charset="0"/>
              </a:rPr>
              <a:t>업데이트 시</a:t>
            </a:r>
            <a:r>
              <a:rPr lang="en-US" altLang="ko-KR" sz="1500" dirty="0">
                <a:latin typeface="+mn-ea"/>
                <a:cs typeface="Times New Roman" panose="02020603050405020304" pitchFamily="18" charset="0"/>
              </a:rPr>
              <a:t>,</a:t>
            </a:r>
            <a:r>
              <a:rPr lang="ko-KR" altLang="en-US" sz="1500" dirty="0">
                <a:latin typeface="+mn-ea"/>
                <a:cs typeface="Times New Roman" panose="02020603050405020304" pitchFamily="18" charset="0"/>
              </a:rPr>
              <a:t> 데이터셋의 한 샘플만 사용</a:t>
            </a:r>
            <a:endParaRPr lang="en-US" altLang="ko-KR" sz="1500" dirty="0">
              <a:latin typeface="+mn-ea"/>
              <a:cs typeface="Times New Roman" panose="02020603050405020304" pitchFamily="18" charset="0"/>
            </a:endParaRP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altLang="ko-KR" sz="1500" dirty="0">
                <a:latin typeface="+mn-ea"/>
                <a:cs typeface="Times New Roman" panose="02020603050405020304" pitchFamily="18" charset="0"/>
              </a:rPr>
              <a:t>(</a:t>
            </a:r>
            <a:r>
              <a:rPr lang="ko-KR" altLang="en-US" sz="1500" dirty="0">
                <a:latin typeface="+mn-ea"/>
                <a:cs typeface="Times New Roman" panose="02020603050405020304" pitchFamily="18" charset="0"/>
              </a:rPr>
              <a:t>장점</a:t>
            </a:r>
            <a:r>
              <a:rPr lang="en-US" altLang="ko-KR" sz="1500" dirty="0">
                <a:latin typeface="+mn-ea"/>
                <a:cs typeface="Times New Roman" panose="02020603050405020304" pitchFamily="18" charset="0"/>
              </a:rPr>
              <a:t>) Light</a:t>
            </a:r>
            <a:r>
              <a:rPr lang="ko-KR" altLang="en-US" sz="1500" dirty="0">
                <a:latin typeface="+mn-ea"/>
                <a:cs typeface="Times New Roman" panose="02020603050405020304" pitchFamily="18" charset="0"/>
              </a:rPr>
              <a:t>한 계산</a:t>
            </a:r>
            <a:r>
              <a:rPr lang="en-US" altLang="ko-KR" sz="1500" dirty="0">
                <a:latin typeface="+mn-ea"/>
                <a:cs typeface="Times New Roman" panose="02020603050405020304" pitchFamily="18" charset="0"/>
              </a:rPr>
              <a:t>, </a:t>
            </a:r>
            <a:r>
              <a:rPr lang="ko-KR" altLang="en-US" sz="1500" dirty="0">
                <a:latin typeface="+mn-ea"/>
                <a:cs typeface="Times New Roman" panose="02020603050405020304" pitchFamily="18" charset="0"/>
              </a:rPr>
              <a:t>저장 효율성</a:t>
            </a:r>
            <a:r>
              <a:rPr lang="en-US" altLang="ko-KR" sz="1500" dirty="0">
                <a:latin typeface="+mn-ea"/>
                <a:cs typeface="Times New Roman" panose="02020603050405020304" pitchFamily="18" charset="0"/>
              </a:rPr>
              <a:t>, local minima </a:t>
            </a:r>
            <a:r>
              <a:rPr lang="ko-KR" altLang="en-US" sz="1500" dirty="0">
                <a:latin typeface="+mn-ea"/>
                <a:cs typeface="Times New Roman" panose="02020603050405020304" pitchFamily="18" charset="0"/>
              </a:rPr>
              <a:t>에 빠질 시 탈출 가능성 </a:t>
            </a:r>
            <a:r>
              <a:rPr lang="en-US" altLang="ko-KR" sz="1500" dirty="0">
                <a:latin typeface="+mn-ea"/>
                <a:cs typeface="Times New Roman" panose="02020603050405020304" pitchFamily="18" charset="0"/>
              </a:rPr>
              <a:t>up (</a:t>
            </a:r>
            <a:r>
              <a:rPr lang="ko-KR" altLang="en-US" sz="1500" dirty="0">
                <a:latin typeface="+mn-ea"/>
                <a:cs typeface="Times New Roman" panose="02020603050405020304" pitchFamily="18" charset="0"/>
              </a:rPr>
              <a:t>더 튀니까</a:t>
            </a:r>
            <a:r>
              <a:rPr lang="en-US" altLang="ko-KR" sz="1500" dirty="0">
                <a:latin typeface="+mn-ea"/>
                <a:cs typeface="Times New Roman" panose="02020603050405020304" pitchFamily="18" charset="0"/>
              </a:rPr>
              <a:t>)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altLang="ko-KR" sz="1500" dirty="0">
                <a:latin typeface="+mn-ea"/>
                <a:cs typeface="Times New Roman" panose="02020603050405020304" pitchFamily="18" charset="0"/>
              </a:rPr>
              <a:t>(</a:t>
            </a:r>
            <a:r>
              <a:rPr lang="ko-KR" altLang="en-US" sz="1500" dirty="0">
                <a:latin typeface="+mn-ea"/>
                <a:cs typeface="Times New Roman" panose="02020603050405020304" pitchFamily="18" charset="0"/>
              </a:rPr>
              <a:t>단점</a:t>
            </a:r>
            <a:r>
              <a:rPr lang="en-US" altLang="ko-KR" sz="1500" dirty="0">
                <a:latin typeface="+mn-ea"/>
                <a:cs typeface="Times New Roman" panose="02020603050405020304" pitchFamily="18" charset="0"/>
              </a:rPr>
              <a:t>) </a:t>
            </a:r>
            <a:r>
              <a:rPr lang="ko-KR" altLang="en-US" sz="1500" dirty="0">
                <a:latin typeface="+mn-ea"/>
                <a:cs typeface="Times New Roman" panose="02020603050405020304" pitchFamily="18" charset="0"/>
              </a:rPr>
              <a:t>기울기 불안정성</a:t>
            </a:r>
            <a:r>
              <a:rPr lang="en-US" altLang="ko-KR" sz="1500" dirty="0">
                <a:latin typeface="+mn-ea"/>
                <a:cs typeface="Times New Roman" panose="02020603050405020304" pitchFamily="18" charset="0"/>
              </a:rPr>
              <a:t>, </a:t>
            </a:r>
            <a:r>
              <a:rPr lang="ko-KR" altLang="en-US" sz="1500" dirty="0">
                <a:latin typeface="+mn-ea"/>
                <a:cs typeface="Times New Roman" panose="02020603050405020304" pitchFamily="18" charset="0"/>
              </a:rPr>
              <a:t>수렴 속도 불안정</a:t>
            </a:r>
            <a:r>
              <a:rPr lang="en-US" altLang="ko-KR" sz="1500" dirty="0">
                <a:latin typeface="+mn-ea"/>
                <a:cs typeface="Times New Roman" panose="02020603050405020304" pitchFamily="18" charset="0"/>
              </a:rPr>
              <a:t>, </a:t>
            </a:r>
            <a:r>
              <a:rPr lang="ko-KR" altLang="en-US" sz="1500" dirty="0" err="1">
                <a:latin typeface="+mn-ea"/>
                <a:cs typeface="Times New Roman" panose="02020603050405020304" pitchFamily="18" charset="0"/>
              </a:rPr>
              <a:t>학습률</a:t>
            </a:r>
            <a:r>
              <a:rPr lang="ko-KR" altLang="en-US" sz="1500" dirty="0">
                <a:latin typeface="+mn-ea"/>
                <a:cs typeface="Times New Roman" panose="02020603050405020304" pitchFamily="18" charset="0"/>
              </a:rPr>
              <a:t> 조절 필요</a:t>
            </a:r>
            <a:endParaRPr lang="en-US" altLang="ko-KR" sz="1500" dirty="0">
              <a:latin typeface="+mn-ea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500" dirty="0">
              <a:latin typeface="+mn-ea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500" dirty="0">
                <a:latin typeface="+mn-ea"/>
                <a:cs typeface="Times New Roman" panose="02020603050405020304" pitchFamily="18" charset="0"/>
              </a:rPr>
              <a:t>Mini-batch Gradient Descent (MGD) or Mini-Batch Stochastic Gradient Descent (MSGD)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ko-KR" altLang="en-US" sz="1500" dirty="0">
                <a:latin typeface="+mn-ea"/>
                <a:cs typeface="Times New Roman" panose="02020603050405020304" pitchFamily="18" charset="0"/>
              </a:rPr>
              <a:t>업데이트 시</a:t>
            </a:r>
            <a:r>
              <a:rPr lang="en-US" altLang="ko-KR" sz="1500" dirty="0">
                <a:latin typeface="+mn-ea"/>
                <a:cs typeface="Times New Roman" panose="02020603050405020304" pitchFamily="18" charset="0"/>
              </a:rPr>
              <a:t>, </a:t>
            </a:r>
            <a:r>
              <a:rPr lang="ko-KR" altLang="en-US" sz="1500" dirty="0">
                <a:latin typeface="+mn-ea"/>
                <a:cs typeface="Times New Roman" panose="02020603050405020304" pitchFamily="18" charset="0"/>
              </a:rPr>
              <a:t>전체 데이터</a:t>
            </a:r>
            <a:r>
              <a:rPr lang="en-US" altLang="ko-KR" sz="1500" dirty="0">
                <a:latin typeface="+mn-ea"/>
                <a:cs typeface="Times New Roman" panose="02020603050405020304" pitchFamily="18" charset="0"/>
              </a:rPr>
              <a:t>(Batch)</a:t>
            </a:r>
            <a:r>
              <a:rPr lang="ko-KR" altLang="en-US" sz="1500" dirty="0">
                <a:latin typeface="+mn-ea"/>
                <a:cs typeface="Times New Roman" panose="02020603050405020304" pitchFamily="18" charset="0"/>
              </a:rPr>
              <a:t>가 아닌 미니 배치를 활용</a:t>
            </a:r>
            <a:endParaRPr lang="en-US" altLang="ko-KR" sz="1500" dirty="0">
              <a:latin typeface="+mn-ea"/>
              <a:cs typeface="Times New Roman" panose="02020603050405020304" pitchFamily="18" charset="0"/>
            </a:endParaRP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altLang="ko-KR" sz="1500" dirty="0">
                <a:latin typeface="+mn-ea"/>
                <a:cs typeface="Times New Roman" panose="02020603050405020304" pitchFamily="18" charset="0"/>
              </a:rPr>
              <a:t>(</a:t>
            </a:r>
            <a:r>
              <a:rPr lang="ko-KR" altLang="en-US" sz="1500" dirty="0">
                <a:latin typeface="+mn-ea"/>
                <a:cs typeface="Times New Roman" panose="02020603050405020304" pitchFamily="18" charset="0"/>
              </a:rPr>
              <a:t>장점</a:t>
            </a:r>
            <a:r>
              <a:rPr lang="en-US" altLang="ko-KR" sz="1500" dirty="0">
                <a:latin typeface="+mn-ea"/>
                <a:cs typeface="Times New Roman" panose="02020603050405020304" pitchFamily="18" charset="0"/>
              </a:rPr>
              <a:t>) GD</a:t>
            </a:r>
            <a:r>
              <a:rPr lang="ko-KR" altLang="en-US" sz="1500" dirty="0">
                <a:latin typeface="+mn-ea"/>
                <a:cs typeface="Times New Roman" panose="02020603050405020304" pitchFamily="18" charset="0"/>
              </a:rPr>
              <a:t>보다 빠르고 </a:t>
            </a:r>
            <a:r>
              <a:rPr lang="en-US" altLang="ko-KR" sz="1500" dirty="0">
                <a:latin typeface="+mn-ea"/>
                <a:cs typeface="Times New Roman" panose="02020603050405020304" pitchFamily="18" charset="0"/>
              </a:rPr>
              <a:t>SGD</a:t>
            </a:r>
            <a:r>
              <a:rPr lang="ko-KR" altLang="en-US" sz="1500" dirty="0">
                <a:latin typeface="+mn-ea"/>
                <a:cs typeface="Times New Roman" panose="02020603050405020304" pitchFamily="18" charset="0"/>
              </a:rPr>
              <a:t>보다 안정적</a:t>
            </a:r>
            <a:r>
              <a:rPr lang="en-US" altLang="ko-KR" sz="1500" dirty="0">
                <a:latin typeface="+mn-ea"/>
                <a:cs typeface="Times New Roman" panose="02020603050405020304" pitchFamily="18" charset="0"/>
              </a:rPr>
              <a:t>, GPU </a:t>
            </a:r>
            <a:r>
              <a:rPr lang="ko-KR" altLang="en-US" sz="1500" dirty="0">
                <a:latin typeface="+mn-ea"/>
                <a:cs typeface="Times New Roman" panose="02020603050405020304" pitchFamily="18" charset="0"/>
              </a:rPr>
              <a:t>등의 병렬 연산이 가능</a:t>
            </a:r>
            <a:endParaRPr lang="en-US" altLang="ko-KR" sz="1500" dirty="0">
              <a:latin typeface="+mn-ea"/>
              <a:cs typeface="Times New Roman" panose="02020603050405020304" pitchFamily="18" charset="0"/>
            </a:endParaRP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altLang="ko-KR" sz="1500" dirty="0">
                <a:latin typeface="+mn-ea"/>
                <a:cs typeface="Times New Roman" panose="02020603050405020304" pitchFamily="18" charset="0"/>
              </a:rPr>
              <a:t>(</a:t>
            </a:r>
            <a:r>
              <a:rPr lang="ko-KR" altLang="en-US" sz="1500" dirty="0">
                <a:latin typeface="+mn-ea"/>
                <a:cs typeface="Times New Roman" panose="02020603050405020304" pitchFamily="18" charset="0"/>
              </a:rPr>
              <a:t>단점</a:t>
            </a:r>
            <a:r>
              <a:rPr lang="en-US" altLang="ko-KR" sz="1500" dirty="0">
                <a:latin typeface="+mn-ea"/>
                <a:cs typeface="Times New Roman" panose="02020603050405020304" pitchFamily="18" charset="0"/>
              </a:rPr>
              <a:t>) </a:t>
            </a:r>
            <a:r>
              <a:rPr lang="ko-KR" altLang="en-US" sz="1500" dirty="0">
                <a:latin typeface="+mn-ea"/>
                <a:cs typeface="Times New Roman" panose="02020603050405020304" pitchFamily="18" charset="0"/>
              </a:rPr>
              <a:t>여전히 </a:t>
            </a:r>
            <a:r>
              <a:rPr lang="en-US" altLang="ko-KR" sz="1500" dirty="0">
                <a:latin typeface="+mn-ea"/>
                <a:cs typeface="Times New Roman" panose="02020603050405020304" pitchFamily="18" charset="0"/>
              </a:rPr>
              <a:t>local minima</a:t>
            </a:r>
            <a:r>
              <a:rPr lang="ko-KR" altLang="en-US" sz="1500" dirty="0">
                <a:latin typeface="+mn-ea"/>
                <a:cs typeface="Times New Roman" panose="02020603050405020304" pitchFamily="18" charset="0"/>
              </a:rPr>
              <a:t>에 빠질 수 있음</a:t>
            </a:r>
            <a:r>
              <a:rPr lang="en-US" altLang="ko-KR" sz="1500" dirty="0">
                <a:latin typeface="+mn-ea"/>
                <a:cs typeface="Times New Roman" panose="02020603050405020304" pitchFamily="18" charset="0"/>
              </a:rPr>
              <a:t>, </a:t>
            </a:r>
            <a:r>
              <a:rPr lang="ko-KR" altLang="en-US" sz="1500" dirty="0">
                <a:latin typeface="+mn-ea"/>
                <a:cs typeface="Times New Roman" panose="02020603050405020304" pitchFamily="18" charset="0"/>
              </a:rPr>
              <a:t>미니 배치 크기 튜닝 필요</a:t>
            </a:r>
            <a:endParaRPr lang="en-US" altLang="ko-KR" sz="1500" dirty="0">
              <a:latin typeface="+mn-ea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500" dirty="0">
              <a:latin typeface="+mn-ea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500" dirty="0">
                <a:latin typeface="+mn-ea"/>
                <a:cs typeface="Times New Roman" panose="02020603050405020304" pitchFamily="18" charset="0"/>
              </a:rPr>
              <a:t>Momentum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altLang="ko-KR" sz="1500" dirty="0">
                <a:latin typeface="+mn-ea"/>
                <a:cs typeface="Times New Roman" panose="02020603050405020304" pitchFamily="18" charset="0"/>
              </a:rPr>
              <a:t>SGD</a:t>
            </a:r>
            <a:r>
              <a:rPr lang="ko-KR" altLang="en-US" sz="1500" dirty="0">
                <a:latin typeface="+mn-ea"/>
                <a:cs typeface="Times New Roman" panose="02020603050405020304" pitchFamily="18" charset="0"/>
              </a:rPr>
              <a:t>에 관성의 개념을 도입하여</a:t>
            </a:r>
            <a:r>
              <a:rPr lang="en-US" altLang="ko-KR" sz="1500" dirty="0">
                <a:latin typeface="+mn-ea"/>
                <a:cs typeface="Times New Roman" panose="02020603050405020304" pitchFamily="18" charset="0"/>
              </a:rPr>
              <a:t>, </a:t>
            </a:r>
            <a:r>
              <a:rPr lang="ko-KR" altLang="en-US" sz="1500" dirty="0">
                <a:latin typeface="+mn-ea"/>
                <a:cs typeface="Times New Roman" panose="02020603050405020304" pitchFamily="18" charset="0"/>
              </a:rPr>
              <a:t>이전 업데이트 방향과 현재 위치의 기울기를 병합하여 가중치 </a:t>
            </a:r>
            <a:r>
              <a:rPr lang="en-US" altLang="ko-KR" sz="1500" dirty="0">
                <a:latin typeface="+mn-ea"/>
                <a:cs typeface="Times New Roman" panose="02020603050405020304" pitchFamily="18" charset="0"/>
              </a:rPr>
              <a:t>set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altLang="ko-KR" sz="1500" dirty="0">
                <a:latin typeface="+mn-ea"/>
                <a:cs typeface="Times New Roman" panose="02020603050405020304" pitchFamily="18" charset="0"/>
              </a:rPr>
              <a:t>(</a:t>
            </a:r>
            <a:r>
              <a:rPr lang="ko-KR" altLang="en-US" sz="1500" dirty="0">
                <a:latin typeface="+mn-ea"/>
                <a:cs typeface="Times New Roman" panose="02020603050405020304" pitchFamily="18" charset="0"/>
              </a:rPr>
              <a:t>장점</a:t>
            </a:r>
            <a:r>
              <a:rPr lang="en-US" altLang="ko-KR" sz="1500" dirty="0">
                <a:latin typeface="+mn-ea"/>
                <a:cs typeface="Times New Roman" panose="02020603050405020304" pitchFamily="18" charset="0"/>
              </a:rPr>
              <a:t>) </a:t>
            </a:r>
            <a:r>
              <a:rPr lang="ko-KR" altLang="en-US" sz="1500" dirty="0">
                <a:latin typeface="+mn-ea"/>
                <a:cs typeface="Times New Roman" panose="02020603050405020304" pitchFamily="18" charset="0"/>
              </a:rPr>
              <a:t>빠른 수렴</a:t>
            </a:r>
            <a:r>
              <a:rPr lang="en-US" altLang="ko-KR" sz="1500" dirty="0">
                <a:latin typeface="+mn-ea"/>
                <a:cs typeface="Times New Roman" panose="02020603050405020304" pitchFamily="18" charset="0"/>
              </a:rPr>
              <a:t>, </a:t>
            </a:r>
            <a:r>
              <a:rPr lang="ko-KR" altLang="en-US" sz="1500" dirty="0">
                <a:latin typeface="+mn-ea"/>
                <a:cs typeface="Times New Roman" panose="02020603050405020304" pitchFamily="18" charset="0"/>
              </a:rPr>
              <a:t>진동 감소</a:t>
            </a:r>
            <a:r>
              <a:rPr lang="en-US" altLang="ko-KR" sz="1500" dirty="0">
                <a:latin typeface="+mn-ea"/>
                <a:cs typeface="Times New Roman" panose="02020603050405020304" pitchFamily="18" charset="0"/>
              </a:rPr>
              <a:t>, </a:t>
            </a:r>
            <a:r>
              <a:rPr lang="ko-KR" altLang="en-US" sz="1500" dirty="0">
                <a:latin typeface="+mn-ea"/>
                <a:cs typeface="Times New Roman" panose="02020603050405020304" pitchFamily="18" charset="0"/>
              </a:rPr>
              <a:t>탐색 범위 확대</a:t>
            </a:r>
            <a:endParaRPr lang="en-US" altLang="ko-KR" sz="1500" dirty="0">
              <a:latin typeface="+mn-ea"/>
              <a:cs typeface="Times New Roman" panose="02020603050405020304" pitchFamily="18" charset="0"/>
            </a:endParaRP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altLang="ko-KR" sz="1500" dirty="0">
                <a:latin typeface="+mn-ea"/>
                <a:cs typeface="Times New Roman" panose="02020603050405020304" pitchFamily="18" charset="0"/>
              </a:rPr>
              <a:t>(</a:t>
            </a:r>
            <a:r>
              <a:rPr lang="ko-KR" altLang="en-US" sz="1500" dirty="0">
                <a:latin typeface="+mn-ea"/>
                <a:cs typeface="Times New Roman" panose="02020603050405020304" pitchFamily="18" charset="0"/>
              </a:rPr>
              <a:t>단점</a:t>
            </a:r>
            <a:r>
              <a:rPr lang="en-US" altLang="ko-KR" sz="1500" dirty="0">
                <a:latin typeface="+mn-ea"/>
                <a:cs typeface="Times New Roman" panose="02020603050405020304" pitchFamily="18" charset="0"/>
              </a:rPr>
              <a:t>) </a:t>
            </a:r>
            <a:r>
              <a:rPr lang="ko-KR" altLang="en-US" sz="1500" dirty="0">
                <a:latin typeface="+mn-ea"/>
                <a:cs typeface="Times New Roman" panose="02020603050405020304" pitchFamily="18" charset="0"/>
              </a:rPr>
              <a:t>모멘텀 비율 튜닝 작업 필요</a:t>
            </a:r>
            <a:r>
              <a:rPr lang="en-US" altLang="ko-KR" sz="1500" dirty="0">
                <a:latin typeface="+mn-ea"/>
                <a:cs typeface="Times New Roman" panose="02020603050405020304" pitchFamily="18" charset="0"/>
              </a:rPr>
              <a:t>, </a:t>
            </a:r>
            <a:r>
              <a:rPr lang="ko-KR" altLang="en-US" sz="1500" dirty="0">
                <a:latin typeface="+mn-ea"/>
                <a:cs typeface="Times New Roman" panose="02020603050405020304" pitchFamily="18" charset="0"/>
              </a:rPr>
              <a:t>이전의 정보에 대한 반영으로 최신 정보 </a:t>
            </a:r>
            <a:r>
              <a:rPr lang="en-US" altLang="ko-KR" sz="1500" dirty="0">
                <a:latin typeface="+mn-ea"/>
                <a:cs typeface="Times New Roman" panose="02020603050405020304" pitchFamily="18" charset="0"/>
              </a:rPr>
              <a:t>loss </a:t>
            </a:r>
            <a:r>
              <a:rPr lang="ko-KR" altLang="en-US" sz="1500" dirty="0">
                <a:latin typeface="+mn-ea"/>
                <a:cs typeface="Times New Roman" panose="02020603050405020304" pitchFamily="18" charset="0"/>
              </a:rPr>
              <a:t>발생 가능</a:t>
            </a:r>
            <a:r>
              <a:rPr lang="en-US" altLang="ko-KR" sz="1500" dirty="0">
                <a:latin typeface="+mn-ea"/>
                <a:cs typeface="Times New Roman" panose="02020603050405020304" pitchFamily="18" charset="0"/>
              </a:rPr>
              <a:t>, </a:t>
            </a:r>
            <a:r>
              <a:rPr lang="ko-KR" altLang="en-US" sz="1500" dirty="0">
                <a:latin typeface="+mn-ea"/>
                <a:cs typeface="Times New Roman" panose="02020603050405020304" pitchFamily="18" charset="0"/>
              </a:rPr>
              <a:t>메모리 소모 </a:t>
            </a:r>
            <a:r>
              <a:rPr lang="en-US" altLang="ko-KR" sz="1500" dirty="0">
                <a:latin typeface="+mn-ea"/>
                <a:cs typeface="Times New Roman" panose="02020603050405020304" pitchFamily="18" charset="0"/>
              </a:rPr>
              <a:t>up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500" dirty="0">
              <a:latin typeface="+mn-ea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500" dirty="0" err="1">
                <a:latin typeface="+mn-ea"/>
                <a:cs typeface="Times New Roman" panose="02020603050405020304" pitchFamily="18" charset="0"/>
              </a:rPr>
              <a:t>Nesterov</a:t>
            </a:r>
            <a:r>
              <a:rPr lang="en-US" altLang="ko-KR" sz="1500" dirty="0">
                <a:latin typeface="+mn-ea"/>
                <a:cs typeface="Times New Roman" panose="02020603050405020304" pitchFamily="18" charset="0"/>
              </a:rPr>
              <a:t> Accelerated Gradient (NAG)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altLang="ko-KR" sz="1500" dirty="0">
                <a:latin typeface="+mn-ea"/>
                <a:cs typeface="Times New Roman" panose="02020603050405020304" pitchFamily="18" charset="0"/>
              </a:rPr>
              <a:t>Momentum</a:t>
            </a:r>
            <a:r>
              <a:rPr lang="ko-KR" altLang="en-US" sz="1500" dirty="0">
                <a:latin typeface="+mn-ea"/>
                <a:cs typeface="Times New Roman" panose="02020603050405020304" pitchFamily="18" charset="0"/>
              </a:rPr>
              <a:t>의 변형으로</a:t>
            </a:r>
            <a:r>
              <a:rPr lang="en-US" altLang="ko-KR" sz="1500" dirty="0">
                <a:latin typeface="+mn-ea"/>
                <a:cs typeface="Times New Roman" panose="02020603050405020304" pitchFamily="18" charset="0"/>
              </a:rPr>
              <a:t>, </a:t>
            </a:r>
            <a:r>
              <a:rPr lang="ko-KR" altLang="en-US" sz="1500" dirty="0">
                <a:latin typeface="+mn-ea"/>
                <a:cs typeface="Times New Roman" panose="02020603050405020304" pitchFamily="18" charset="0"/>
              </a:rPr>
              <a:t>현재 위치를 기반으로 미리 한 발 앞으로 나가서 기울기를 계산</a:t>
            </a:r>
            <a:endParaRPr lang="en-US" altLang="ko-KR" sz="1500" dirty="0">
              <a:latin typeface="+mn-ea"/>
              <a:cs typeface="Times New Roman" panose="02020603050405020304" pitchFamily="18" charset="0"/>
            </a:endParaRP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altLang="ko-KR" sz="1500" dirty="0">
                <a:latin typeface="+mn-ea"/>
                <a:cs typeface="Times New Roman" panose="02020603050405020304" pitchFamily="18" charset="0"/>
              </a:rPr>
              <a:t>(</a:t>
            </a:r>
            <a:r>
              <a:rPr lang="ko-KR" altLang="en-US" sz="1500" dirty="0">
                <a:latin typeface="+mn-ea"/>
                <a:cs typeface="Times New Roman" panose="02020603050405020304" pitchFamily="18" charset="0"/>
              </a:rPr>
              <a:t>장점</a:t>
            </a:r>
            <a:r>
              <a:rPr lang="en-US" altLang="ko-KR" sz="1500" dirty="0">
                <a:latin typeface="+mn-ea"/>
                <a:cs typeface="Times New Roman" panose="02020603050405020304" pitchFamily="18" charset="0"/>
              </a:rPr>
              <a:t>) </a:t>
            </a:r>
            <a:r>
              <a:rPr lang="ko-KR" altLang="en-US" sz="1500" dirty="0">
                <a:latin typeface="+mn-ea"/>
                <a:cs typeface="Times New Roman" panose="02020603050405020304" pitchFamily="18" charset="0"/>
              </a:rPr>
              <a:t>예측된 기울기 사용으로 빠른 수렴</a:t>
            </a:r>
            <a:r>
              <a:rPr lang="en-US" altLang="ko-KR" sz="1500" dirty="0">
                <a:latin typeface="+mn-ea"/>
                <a:cs typeface="Times New Roman" panose="02020603050405020304" pitchFamily="18" charset="0"/>
              </a:rPr>
              <a:t>, </a:t>
            </a:r>
            <a:r>
              <a:rPr lang="ko-KR" altLang="en-US" sz="1500" dirty="0">
                <a:latin typeface="+mn-ea"/>
                <a:cs typeface="Times New Roman" panose="02020603050405020304" pitchFamily="18" charset="0"/>
              </a:rPr>
              <a:t>진동 감소</a:t>
            </a:r>
            <a:r>
              <a:rPr lang="en-US" altLang="ko-KR" sz="1500" dirty="0">
                <a:latin typeface="+mn-ea"/>
                <a:cs typeface="Times New Roman" panose="02020603050405020304" pitchFamily="18" charset="0"/>
              </a:rPr>
              <a:t>, </a:t>
            </a:r>
            <a:r>
              <a:rPr lang="ko-KR" altLang="en-US" sz="1500" dirty="0">
                <a:latin typeface="+mn-ea"/>
                <a:cs typeface="Times New Roman" panose="02020603050405020304" pitchFamily="18" charset="0"/>
              </a:rPr>
              <a:t>정확한 기울기 계산</a:t>
            </a:r>
            <a:endParaRPr lang="en-US" altLang="ko-KR" sz="1500" dirty="0">
              <a:latin typeface="+mn-ea"/>
              <a:cs typeface="Times New Roman" panose="02020603050405020304" pitchFamily="18" charset="0"/>
            </a:endParaRP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altLang="ko-KR" sz="1500" dirty="0">
                <a:latin typeface="+mn-ea"/>
                <a:cs typeface="Times New Roman" panose="02020603050405020304" pitchFamily="18" charset="0"/>
              </a:rPr>
              <a:t>(</a:t>
            </a:r>
            <a:r>
              <a:rPr lang="ko-KR" altLang="en-US" sz="1500" dirty="0">
                <a:latin typeface="+mn-ea"/>
                <a:cs typeface="Times New Roman" panose="02020603050405020304" pitchFamily="18" charset="0"/>
              </a:rPr>
              <a:t>단점</a:t>
            </a:r>
            <a:r>
              <a:rPr lang="en-US" altLang="ko-KR" sz="1500" dirty="0">
                <a:latin typeface="+mn-ea"/>
                <a:cs typeface="Times New Roman" panose="02020603050405020304" pitchFamily="18" charset="0"/>
              </a:rPr>
              <a:t>) </a:t>
            </a:r>
            <a:r>
              <a:rPr lang="ko-KR" altLang="en-US" sz="1500" dirty="0">
                <a:latin typeface="+mn-ea"/>
                <a:cs typeface="Times New Roman" panose="02020603050405020304" pitchFamily="18" charset="0"/>
              </a:rPr>
              <a:t>복잡한 구현</a:t>
            </a:r>
            <a:r>
              <a:rPr lang="en-US" altLang="ko-KR" sz="1500" dirty="0">
                <a:latin typeface="+mn-ea"/>
                <a:cs typeface="Times New Roman" panose="02020603050405020304" pitchFamily="18" charset="0"/>
              </a:rPr>
              <a:t>, </a:t>
            </a:r>
            <a:r>
              <a:rPr lang="ko-KR" altLang="en-US" sz="1500" dirty="0" err="1">
                <a:latin typeface="+mn-ea"/>
                <a:cs typeface="Times New Roman" panose="02020603050405020304" pitchFamily="18" charset="0"/>
              </a:rPr>
              <a:t>하이퍼파라미터</a:t>
            </a:r>
            <a:r>
              <a:rPr lang="ko-KR" altLang="en-US" sz="1500" dirty="0">
                <a:latin typeface="+mn-ea"/>
                <a:cs typeface="Times New Roman" panose="02020603050405020304" pitchFamily="18" charset="0"/>
              </a:rPr>
              <a:t> 튜닝 필요</a:t>
            </a:r>
            <a:r>
              <a:rPr lang="en-US" altLang="ko-KR" sz="1500" dirty="0">
                <a:latin typeface="+mn-ea"/>
                <a:cs typeface="Times New Roman" panose="02020603050405020304" pitchFamily="18" charset="0"/>
              </a:rPr>
              <a:t>, </a:t>
            </a:r>
            <a:r>
              <a:rPr lang="ko-KR" altLang="en-US" sz="1500" dirty="0">
                <a:latin typeface="+mn-ea"/>
                <a:cs typeface="Times New Roman" panose="02020603050405020304" pitchFamily="18" charset="0"/>
              </a:rPr>
              <a:t>업데이트가 빨라 </a:t>
            </a:r>
            <a:r>
              <a:rPr lang="en-US" altLang="ko-KR" sz="1500" dirty="0">
                <a:latin typeface="+mn-ea"/>
                <a:cs typeface="Times New Roman" panose="02020603050405020304" pitchFamily="18" charset="0"/>
              </a:rPr>
              <a:t>overfitting </a:t>
            </a:r>
            <a:r>
              <a:rPr lang="ko-KR" altLang="en-US" sz="1500" dirty="0">
                <a:latin typeface="+mn-ea"/>
                <a:cs typeface="Times New Roman" panose="02020603050405020304" pitchFamily="18" charset="0"/>
              </a:rPr>
              <a:t>발생 가능성</a:t>
            </a:r>
            <a:endParaRPr lang="en-US" altLang="ko-KR" sz="1500" dirty="0">
              <a:latin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80244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EC60EAAC-3DBC-45E9-AB04-4681F0F33284}"/>
              </a:ext>
            </a:extLst>
          </p:cNvPr>
          <p:cNvSpPr/>
          <p:nvPr/>
        </p:nvSpPr>
        <p:spPr>
          <a:xfrm>
            <a:off x="0" y="0"/>
            <a:ext cx="11058348" cy="63401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600" b="1" dirty="0">
                <a:latin typeface="+mn-ea"/>
                <a:cs typeface="Times New Roman" panose="02020603050405020304" pitchFamily="18" charset="0"/>
              </a:rPr>
              <a:t>(2) Optimizers and learning rate II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500" dirty="0">
              <a:latin typeface="+mn-ea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500" dirty="0" err="1">
                <a:latin typeface="+mn-ea"/>
                <a:cs typeface="Times New Roman" panose="02020603050405020304" pitchFamily="18" charset="0"/>
              </a:rPr>
              <a:t>Adagrad</a:t>
            </a:r>
            <a:endParaRPr lang="en-US" altLang="ko-KR" sz="1500" dirty="0">
              <a:latin typeface="+mn-ea"/>
              <a:cs typeface="Times New Roman" panose="02020603050405020304" pitchFamily="18" charset="0"/>
            </a:endParaRP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ko-KR" altLang="en-US" sz="1500" dirty="0" err="1">
                <a:latin typeface="+mn-ea"/>
                <a:cs typeface="Times New Roman" panose="02020603050405020304" pitchFamily="18" charset="0"/>
              </a:rPr>
              <a:t>학습률을</a:t>
            </a:r>
            <a:r>
              <a:rPr lang="ko-KR" altLang="en-US" sz="1500" dirty="0">
                <a:latin typeface="+mn-ea"/>
                <a:cs typeface="Times New Roman" panose="02020603050405020304" pitchFamily="18" charset="0"/>
              </a:rPr>
              <a:t> 여태 많이 업데이트 된 변수는 적게</a:t>
            </a:r>
            <a:r>
              <a:rPr lang="en-US" altLang="ko-KR" sz="1500" dirty="0">
                <a:latin typeface="+mn-ea"/>
                <a:cs typeface="Times New Roman" panose="02020603050405020304" pitchFamily="18" charset="0"/>
              </a:rPr>
              <a:t>, </a:t>
            </a:r>
            <a:r>
              <a:rPr lang="ko-KR" altLang="en-US" sz="1500" dirty="0">
                <a:latin typeface="+mn-ea"/>
                <a:cs typeface="Times New Roman" panose="02020603050405020304" pitchFamily="18" charset="0"/>
              </a:rPr>
              <a:t>안 된 애는 크게 적응적으로 변경하는 방식</a:t>
            </a:r>
            <a:endParaRPr lang="en-US" altLang="ko-KR" sz="1500" dirty="0">
              <a:latin typeface="+mn-ea"/>
              <a:cs typeface="Times New Roman" panose="02020603050405020304" pitchFamily="18" charset="0"/>
            </a:endParaRP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altLang="ko-KR" sz="1500" dirty="0">
                <a:latin typeface="+mn-ea"/>
                <a:cs typeface="Times New Roman" panose="02020603050405020304" pitchFamily="18" charset="0"/>
              </a:rPr>
              <a:t>(</a:t>
            </a:r>
            <a:r>
              <a:rPr lang="ko-KR" altLang="en-US" sz="1500" dirty="0">
                <a:latin typeface="+mn-ea"/>
                <a:cs typeface="Times New Roman" panose="02020603050405020304" pitchFamily="18" charset="0"/>
              </a:rPr>
              <a:t>장점</a:t>
            </a:r>
            <a:r>
              <a:rPr lang="en-US" altLang="ko-KR" sz="1500" dirty="0">
                <a:latin typeface="+mn-ea"/>
                <a:cs typeface="Times New Roman" panose="02020603050405020304" pitchFamily="18" charset="0"/>
              </a:rPr>
              <a:t>) </a:t>
            </a:r>
            <a:r>
              <a:rPr lang="ko-KR" altLang="en-US" sz="1500" dirty="0">
                <a:latin typeface="+mn-ea"/>
                <a:cs typeface="Times New Roman" panose="02020603050405020304" pitchFamily="18" charset="0"/>
              </a:rPr>
              <a:t>소수의 특징도 캐치 가능</a:t>
            </a:r>
            <a:r>
              <a:rPr lang="en-US" altLang="ko-KR" sz="1500" dirty="0">
                <a:latin typeface="+mn-ea"/>
                <a:cs typeface="Times New Roman" panose="02020603050405020304" pitchFamily="18" charset="0"/>
              </a:rPr>
              <a:t>, </a:t>
            </a:r>
            <a:r>
              <a:rPr lang="ko-KR" altLang="en-US" sz="1500" dirty="0">
                <a:latin typeface="+mn-ea"/>
                <a:cs typeface="Times New Roman" panose="02020603050405020304" pitchFamily="18" charset="0"/>
              </a:rPr>
              <a:t>간단한 구현</a:t>
            </a:r>
            <a:endParaRPr lang="en-US" altLang="ko-KR" sz="1500" dirty="0">
              <a:latin typeface="+mn-ea"/>
              <a:cs typeface="Times New Roman" panose="02020603050405020304" pitchFamily="18" charset="0"/>
            </a:endParaRP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altLang="ko-KR" sz="1500" dirty="0">
                <a:latin typeface="+mn-ea"/>
                <a:cs typeface="Times New Roman" panose="02020603050405020304" pitchFamily="18" charset="0"/>
              </a:rPr>
              <a:t>(</a:t>
            </a:r>
            <a:r>
              <a:rPr lang="ko-KR" altLang="en-US" sz="1500" dirty="0">
                <a:latin typeface="+mn-ea"/>
                <a:cs typeface="Times New Roman" panose="02020603050405020304" pitchFamily="18" charset="0"/>
              </a:rPr>
              <a:t>단점</a:t>
            </a:r>
            <a:r>
              <a:rPr lang="en-US" altLang="ko-KR" sz="1500" dirty="0">
                <a:latin typeface="+mn-ea"/>
                <a:cs typeface="Times New Roman" panose="02020603050405020304" pitchFamily="18" charset="0"/>
              </a:rPr>
              <a:t>) </a:t>
            </a:r>
            <a:r>
              <a:rPr lang="ko-KR" altLang="en-US" sz="1500" dirty="0">
                <a:latin typeface="+mn-ea"/>
                <a:cs typeface="Times New Roman" panose="02020603050405020304" pitchFamily="18" charset="0"/>
              </a:rPr>
              <a:t>시간이 지남에 따라 </a:t>
            </a:r>
            <a:r>
              <a:rPr lang="ko-KR" altLang="en-US" sz="1500" dirty="0" err="1">
                <a:latin typeface="+mn-ea"/>
                <a:cs typeface="Times New Roman" panose="02020603050405020304" pitchFamily="18" charset="0"/>
              </a:rPr>
              <a:t>학습률이</a:t>
            </a:r>
            <a:r>
              <a:rPr lang="ko-KR" altLang="en-US" sz="1500" dirty="0">
                <a:latin typeface="+mn-ea"/>
                <a:cs typeface="Times New Roman" panose="02020603050405020304" pitchFamily="18" charset="0"/>
              </a:rPr>
              <a:t> 급격하게 감소</a:t>
            </a:r>
            <a:r>
              <a:rPr lang="en-US" altLang="ko-KR" sz="1500" dirty="0">
                <a:latin typeface="+mn-ea"/>
                <a:cs typeface="Times New Roman" panose="02020603050405020304" pitchFamily="18" charset="0"/>
              </a:rPr>
              <a:t>, </a:t>
            </a:r>
            <a:r>
              <a:rPr lang="ko-KR" altLang="en-US" sz="1500" dirty="0">
                <a:latin typeface="+mn-ea"/>
                <a:cs typeface="Times New Roman" panose="02020603050405020304" pitchFamily="18" charset="0"/>
              </a:rPr>
              <a:t>장기 학습에 비효율적</a:t>
            </a:r>
            <a:endParaRPr lang="en-US" altLang="ko-KR" sz="1500" dirty="0">
              <a:latin typeface="+mn-ea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500" dirty="0">
              <a:latin typeface="+mn-ea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500" dirty="0" err="1">
                <a:latin typeface="+mn-ea"/>
                <a:cs typeface="Times New Roman" panose="02020603050405020304" pitchFamily="18" charset="0"/>
              </a:rPr>
              <a:t>RMSprop</a:t>
            </a:r>
            <a:endParaRPr lang="en-US" altLang="ko-KR" sz="1500" dirty="0">
              <a:latin typeface="+mn-ea"/>
              <a:cs typeface="Times New Roman" panose="02020603050405020304" pitchFamily="18" charset="0"/>
            </a:endParaRP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ko-KR" altLang="en-US" sz="1500" dirty="0">
                <a:latin typeface="+mn-ea"/>
                <a:cs typeface="Times New Roman" panose="02020603050405020304" pitchFamily="18" charset="0"/>
              </a:rPr>
              <a:t>업데이트 총량을 고려하는 </a:t>
            </a:r>
            <a:r>
              <a:rPr lang="en-US" altLang="ko-KR" sz="1500" dirty="0" err="1">
                <a:latin typeface="+mn-ea"/>
                <a:cs typeface="Times New Roman" panose="02020603050405020304" pitchFamily="18" charset="0"/>
              </a:rPr>
              <a:t>Adagrad</a:t>
            </a:r>
            <a:r>
              <a:rPr lang="ko-KR" altLang="en-US" sz="1500" dirty="0">
                <a:latin typeface="+mn-ea"/>
                <a:cs typeface="Times New Roman" panose="02020603050405020304" pitchFamily="18" charset="0"/>
              </a:rPr>
              <a:t>와 다르게</a:t>
            </a:r>
            <a:r>
              <a:rPr lang="en-US" altLang="ko-KR" sz="1500" dirty="0">
                <a:latin typeface="+mn-ea"/>
                <a:cs typeface="Times New Roman" panose="02020603050405020304" pitchFamily="18" charset="0"/>
              </a:rPr>
              <a:t>, </a:t>
            </a:r>
            <a:r>
              <a:rPr lang="ko-KR" altLang="en-US" sz="1500" dirty="0">
                <a:latin typeface="+mn-ea"/>
                <a:cs typeface="Times New Roman" panose="02020603050405020304" pitchFamily="18" charset="0"/>
              </a:rPr>
              <a:t>최근에 업데이트 양을 기반으로 </a:t>
            </a:r>
            <a:r>
              <a:rPr lang="ko-KR" altLang="en-US" sz="1500" dirty="0" err="1">
                <a:latin typeface="+mn-ea"/>
                <a:cs typeface="Times New Roman" panose="02020603050405020304" pitchFamily="18" charset="0"/>
              </a:rPr>
              <a:t>학습률</a:t>
            </a:r>
            <a:r>
              <a:rPr lang="ko-KR" altLang="en-US" sz="1500" dirty="0">
                <a:latin typeface="+mn-ea"/>
                <a:cs typeface="Times New Roman" panose="02020603050405020304" pitchFamily="18" charset="0"/>
              </a:rPr>
              <a:t> 조정</a:t>
            </a:r>
            <a:endParaRPr lang="en-US" altLang="ko-KR" sz="1500" dirty="0">
              <a:latin typeface="+mn-ea"/>
              <a:cs typeface="Times New Roman" panose="02020603050405020304" pitchFamily="18" charset="0"/>
            </a:endParaRP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altLang="ko-KR" sz="1500" dirty="0">
                <a:latin typeface="+mn-ea"/>
                <a:cs typeface="Times New Roman" panose="02020603050405020304" pitchFamily="18" charset="0"/>
              </a:rPr>
              <a:t>(</a:t>
            </a:r>
            <a:r>
              <a:rPr lang="ko-KR" altLang="en-US" sz="1500" dirty="0">
                <a:latin typeface="+mn-ea"/>
                <a:cs typeface="Times New Roman" panose="02020603050405020304" pitchFamily="18" charset="0"/>
              </a:rPr>
              <a:t>장점</a:t>
            </a:r>
            <a:r>
              <a:rPr lang="en-US" altLang="ko-KR" sz="1500" dirty="0">
                <a:latin typeface="+mn-ea"/>
                <a:cs typeface="Times New Roman" panose="02020603050405020304" pitchFamily="18" charset="0"/>
              </a:rPr>
              <a:t>) </a:t>
            </a:r>
            <a:r>
              <a:rPr lang="ko-KR" altLang="en-US" sz="1500" dirty="0">
                <a:latin typeface="+mn-ea"/>
                <a:cs typeface="Times New Roman" panose="02020603050405020304" pitchFamily="18" charset="0"/>
              </a:rPr>
              <a:t>빠른 수렴</a:t>
            </a:r>
            <a:r>
              <a:rPr lang="en-US" altLang="ko-KR" sz="1500" dirty="0">
                <a:latin typeface="+mn-ea"/>
                <a:cs typeface="Times New Roman" panose="02020603050405020304" pitchFamily="18" charset="0"/>
              </a:rPr>
              <a:t>, </a:t>
            </a:r>
            <a:r>
              <a:rPr lang="ko-KR" altLang="en-US" sz="1500" dirty="0">
                <a:latin typeface="+mn-ea"/>
                <a:cs typeface="Times New Roman" panose="02020603050405020304" pitchFamily="18" charset="0"/>
              </a:rPr>
              <a:t>미니배치 학습에 적합</a:t>
            </a:r>
            <a:r>
              <a:rPr lang="en-US" altLang="ko-KR" sz="1500" dirty="0">
                <a:latin typeface="+mn-ea"/>
                <a:cs typeface="Times New Roman" panose="02020603050405020304" pitchFamily="18" charset="0"/>
              </a:rPr>
              <a:t>(</a:t>
            </a:r>
            <a:r>
              <a:rPr lang="ko-KR" altLang="en-US" sz="1500" dirty="0">
                <a:latin typeface="+mn-ea"/>
                <a:cs typeface="Times New Roman" panose="02020603050405020304" pitchFamily="18" charset="0"/>
              </a:rPr>
              <a:t>대규모 데이터에서 잘 작동</a:t>
            </a:r>
            <a:r>
              <a:rPr lang="en-US" altLang="ko-KR" sz="1500" dirty="0">
                <a:latin typeface="+mn-ea"/>
                <a:cs typeface="Times New Roman" panose="02020603050405020304" pitchFamily="18" charset="0"/>
              </a:rPr>
              <a:t>)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ko-KR" altLang="en-US" sz="1500" dirty="0" err="1">
                <a:latin typeface="+mn-ea"/>
                <a:cs typeface="Times New Roman" panose="02020603050405020304" pitchFamily="18" charset="0"/>
              </a:rPr>
              <a:t>하이퍼파리미터</a:t>
            </a:r>
            <a:r>
              <a:rPr lang="ko-KR" altLang="en-US" sz="1500" dirty="0">
                <a:latin typeface="+mn-ea"/>
                <a:cs typeface="Times New Roman" panose="02020603050405020304" pitchFamily="18" charset="0"/>
              </a:rPr>
              <a:t> 튜닝 필요</a:t>
            </a:r>
            <a:r>
              <a:rPr lang="en-US" altLang="ko-KR" sz="1500" dirty="0">
                <a:latin typeface="+mn-ea"/>
                <a:cs typeface="Times New Roman" panose="02020603050405020304" pitchFamily="18" charset="0"/>
              </a:rPr>
              <a:t>, </a:t>
            </a:r>
            <a:r>
              <a:rPr lang="ko-KR" altLang="en-US" sz="1500" dirty="0">
                <a:latin typeface="+mn-ea"/>
                <a:cs typeface="Times New Roman" panose="02020603050405020304" pitchFamily="18" charset="0"/>
              </a:rPr>
              <a:t>메모리 사용량 증가</a:t>
            </a:r>
            <a:endParaRPr lang="en-US" altLang="ko-KR" sz="1500" dirty="0">
              <a:latin typeface="+mn-ea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500" dirty="0">
              <a:latin typeface="+mn-ea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500" dirty="0">
                <a:latin typeface="+mn-ea"/>
                <a:cs typeface="Times New Roman" panose="02020603050405020304" pitchFamily="18" charset="0"/>
              </a:rPr>
              <a:t>Adaptive Moment Estimation (Adam)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altLang="ko-KR" sz="1500" dirty="0">
                <a:latin typeface="+mn-ea"/>
                <a:cs typeface="Times New Roman" panose="02020603050405020304" pitchFamily="18" charset="0"/>
              </a:rPr>
              <a:t>Momentum</a:t>
            </a:r>
            <a:r>
              <a:rPr lang="ko-KR" altLang="en-US" sz="1500" dirty="0">
                <a:latin typeface="+mn-ea"/>
                <a:cs typeface="Times New Roman" panose="02020603050405020304" pitchFamily="18" charset="0"/>
              </a:rPr>
              <a:t>과 </a:t>
            </a:r>
            <a:r>
              <a:rPr lang="en-US" altLang="ko-KR" sz="1500" dirty="0" err="1">
                <a:latin typeface="+mn-ea"/>
                <a:cs typeface="Times New Roman" panose="02020603050405020304" pitchFamily="18" charset="0"/>
              </a:rPr>
              <a:t>RMSprop</a:t>
            </a:r>
            <a:r>
              <a:rPr lang="ko-KR" altLang="en-US" sz="1500" dirty="0">
                <a:latin typeface="+mn-ea"/>
                <a:cs typeface="Times New Roman" panose="02020603050405020304" pitchFamily="18" charset="0"/>
              </a:rPr>
              <a:t>의 장점을 결합</a:t>
            </a:r>
            <a:r>
              <a:rPr lang="en-US" altLang="ko-KR" sz="1500" dirty="0">
                <a:latin typeface="+mn-ea"/>
                <a:cs typeface="Times New Roman" panose="02020603050405020304" pitchFamily="18" charset="0"/>
              </a:rPr>
              <a:t>, </a:t>
            </a:r>
            <a:r>
              <a:rPr lang="ko-KR" altLang="en-US" sz="1500" dirty="0">
                <a:latin typeface="+mn-ea"/>
                <a:cs typeface="Times New Roman" panose="02020603050405020304" pitchFamily="18" charset="0"/>
              </a:rPr>
              <a:t>각 매개변수의 기울기 평균과 제곱 기울기 평균을 기반으로 적응 </a:t>
            </a:r>
            <a:r>
              <a:rPr lang="ko-KR" altLang="en-US" sz="1500" dirty="0" err="1">
                <a:latin typeface="+mn-ea"/>
                <a:cs typeface="Times New Roman" panose="02020603050405020304" pitchFamily="18" charset="0"/>
              </a:rPr>
              <a:t>학습률</a:t>
            </a:r>
            <a:r>
              <a:rPr lang="ko-KR" altLang="en-US" sz="1500" dirty="0">
                <a:latin typeface="+mn-ea"/>
                <a:cs typeface="Times New Roman" panose="02020603050405020304" pitchFamily="18" charset="0"/>
              </a:rPr>
              <a:t> 설정</a:t>
            </a:r>
            <a:endParaRPr lang="en-US" altLang="ko-KR" sz="1500" dirty="0">
              <a:latin typeface="+mn-ea"/>
              <a:cs typeface="Times New Roman" panose="02020603050405020304" pitchFamily="18" charset="0"/>
            </a:endParaRP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ko-KR" altLang="en-US" sz="1500" dirty="0">
                <a:latin typeface="+mn-ea"/>
                <a:cs typeface="Times New Roman" panose="02020603050405020304" pitchFamily="18" charset="0"/>
              </a:rPr>
              <a:t>가장 보편적으로 쓰이는 </a:t>
            </a:r>
            <a:r>
              <a:rPr lang="en-US" altLang="ko-KR" sz="1500" dirty="0">
                <a:latin typeface="+mn-ea"/>
                <a:cs typeface="Times New Roman" panose="02020603050405020304" pitchFamily="18" charset="0"/>
              </a:rPr>
              <a:t>Optimizer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altLang="ko-KR" sz="1500" dirty="0">
                <a:latin typeface="+mn-ea"/>
                <a:cs typeface="Times New Roman" panose="02020603050405020304" pitchFamily="18" charset="0"/>
              </a:rPr>
              <a:t>(</a:t>
            </a:r>
            <a:r>
              <a:rPr lang="ko-KR" altLang="en-US" sz="1500" dirty="0">
                <a:latin typeface="+mn-ea"/>
                <a:cs typeface="Times New Roman" panose="02020603050405020304" pitchFamily="18" charset="0"/>
              </a:rPr>
              <a:t>장점</a:t>
            </a:r>
            <a:r>
              <a:rPr lang="en-US" altLang="ko-KR" sz="1500" dirty="0">
                <a:latin typeface="+mn-ea"/>
                <a:cs typeface="Times New Roman" panose="02020603050405020304" pitchFamily="18" charset="0"/>
              </a:rPr>
              <a:t>) </a:t>
            </a:r>
            <a:r>
              <a:rPr lang="ko-KR" altLang="en-US" sz="1500" dirty="0">
                <a:latin typeface="+mn-ea"/>
                <a:cs typeface="Times New Roman" panose="02020603050405020304" pitchFamily="18" charset="0"/>
              </a:rPr>
              <a:t>빠른 수렴</a:t>
            </a:r>
            <a:r>
              <a:rPr lang="en-US" altLang="ko-KR" sz="1500" dirty="0">
                <a:latin typeface="+mn-ea"/>
                <a:cs typeface="Times New Roman" panose="02020603050405020304" pitchFamily="18" charset="0"/>
              </a:rPr>
              <a:t>, </a:t>
            </a:r>
            <a:r>
              <a:rPr lang="ko-KR" altLang="en-US" sz="1500" dirty="0">
                <a:latin typeface="+mn-ea"/>
                <a:cs typeface="Times New Roman" panose="02020603050405020304" pitchFamily="18" charset="0"/>
              </a:rPr>
              <a:t>적응형 </a:t>
            </a:r>
            <a:r>
              <a:rPr lang="ko-KR" altLang="en-US" sz="1500" dirty="0" err="1">
                <a:latin typeface="+mn-ea"/>
                <a:cs typeface="Times New Roman" panose="02020603050405020304" pitchFamily="18" charset="0"/>
              </a:rPr>
              <a:t>학습률</a:t>
            </a:r>
            <a:r>
              <a:rPr lang="en-US" altLang="ko-KR" sz="1500" dirty="0">
                <a:latin typeface="+mn-ea"/>
                <a:cs typeface="Times New Roman" panose="02020603050405020304" pitchFamily="18" charset="0"/>
              </a:rPr>
              <a:t>, </a:t>
            </a:r>
            <a:r>
              <a:rPr lang="ko-KR" altLang="en-US" sz="1500" dirty="0">
                <a:latin typeface="+mn-ea"/>
                <a:cs typeface="Times New Roman" panose="02020603050405020304" pitchFamily="18" charset="0"/>
              </a:rPr>
              <a:t>다양한 문제에 적용 가능</a:t>
            </a:r>
            <a:endParaRPr lang="en-US" altLang="ko-KR" sz="1500" dirty="0">
              <a:latin typeface="+mn-ea"/>
              <a:cs typeface="Times New Roman" panose="02020603050405020304" pitchFamily="18" charset="0"/>
            </a:endParaRP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altLang="ko-KR" sz="1500" dirty="0">
                <a:latin typeface="+mn-ea"/>
                <a:cs typeface="Times New Roman" panose="02020603050405020304" pitchFamily="18" charset="0"/>
              </a:rPr>
              <a:t>(</a:t>
            </a:r>
            <a:r>
              <a:rPr lang="ko-KR" altLang="en-US" sz="1500" dirty="0">
                <a:latin typeface="+mn-ea"/>
                <a:cs typeface="Times New Roman" panose="02020603050405020304" pitchFamily="18" charset="0"/>
              </a:rPr>
              <a:t>단점</a:t>
            </a:r>
            <a:r>
              <a:rPr lang="en-US" altLang="ko-KR" sz="1500" dirty="0">
                <a:latin typeface="+mn-ea"/>
                <a:cs typeface="Times New Roman" panose="02020603050405020304" pitchFamily="18" charset="0"/>
              </a:rPr>
              <a:t>) </a:t>
            </a:r>
            <a:r>
              <a:rPr lang="ko-KR" altLang="en-US" sz="1500" dirty="0">
                <a:latin typeface="+mn-ea"/>
                <a:cs typeface="Times New Roman" panose="02020603050405020304" pitchFamily="18" charset="0"/>
              </a:rPr>
              <a:t>메모리 사용량 증가</a:t>
            </a:r>
            <a:r>
              <a:rPr lang="en-US" altLang="ko-KR" sz="1500" dirty="0">
                <a:latin typeface="+mn-ea"/>
                <a:cs typeface="Times New Roman" panose="02020603050405020304" pitchFamily="18" charset="0"/>
              </a:rPr>
              <a:t>, </a:t>
            </a:r>
            <a:r>
              <a:rPr lang="ko-KR" altLang="en-US" sz="1500" dirty="0" err="1">
                <a:latin typeface="+mn-ea"/>
                <a:cs typeface="Times New Roman" panose="02020603050405020304" pitchFamily="18" charset="0"/>
              </a:rPr>
              <a:t>하이퍼파라미터</a:t>
            </a:r>
            <a:r>
              <a:rPr lang="ko-KR" altLang="en-US" sz="1500" dirty="0">
                <a:latin typeface="+mn-ea"/>
                <a:cs typeface="Times New Roman" panose="02020603050405020304" pitchFamily="18" charset="0"/>
              </a:rPr>
              <a:t> 조정 필요</a:t>
            </a:r>
            <a:r>
              <a:rPr lang="en-US" altLang="ko-KR" sz="1500" dirty="0">
                <a:latin typeface="+mn-ea"/>
                <a:cs typeface="Times New Roman" panose="02020603050405020304" pitchFamily="18" charset="0"/>
              </a:rPr>
              <a:t>, </a:t>
            </a:r>
            <a:r>
              <a:rPr lang="ko-KR" altLang="en-US" sz="1500" dirty="0">
                <a:latin typeface="+mn-ea"/>
                <a:cs typeface="Times New Roman" panose="02020603050405020304" pitchFamily="18" charset="0"/>
              </a:rPr>
              <a:t>모델이 복잡하면 </a:t>
            </a:r>
            <a:r>
              <a:rPr lang="ko-KR" altLang="en-US" sz="1500" dirty="0" err="1">
                <a:latin typeface="+mn-ea"/>
                <a:cs typeface="Times New Roman" panose="02020603050405020304" pitchFamily="18" charset="0"/>
              </a:rPr>
              <a:t>과적합</a:t>
            </a:r>
            <a:r>
              <a:rPr lang="ko-KR" altLang="en-US" sz="1500" dirty="0">
                <a:latin typeface="+mn-ea"/>
                <a:cs typeface="Times New Roman" panose="02020603050405020304" pitchFamily="18" charset="0"/>
              </a:rPr>
              <a:t> 위험 존재</a:t>
            </a:r>
            <a:r>
              <a:rPr lang="en-US" altLang="ko-KR" sz="1500" dirty="0">
                <a:latin typeface="+mn-ea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500" dirty="0">
              <a:latin typeface="+mn-ea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500" dirty="0" err="1">
                <a:latin typeface="+mn-ea"/>
                <a:cs typeface="Times New Roman" panose="02020603050405020304" pitchFamily="18" charset="0"/>
              </a:rPr>
              <a:t>AdaDelta</a:t>
            </a:r>
            <a:endParaRPr lang="en-US" altLang="ko-KR" sz="1500" dirty="0">
              <a:latin typeface="+mn-ea"/>
              <a:cs typeface="Times New Roman" panose="02020603050405020304" pitchFamily="18" charset="0"/>
            </a:endParaRP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altLang="ko-KR" sz="1500" dirty="0" err="1">
                <a:latin typeface="+mn-ea"/>
                <a:cs typeface="Times New Roman" panose="02020603050405020304" pitchFamily="18" charset="0"/>
              </a:rPr>
              <a:t>Adagrad</a:t>
            </a:r>
            <a:r>
              <a:rPr lang="ko-KR" altLang="en-US" sz="1500" dirty="0">
                <a:latin typeface="+mn-ea"/>
                <a:cs typeface="Times New Roman" panose="02020603050405020304" pitchFamily="18" charset="0"/>
              </a:rPr>
              <a:t>에서 </a:t>
            </a:r>
            <a:r>
              <a:rPr lang="ko-KR" altLang="en-US" sz="1500" dirty="0" err="1">
                <a:latin typeface="+mn-ea"/>
                <a:cs typeface="Times New Roman" panose="02020603050405020304" pitchFamily="18" charset="0"/>
              </a:rPr>
              <a:t>학습률이</a:t>
            </a:r>
            <a:r>
              <a:rPr lang="ko-KR" altLang="en-US" sz="1500" dirty="0">
                <a:latin typeface="+mn-ea"/>
                <a:cs typeface="Times New Roman" panose="02020603050405020304" pitchFamily="18" charset="0"/>
              </a:rPr>
              <a:t> 감소하는 문제를 해결</a:t>
            </a:r>
            <a:endParaRPr lang="en-US" altLang="ko-KR" sz="1500" dirty="0">
              <a:latin typeface="+mn-ea"/>
              <a:cs typeface="Times New Roman" panose="02020603050405020304" pitchFamily="18" charset="0"/>
            </a:endParaRP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altLang="ko-KR" sz="1500" dirty="0">
                <a:latin typeface="+mn-ea"/>
                <a:cs typeface="Times New Roman" panose="02020603050405020304" pitchFamily="18" charset="0"/>
              </a:rPr>
              <a:t>(</a:t>
            </a:r>
            <a:r>
              <a:rPr lang="ko-KR" altLang="en-US" sz="1500" dirty="0">
                <a:latin typeface="+mn-ea"/>
                <a:cs typeface="Times New Roman" panose="02020603050405020304" pitchFamily="18" charset="0"/>
              </a:rPr>
              <a:t>장점</a:t>
            </a:r>
            <a:r>
              <a:rPr lang="en-US" altLang="ko-KR" sz="1500" dirty="0">
                <a:latin typeface="+mn-ea"/>
                <a:cs typeface="Times New Roman" panose="02020603050405020304" pitchFamily="18" charset="0"/>
              </a:rPr>
              <a:t>)</a:t>
            </a:r>
            <a:r>
              <a:rPr lang="ko-KR" altLang="en-US" sz="1500" dirty="0" err="1">
                <a:latin typeface="+mn-ea"/>
                <a:cs typeface="Times New Roman" panose="02020603050405020304" pitchFamily="18" charset="0"/>
              </a:rPr>
              <a:t>하이퍼파라미터</a:t>
            </a:r>
            <a:r>
              <a:rPr lang="ko-KR" altLang="en-US" sz="1500" dirty="0">
                <a:latin typeface="+mn-ea"/>
                <a:cs typeface="Times New Roman" panose="02020603050405020304" pitchFamily="18" charset="0"/>
              </a:rPr>
              <a:t> 조정 불필요</a:t>
            </a:r>
            <a:r>
              <a:rPr lang="en-US" altLang="ko-KR" sz="1500" dirty="0">
                <a:latin typeface="+mn-ea"/>
                <a:cs typeface="Times New Roman" panose="02020603050405020304" pitchFamily="18" charset="0"/>
              </a:rPr>
              <a:t>, </a:t>
            </a:r>
            <a:r>
              <a:rPr lang="ko-KR" altLang="en-US" sz="1500" dirty="0">
                <a:latin typeface="+mn-ea"/>
                <a:cs typeface="Times New Roman" panose="02020603050405020304" pitchFamily="18" charset="0"/>
              </a:rPr>
              <a:t>안정적인 업데이트</a:t>
            </a:r>
            <a:endParaRPr lang="en-US" altLang="ko-KR" sz="1500" dirty="0">
              <a:latin typeface="+mn-ea"/>
              <a:cs typeface="Times New Roman" panose="02020603050405020304" pitchFamily="18" charset="0"/>
            </a:endParaRP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altLang="ko-KR" sz="1500" dirty="0">
                <a:latin typeface="+mn-ea"/>
                <a:cs typeface="Times New Roman" panose="02020603050405020304" pitchFamily="18" charset="0"/>
              </a:rPr>
              <a:t>(</a:t>
            </a:r>
            <a:r>
              <a:rPr lang="ko-KR" altLang="en-US" sz="1500" dirty="0">
                <a:latin typeface="+mn-ea"/>
                <a:cs typeface="Times New Roman" panose="02020603050405020304" pitchFamily="18" charset="0"/>
              </a:rPr>
              <a:t>단점</a:t>
            </a:r>
            <a:r>
              <a:rPr lang="en-US" altLang="ko-KR" sz="1500" dirty="0">
                <a:latin typeface="+mn-ea"/>
                <a:cs typeface="Times New Roman" panose="02020603050405020304" pitchFamily="18" charset="0"/>
              </a:rPr>
              <a:t>) </a:t>
            </a:r>
            <a:r>
              <a:rPr lang="ko-KR" altLang="en-US" sz="1500" dirty="0">
                <a:latin typeface="+mn-ea"/>
                <a:cs typeface="Times New Roman" panose="02020603050405020304" pitchFamily="18" charset="0"/>
              </a:rPr>
              <a:t>구현 복잡성</a:t>
            </a:r>
            <a:r>
              <a:rPr lang="en-US" altLang="ko-KR" sz="1500" dirty="0">
                <a:latin typeface="+mn-ea"/>
                <a:cs typeface="Times New Roman" panose="02020603050405020304" pitchFamily="18" charset="0"/>
              </a:rPr>
              <a:t>, </a:t>
            </a:r>
            <a:r>
              <a:rPr lang="ko-KR" altLang="en-US" sz="1500" dirty="0">
                <a:latin typeface="+mn-ea"/>
                <a:cs typeface="Times New Roman" panose="02020603050405020304" pitchFamily="18" charset="0"/>
              </a:rPr>
              <a:t>느림</a:t>
            </a:r>
            <a:r>
              <a:rPr lang="en-US" altLang="ko-KR" sz="1500" dirty="0">
                <a:latin typeface="+mn-ea"/>
                <a:cs typeface="Times New Roman" panose="02020603050405020304" pitchFamily="18" charset="0"/>
              </a:rPr>
              <a:t>, </a:t>
            </a:r>
            <a:r>
              <a:rPr lang="ko-KR" altLang="en-US" sz="1500" dirty="0">
                <a:latin typeface="+mn-ea"/>
                <a:cs typeface="Times New Roman" panose="02020603050405020304" pitchFamily="18" charset="0"/>
              </a:rPr>
              <a:t>메모리 사용 증가</a:t>
            </a:r>
            <a:endParaRPr lang="en-US" altLang="ko-KR" sz="1500" dirty="0">
              <a:latin typeface="+mn-ea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500" dirty="0">
              <a:latin typeface="+mn-ea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500" dirty="0">
                <a:latin typeface="+mn-ea"/>
                <a:cs typeface="Times New Roman" panose="02020603050405020304" pitchFamily="18" charset="0"/>
              </a:rPr>
              <a:t>Follow the Regularized Leader (FTRL)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ko-KR" altLang="en-US" sz="1500" dirty="0">
                <a:latin typeface="+mn-ea"/>
                <a:cs typeface="Times New Roman" panose="02020603050405020304" pitchFamily="18" charset="0"/>
              </a:rPr>
              <a:t>온라인 학습에 자주 사용되며</a:t>
            </a:r>
            <a:r>
              <a:rPr lang="en-US" altLang="ko-KR" sz="1500" dirty="0">
                <a:latin typeface="+mn-ea"/>
                <a:cs typeface="Times New Roman" panose="02020603050405020304" pitchFamily="18" charset="0"/>
              </a:rPr>
              <a:t>, </a:t>
            </a:r>
            <a:r>
              <a:rPr lang="ko-KR" altLang="en-US" sz="1500" dirty="0" err="1">
                <a:latin typeface="+mn-ea"/>
                <a:cs typeface="Times New Roman" panose="02020603050405020304" pitchFamily="18" charset="0"/>
              </a:rPr>
              <a:t>정규화된</a:t>
            </a:r>
            <a:r>
              <a:rPr lang="ko-KR" altLang="en-US" sz="1500" dirty="0">
                <a:latin typeface="+mn-ea"/>
                <a:cs typeface="Times New Roman" panose="02020603050405020304" pitchFamily="18" charset="0"/>
              </a:rPr>
              <a:t> 리더의 접근 방식을 기반으로 함</a:t>
            </a:r>
            <a:endParaRPr lang="en-US" altLang="ko-KR" sz="1500" dirty="0">
              <a:latin typeface="+mn-ea"/>
              <a:cs typeface="Times New Roman" panose="02020603050405020304" pitchFamily="18" charset="0"/>
            </a:endParaRP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altLang="ko-KR" sz="1500" dirty="0">
                <a:latin typeface="+mn-ea"/>
                <a:cs typeface="Times New Roman" panose="02020603050405020304" pitchFamily="18" charset="0"/>
              </a:rPr>
              <a:t>(</a:t>
            </a:r>
            <a:r>
              <a:rPr lang="ko-KR" altLang="en-US" sz="1500" dirty="0">
                <a:latin typeface="+mn-ea"/>
                <a:cs typeface="Times New Roman" panose="02020603050405020304" pitchFamily="18" charset="0"/>
              </a:rPr>
              <a:t>장점</a:t>
            </a:r>
            <a:r>
              <a:rPr lang="en-US" altLang="ko-KR" sz="1500" dirty="0">
                <a:latin typeface="+mn-ea"/>
                <a:cs typeface="Times New Roman" panose="02020603050405020304" pitchFamily="18" charset="0"/>
              </a:rPr>
              <a:t>) </a:t>
            </a:r>
            <a:r>
              <a:rPr lang="ko-KR" altLang="en-US" sz="1500" dirty="0">
                <a:latin typeface="+mn-ea"/>
                <a:cs typeface="Times New Roman" panose="02020603050405020304" pitchFamily="18" charset="0"/>
              </a:rPr>
              <a:t>실시간 데이터에 잘 대응하여 효율적인 학습이 가능</a:t>
            </a:r>
            <a:r>
              <a:rPr lang="en-US" altLang="ko-KR" sz="1500" dirty="0">
                <a:latin typeface="+mn-ea"/>
                <a:cs typeface="Times New Roman" panose="02020603050405020304" pitchFamily="18" charset="0"/>
              </a:rPr>
              <a:t>, </a:t>
            </a:r>
            <a:r>
              <a:rPr lang="ko-KR" altLang="en-US" sz="1500" dirty="0">
                <a:latin typeface="+mn-ea"/>
                <a:cs typeface="Times New Roman" panose="02020603050405020304" pitchFamily="18" charset="0"/>
              </a:rPr>
              <a:t>정규화를 쉽게 적용하여 </a:t>
            </a:r>
            <a:r>
              <a:rPr lang="ko-KR" altLang="en-US" sz="1500" dirty="0" err="1">
                <a:latin typeface="+mn-ea"/>
                <a:cs typeface="Times New Roman" panose="02020603050405020304" pitchFamily="18" charset="0"/>
              </a:rPr>
              <a:t>과적합</a:t>
            </a:r>
            <a:r>
              <a:rPr lang="ko-KR" altLang="en-US" sz="1500" dirty="0">
                <a:latin typeface="+mn-ea"/>
                <a:cs typeface="Times New Roman" panose="02020603050405020304" pitchFamily="18" charset="0"/>
              </a:rPr>
              <a:t> 방지</a:t>
            </a:r>
            <a:endParaRPr lang="en-US" altLang="ko-KR" sz="1500" dirty="0">
              <a:latin typeface="+mn-ea"/>
              <a:cs typeface="Times New Roman" panose="02020603050405020304" pitchFamily="18" charset="0"/>
            </a:endParaRP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altLang="ko-KR" sz="1500" dirty="0">
                <a:latin typeface="+mn-ea"/>
                <a:cs typeface="Times New Roman" panose="02020603050405020304" pitchFamily="18" charset="0"/>
              </a:rPr>
              <a:t>(</a:t>
            </a:r>
            <a:r>
              <a:rPr lang="ko-KR" altLang="en-US" sz="1500" dirty="0">
                <a:latin typeface="+mn-ea"/>
                <a:cs typeface="Times New Roman" panose="02020603050405020304" pitchFamily="18" charset="0"/>
              </a:rPr>
              <a:t>단점</a:t>
            </a:r>
            <a:r>
              <a:rPr lang="en-US" altLang="ko-KR" sz="1500" dirty="0">
                <a:latin typeface="+mn-ea"/>
                <a:cs typeface="Times New Roman" panose="02020603050405020304" pitchFamily="18" charset="0"/>
              </a:rPr>
              <a:t>) </a:t>
            </a:r>
            <a:r>
              <a:rPr lang="ko-KR" altLang="en-US" sz="1500" dirty="0">
                <a:latin typeface="+mn-ea"/>
                <a:cs typeface="Times New Roman" panose="02020603050405020304" pitchFamily="18" charset="0"/>
              </a:rPr>
              <a:t>구현 난이도</a:t>
            </a:r>
            <a:r>
              <a:rPr lang="en-US" altLang="ko-KR" sz="1500" dirty="0">
                <a:latin typeface="+mn-ea"/>
                <a:cs typeface="Times New Roman" panose="02020603050405020304" pitchFamily="18" charset="0"/>
              </a:rPr>
              <a:t>, </a:t>
            </a:r>
            <a:r>
              <a:rPr lang="ko-KR" altLang="en-US" sz="1500" dirty="0">
                <a:latin typeface="+mn-ea"/>
                <a:cs typeface="Times New Roman" panose="02020603050405020304" pitchFamily="18" charset="0"/>
              </a:rPr>
              <a:t>대규모 데이터 처리 시 속도 급감</a:t>
            </a:r>
            <a:r>
              <a:rPr lang="en-US" altLang="ko-KR" sz="1500" dirty="0">
                <a:latin typeface="+mn-ea"/>
                <a:cs typeface="Times New Roman" panose="02020603050405020304" pitchFamily="18" charset="0"/>
              </a:rPr>
              <a:t>, </a:t>
            </a:r>
            <a:r>
              <a:rPr lang="ko-KR" altLang="en-US" sz="1500" dirty="0">
                <a:latin typeface="+mn-ea"/>
                <a:cs typeface="Times New Roman" panose="02020603050405020304" pitchFamily="18" charset="0"/>
              </a:rPr>
              <a:t>메모리 사용량 증가</a:t>
            </a:r>
            <a:endParaRPr lang="en-US" altLang="ko-KR" sz="1500" dirty="0">
              <a:latin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20582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12325E3C-B977-41D9-9518-D36387EBC89B}"/>
              </a:ext>
            </a:extLst>
          </p:cNvPr>
          <p:cNvSpPr/>
          <p:nvPr/>
        </p:nvSpPr>
        <p:spPr>
          <a:xfrm>
            <a:off x="0" y="0"/>
            <a:ext cx="12192000" cy="68018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600" b="1" dirty="0">
                <a:latin typeface="+mn-ea"/>
                <a:cs typeface="Times New Roman" panose="02020603050405020304" pitchFamily="18" charset="0"/>
              </a:rPr>
              <a:t>(3) Model structure 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500" dirty="0">
              <a:latin typeface="+mn-ea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500" dirty="0">
                <a:latin typeface="+mn-ea"/>
                <a:cs typeface="Times New Roman" panose="02020603050405020304" pitchFamily="18" charset="0"/>
              </a:rPr>
              <a:t>Input layer: </a:t>
            </a:r>
            <a:r>
              <a:rPr lang="ko-KR" altLang="en-US" sz="1500" dirty="0">
                <a:latin typeface="+mn-ea"/>
                <a:cs typeface="Times New Roman" panose="02020603050405020304" pitchFamily="18" charset="0"/>
              </a:rPr>
              <a:t>데이터를 처음 받아들이는 계층</a:t>
            </a:r>
            <a:endParaRPr lang="en-US" altLang="ko-KR" sz="1500" dirty="0">
              <a:latin typeface="+mn-ea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500" dirty="0">
                <a:latin typeface="+mn-ea"/>
                <a:cs typeface="Times New Roman" panose="02020603050405020304" pitchFamily="18" charset="0"/>
              </a:rPr>
              <a:t>Hidden layer: </a:t>
            </a:r>
            <a:r>
              <a:rPr lang="ko-KR" altLang="en-US" sz="1500" dirty="0">
                <a:latin typeface="+mn-ea"/>
                <a:cs typeface="Times New Roman" panose="02020603050405020304" pitchFamily="18" charset="0"/>
              </a:rPr>
              <a:t>입력층과 </a:t>
            </a:r>
            <a:r>
              <a:rPr lang="ko-KR" altLang="en-US" sz="1500" dirty="0" err="1">
                <a:latin typeface="+mn-ea"/>
                <a:cs typeface="Times New Roman" panose="02020603050405020304" pitchFamily="18" charset="0"/>
              </a:rPr>
              <a:t>출력층</a:t>
            </a:r>
            <a:r>
              <a:rPr lang="ko-KR" altLang="en-US" sz="1500" dirty="0">
                <a:latin typeface="+mn-ea"/>
                <a:cs typeface="Times New Roman" panose="02020603050405020304" pitchFamily="18" charset="0"/>
              </a:rPr>
              <a:t> 사이에 위치</a:t>
            </a:r>
            <a:r>
              <a:rPr lang="en-US" altLang="ko-KR" sz="1500" dirty="0">
                <a:latin typeface="+mn-ea"/>
                <a:cs typeface="Times New Roman" panose="02020603050405020304" pitchFamily="18" charset="0"/>
              </a:rPr>
              <a:t>, </a:t>
            </a:r>
            <a:r>
              <a:rPr lang="ko-KR" altLang="en-US" sz="1500" dirty="0">
                <a:latin typeface="+mn-ea"/>
                <a:cs typeface="Times New Roman" panose="02020603050405020304" pitchFamily="18" charset="0"/>
              </a:rPr>
              <a:t>여러 층을 쌓아 </a:t>
            </a:r>
            <a:r>
              <a:rPr lang="en-US" altLang="ko-KR" sz="1500" dirty="0">
                <a:latin typeface="+mn-ea"/>
                <a:cs typeface="Times New Roman" panose="02020603050405020304" pitchFamily="18" charset="0"/>
              </a:rPr>
              <a:t>Deep </a:t>
            </a:r>
            <a:r>
              <a:rPr lang="ko-KR" altLang="en-US" sz="1500" dirty="0">
                <a:latin typeface="+mn-ea"/>
                <a:cs typeface="Times New Roman" panose="02020603050405020304" pitchFamily="18" charset="0"/>
              </a:rPr>
              <a:t>신경망을 형성</a:t>
            </a:r>
            <a:endParaRPr lang="en-US" altLang="ko-KR" sz="1500" dirty="0">
              <a:latin typeface="+mn-ea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500" dirty="0">
                <a:latin typeface="+mn-ea"/>
                <a:cs typeface="Times New Roman" panose="02020603050405020304" pitchFamily="18" charset="0"/>
              </a:rPr>
              <a:t>Output layer: </a:t>
            </a:r>
            <a:r>
              <a:rPr lang="ko-KR" altLang="en-US" sz="1500" dirty="0">
                <a:latin typeface="+mn-ea"/>
                <a:cs typeface="Times New Roman" panose="02020603050405020304" pitchFamily="18" charset="0"/>
              </a:rPr>
              <a:t>최종 결과를 내보내는 계층으로</a:t>
            </a:r>
            <a:r>
              <a:rPr lang="en-US" altLang="ko-KR" sz="1500" dirty="0">
                <a:latin typeface="+mn-ea"/>
                <a:cs typeface="Times New Roman" panose="02020603050405020304" pitchFamily="18" charset="0"/>
              </a:rPr>
              <a:t>, </a:t>
            </a:r>
            <a:r>
              <a:rPr lang="ko-KR" altLang="en-US" sz="1500" dirty="0">
                <a:latin typeface="+mn-ea"/>
                <a:cs typeface="Times New Roman" panose="02020603050405020304" pitchFamily="18" charset="0"/>
              </a:rPr>
              <a:t>분류 문제에서는 </a:t>
            </a:r>
            <a:r>
              <a:rPr lang="en-US" altLang="ko-KR" sz="1500" dirty="0" err="1">
                <a:latin typeface="+mn-ea"/>
                <a:cs typeface="Times New Roman" panose="02020603050405020304" pitchFamily="18" charset="0"/>
              </a:rPr>
              <a:t>Softmax</a:t>
            </a:r>
            <a:r>
              <a:rPr lang="en-US" altLang="ko-KR" sz="1500" dirty="0">
                <a:latin typeface="+mn-ea"/>
                <a:cs typeface="Times New Roman" panose="02020603050405020304" pitchFamily="18" charset="0"/>
              </a:rPr>
              <a:t> </a:t>
            </a:r>
            <a:r>
              <a:rPr lang="ko-KR" altLang="en-US" sz="1500" dirty="0">
                <a:latin typeface="+mn-ea"/>
                <a:cs typeface="Times New Roman" panose="02020603050405020304" pitchFamily="18" charset="0"/>
              </a:rPr>
              <a:t>같은 함수로 확률을</a:t>
            </a:r>
            <a:r>
              <a:rPr lang="en-US" altLang="ko-KR" sz="1500" dirty="0">
                <a:latin typeface="+mn-ea"/>
                <a:cs typeface="Times New Roman" panose="02020603050405020304" pitchFamily="18" charset="0"/>
              </a:rPr>
              <a:t>, </a:t>
            </a:r>
            <a:r>
              <a:rPr lang="ko-KR" altLang="en-US" sz="1500" dirty="0">
                <a:latin typeface="+mn-ea"/>
                <a:cs typeface="Times New Roman" panose="02020603050405020304" pitchFamily="18" charset="0"/>
              </a:rPr>
              <a:t>회귀 문제에서는 </a:t>
            </a:r>
            <a:r>
              <a:rPr lang="ko-KR" altLang="en-US" sz="1500" dirty="0" err="1">
                <a:latin typeface="+mn-ea"/>
                <a:cs typeface="Times New Roman" panose="02020603050405020304" pitchFamily="18" charset="0"/>
              </a:rPr>
              <a:t>예측값을</a:t>
            </a:r>
            <a:r>
              <a:rPr lang="ko-KR" altLang="en-US" sz="1500" dirty="0">
                <a:latin typeface="+mn-ea"/>
                <a:cs typeface="Times New Roman" panose="02020603050405020304" pitchFamily="18" charset="0"/>
              </a:rPr>
              <a:t> 출력</a:t>
            </a:r>
            <a:endParaRPr lang="en-US" altLang="ko-KR" sz="1500" dirty="0">
              <a:latin typeface="+mn-ea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500" dirty="0">
              <a:latin typeface="+mn-ea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500" dirty="0">
                <a:latin typeface="+mn-ea"/>
                <a:cs typeface="Times New Roman" panose="02020603050405020304" pitchFamily="18" charset="0"/>
              </a:rPr>
              <a:t>Weight &amp; Bias:</a:t>
            </a:r>
            <a:r>
              <a:rPr lang="ko-KR" altLang="en-US" sz="1500" dirty="0">
                <a:latin typeface="+mn-ea"/>
                <a:cs typeface="Times New Roman" panose="02020603050405020304" pitchFamily="18" charset="0"/>
              </a:rPr>
              <a:t> 뉴런 간 연결 강도를 나타냄</a:t>
            </a:r>
            <a:endParaRPr lang="en-US" altLang="ko-KR" sz="1500" dirty="0">
              <a:latin typeface="+mn-ea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500" dirty="0">
                <a:latin typeface="+mn-ea"/>
                <a:cs typeface="Times New Roman" panose="02020603050405020304" pitchFamily="18" charset="0"/>
              </a:rPr>
              <a:t>Activation function: </a:t>
            </a:r>
            <a:r>
              <a:rPr lang="ko-KR" altLang="en-US" sz="1500" dirty="0">
                <a:latin typeface="+mn-ea"/>
                <a:cs typeface="Times New Roman" panose="02020603050405020304" pitchFamily="18" charset="0"/>
              </a:rPr>
              <a:t>뉴런의 출력에 비선형성을 부여 </a:t>
            </a:r>
            <a:r>
              <a:rPr lang="en-US" altLang="ko-KR" sz="1500" dirty="0">
                <a:latin typeface="+mn-ea"/>
                <a:cs typeface="Times New Roman" panose="02020603050405020304" pitchFamily="18" charset="0"/>
              </a:rPr>
              <a:t>ex) Sigmoid, tanh,</a:t>
            </a:r>
            <a:r>
              <a:rPr lang="ko-KR" altLang="en-US" sz="1500" dirty="0">
                <a:latin typeface="+mn-ea"/>
                <a:cs typeface="Times New Roman" panose="02020603050405020304" pitchFamily="18" charset="0"/>
              </a:rPr>
              <a:t> </a:t>
            </a:r>
            <a:r>
              <a:rPr lang="en-US" altLang="ko-KR" sz="1500" dirty="0" err="1">
                <a:latin typeface="+mn-ea"/>
                <a:cs typeface="Times New Roman" panose="02020603050405020304" pitchFamily="18" charset="0"/>
              </a:rPr>
              <a:t>ReLU</a:t>
            </a:r>
            <a:r>
              <a:rPr lang="en-US" altLang="ko-KR" sz="1500" dirty="0">
                <a:latin typeface="+mn-ea"/>
                <a:cs typeface="Times New Roman" panose="02020603050405020304" pitchFamily="18" charset="0"/>
              </a:rPr>
              <a:t>, </a:t>
            </a:r>
            <a:r>
              <a:rPr lang="en-US" altLang="ko-KR" sz="1500" dirty="0" err="1">
                <a:latin typeface="+mn-ea"/>
                <a:cs typeface="Times New Roman" panose="02020603050405020304" pitchFamily="18" charset="0"/>
              </a:rPr>
              <a:t>GeLU</a:t>
            </a:r>
            <a:r>
              <a:rPr lang="en-US" altLang="ko-KR" sz="1500" dirty="0">
                <a:latin typeface="+mn-ea"/>
                <a:cs typeface="Times New Roman" panose="02020603050405020304" pitchFamily="18" charset="0"/>
              </a:rPr>
              <a:t>, </a:t>
            </a:r>
            <a:r>
              <a:rPr lang="en-US" altLang="ko-KR" sz="1500" dirty="0" err="1">
                <a:latin typeface="+mn-ea"/>
                <a:cs typeface="Times New Roman" panose="02020603050405020304" pitchFamily="18" charset="0"/>
              </a:rPr>
              <a:t>Softmax</a:t>
            </a:r>
            <a:endParaRPr lang="en-US" altLang="ko-KR" sz="1500" dirty="0">
              <a:latin typeface="+mn-ea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500" dirty="0">
              <a:latin typeface="+mn-ea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500" dirty="0">
                <a:latin typeface="+mn-ea"/>
                <a:cs typeface="Times New Roman" panose="02020603050405020304" pitchFamily="18" charset="0"/>
              </a:rPr>
              <a:t>Normalization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altLang="ko-KR" sz="1500" dirty="0">
                <a:latin typeface="+mn-ea"/>
                <a:cs typeface="Times New Roman" panose="02020603050405020304" pitchFamily="18" charset="0"/>
              </a:rPr>
              <a:t>Input data: Min-Max scaling, Z-score standardization, Median &amp; IQR based scaling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altLang="ko-KR" sz="1500" dirty="0">
                <a:latin typeface="+mn-ea"/>
                <a:cs typeface="Times New Roman" panose="02020603050405020304" pitchFamily="18" charset="0"/>
              </a:rPr>
              <a:t>Layer </a:t>
            </a:r>
            <a:r>
              <a:rPr lang="ko-KR" altLang="en-US" sz="1500" dirty="0">
                <a:latin typeface="+mn-ea"/>
                <a:cs typeface="Times New Roman" panose="02020603050405020304" pitchFamily="18" charset="0"/>
              </a:rPr>
              <a:t>내부</a:t>
            </a:r>
            <a:endParaRPr lang="en-US" altLang="ko-KR" sz="1500" dirty="0">
              <a:latin typeface="+mn-ea"/>
              <a:cs typeface="Times New Roman" panose="02020603050405020304" pitchFamily="18" charset="0"/>
            </a:endParaRPr>
          </a:p>
          <a:p>
            <a:pPr marL="1200150" lvl="2" indent="-285750">
              <a:buFontTx/>
              <a:buChar char="-"/>
            </a:pPr>
            <a:r>
              <a:rPr lang="en-US" altLang="ko-KR" sz="1500" dirty="0">
                <a:latin typeface="+mn-ea"/>
                <a:cs typeface="Times New Roman" panose="02020603050405020304" pitchFamily="18" charset="0"/>
              </a:rPr>
              <a:t>Batch</a:t>
            </a:r>
            <a:r>
              <a:rPr lang="ko-KR" altLang="en-US" sz="1500" dirty="0">
                <a:latin typeface="+mn-ea"/>
                <a:cs typeface="Times New Roman" panose="02020603050405020304" pitchFamily="18" charset="0"/>
              </a:rPr>
              <a:t> </a:t>
            </a:r>
            <a:r>
              <a:rPr lang="en-US" altLang="ko-KR" sz="1500" dirty="0">
                <a:latin typeface="+mn-ea"/>
                <a:cs typeface="Times New Roman" panose="02020603050405020304" pitchFamily="18" charset="0"/>
              </a:rPr>
              <a:t>normalization</a:t>
            </a:r>
            <a:r>
              <a:rPr lang="ko-KR" altLang="en-US" sz="1500" dirty="0">
                <a:latin typeface="+mn-ea"/>
                <a:cs typeface="Times New Roman" panose="02020603050405020304" pitchFamily="18" charset="0"/>
              </a:rPr>
              <a:t> </a:t>
            </a:r>
            <a:r>
              <a:rPr lang="en-US" altLang="ko-KR" sz="1500" dirty="0">
                <a:latin typeface="+mn-ea"/>
                <a:cs typeface="Times New Roman" panose="02020603050405020304" pitchFamily="18" charset="0"/>
              </a:rPr>
              <a:t>(BN)</a:t>
            </a:r>
          </a:p>
          <a:p>
            <a:pPr marL="1657350" lvl="3" indent="-285750">
              <a:buFont typeface="맑은 고딕" panose="020B0503020000020004" pitchFamily="50" charset="-127"/>
              <a:buChar char="√"/>
            </a:pPr>
            <a:r>
              <a:rPr lang="en-US" altLang="ko-KR" sz="1500" dirty="0">
                <a:latin typeface="+mn-ea"/>
                <a:cs typeface="Times New Roman" panose="02020603050405020304" pitchFamily="18" charset="0"/>
              </a:rPr>
              <a:t>Mini-Batch </a:t>
            </a:r>
            <a:r>
              <a:rPr lang="ko-KR" altLang="en-US" sz="1500" dirty="0">
                <a:latin typeface="+mn-ea"/>
                <a:cs typeface="Times New Roman" panose="02020603050405020304" pitchFamily="18" charset="0"/>
              </a:rPr>
              <a:t>별로 입력 데이터</a:t>
            </a:r>
            <a:r>
              <a:rPr lang="en-US" altLang="ko-KR" sz="1500" dirty="0">
                <a:latin typeface="+mn-ea"/>
                <a:cs typeface="Times New Roman" panose="02020603050405020304" pitchFamily="18" charset="0"/>
              </a:rPr>
              <a:t>(feature)</a:t>
            </a:r>
            <a:r>
              <a:rPr lang="ko-KR" altLang="en-US" sz="1500" dirty="0">
                <a:latin typeface="+mn-ea"/>
                <a:cs typeface="Times New Roman" panose="02020603050405020304" pitchFamily="18" charset="0"/>
              </a:rPr>
              <a:t> 각각의 평균과 분산을 각각 구해서 해당 </a:t>
            </a:r>
            <a:r>
              <a:rPr lang="en-US" altLang="ko-KR" sz="1500" dirty="0">
                <a:latin typeface="+mn-ea"/>
                <a:cs typeface="Times New Roman" panose="02020603050405020304" pitchFamily="18" charset="0"/>
              </a:rPr>
              <a:t>batch</a:t>
            </a:r>
            <a:r>
              <a:rPr lang="ko-KR" altLang="en-US" sz="1500" dirty="0">
                <a:latin typeface="+mn-ea"/>
                <a:cs typeface="Times New Roman" panose="02020603050405020304" pitchFamily="18" charset="0"/>
              </a:rPr>
              <a:t>에 대해 정규화 진행 </a:t>
            </a:r>
            <a:r>
              <a:rPr lang="en-US" altLang="ko-KR" sz="1500" dirty="0">
                <a:latin typeface="+mn-ea"/>
                <a:cs typeface="Times New Roman" panose="02020603050405020304" pitchFamily="18" charset="0"/>
              </a:rPr>
              <a:t>(batch </a:t>
            </a:r>
            <a:r>
              <a:rPr lang="ko-KR" altLang="en-US" sz="1500" dirty="0">
                <a:latin typeface="+mn-ea"/>
                <a:cs typeface="Times New Roman" panose="02020603050405020304" pitchFamily="18" charset="0"/>
              </a:rPr>
              <a:t>별로 </a:t>
            </a:r>
            <a:r>
              <a:rPr lang="en-US" altLang="ko-KR" sz="1500" dirty="0">
                <a:latin typeface="+mn-ea"/>
                <a:cs typeface="Times New Roman" panose="02020603050405020304" pitchFamily="18" charset="0"/>
              </a:rPr>
              <a:t>feature </a:t>
            </a:r>
            <a:r>
              <a:rPr lang="ko-KR" altLang="en-US" sz="1500" dirty="0">
                <a:latin typeface="+mn-ea"/>
                <a:cs typeface="Times New Roman" panose="02020603050405020304" pitchFamily="18" charset="0"/>
              </a:rPr>
              <a:t>개수만큼 평균과 표준편차가 </a:t>
            </a:r>
            <a:r>
              <a:rPr lang="ko-KR" altLang="en-US" sz="1500" dirty="0" err="1">
                <a:latin typeface="+mn-ea"/>
                <a:cs typeface="Times New Roman" panose="02020603050405020304" pitchFamily="18" charset="0"/>
              </a:rPr>
              <a:t>구해짐</a:t>
            </a:r>
            <a:r>
              <a:rPr lang="en-US" altLang="ko-KR" sz="1500" dirty="0">
                <a:latin typeface="+mn-ea"/>
                <a:cs typeface="Times New Roman" panose="02020603050405020304" pitchFamily="18" charset="0"/>
              </a:rPr>
              <a:t>)</a:t>
            </a:r>
          </a:p>
          <a:p>
            <a:pPr marL="1657350" lvl="3" indent="-285750">
              <a:buFont typeface="맑은 고딕" panose="020B0503020000020004" pitchFamily="50" charset="-127"/>
              <a:buChar char="√"/>
            </a:pPr>
            <a:r>
              <a:rPr lang="ko-KR" altLang="en-US" sz="1500" dirty="0">
                <a:latin typeface="+mn-ea"/>
                <a:cs typeface="Times New Roman" panose="02020603050405020304" pitchFamily="18" charset="0"/>
              </a:rPr>
              <a:t>정규화 이후 학습 가능한 </a:t>
            </a:r>
            <a:r>
              <a:rPr lang="en-US" altLang="ko-KR" sz="1500" dirty="0">
                <a:latin typeface="+mn-ea"/>
                <a:cs typeface="Times New Roman" panose="02020603050405020304" pitchFamily="18" charset="0"/>
              </a:rPr>
              <a:t>scaling </a:t>
            </a:r>
            <a:r>
              <a:rPr lang="ko-KR" altLang="en-US" sz="1500" dirty="0">
                <a:latin typeface="+mn-ea"/>
                <a:cs typeface="Times New Roman" panose="02020603050405020304" pitchFamily="18" charset="0"/>
              </a:rPr>
              <a:t>및 </a:t>
            </a:r>
            <a:r>
              <a:rPr lang="en-US" altLang="ko-KR" sz="1500" dirty="0">
                <a:latin typeface="+mn-ea"/>
                <a:cs typeface="Times New Roman" panose="02020603050405020304" pitchFamily="18" charset="0"/>
              </a:rPr>
              <a:t>shift factor </a:t>
            </a:r>
            <a:r>
              <a:rPr lang="ko-KR" altLang="en-US" sz="1500" dirty="0">
                <a:latin typeface="+mn-ea"/>
                <a:cs typeface="Times New Roman" panose="02020603050405020304" pitchFamily="18" charset="0"/>
              </a:rPr>
              <a:t>추가 </a:t>
            </a:r>
            <a:r>
              <a:rPr lang="en-US" altLang="ko-KR" sz="1500" dirty="0">
                <a:latin typeface="+mn-ea"/>
                <a:cs typeface="Times New Roman" panose="02020603050405020304" pitchFamily="18" charset="0"/>
              </a:rPr>
              <a:t>(</a:t>
            </a:r>
            <a:r>
              <a:rPr lang="ko-KR" altLang="en-US" sz="1500" dirty="0">
                <a:latin typeface="+mn-ea"/>
                <a:cs typeface="Times New Roman" panose="02020603050405020304" pitchFamily="18" charset="0"/>
              </a:rPr>
              <a:t>없을 경우</a:t>
            </a:r>
            <a:r>
              <a:rPr lang="en-US" altLang="ko-KR" sz="1500" dirty="0">
                <a:latin typeface="+mn-ea"/>
                <a:cs typeface="Times New Roman" panose="02020603050405020304" pitchFamily="18" charset="0"/>
              </a:rPr>
              <a:t>, </a:t>
            </a:r>
            <a:r>
              <a:rPr lang="ko-KR" altLang="en-US" sz="1500" dirty="0">
                <a:latin typeface="+mn-ea"/>
                <a:cs typeface="Times New Roman" panose="02020603050405020304" pitchFamily="18" charset="0"/>
              </a:rPr>
              <a:t>정규 분포의 중심부에 대부분의 데이터가 분포되므로 비선형성이 제거된 형태가 됨</a:t>
            </a:r>
            <a:r>
              <a:rPr lang="en-US" altLang="ko-KR" sz="1500" dirty="0">
                <a:latin typeface="+mn-ea"/>
                <a:cs typeface="Times New Roman" panose="02020603050405020304" pitchFamily="18" charset="0"/>
              </a:rPr>
              <a:t>) </a:t>
            </a:r>
            <a:r>
              <a:rPr lang="en-US" altLang="ko-KR" sz="1500" dirty="0">
                <a:latin typeface="+mn-ea"/>
                <a:cs typeface="Times New Roman" panose="02020603050405020304" pitchFamily="18" charset="0"/>
                <a:sym typeface="Wingdings" panose="05000000000000000000" pitchFamily="2" charset="2"/>
              </a:rPr>
              <a:t> Inference </a:t>
            </a:r>
            <a:r>
              <a:rPr lang="ko-KR" altLang="en-US" sz="1500" dirty="0">
                <a:latin typeface="+mn-ea"/>
                <a:cs typeface="Times New Roman" panose="02020603050405020304" pitchFamily="18" charset="0"/>
                <a:sym typeface="Wingdings" panose="05000000000000000000" pitchFamily="2" charset="2"/>
              </a:rPr>
              <a:t>단계에서도 사용</a:t>
            </a:r>
            <a:endParaRPr lang="en-US" altLang="ko-KR" sz="1500" dirty="0">
              <a:latin typeface="+mn-ea"/>
              <a:cs typeface="Times New Roman" panose="02020603050405020304" pitchFamily="18" charset="0"/>
            </a:endParaRPr>
          </a:p>
          <a:p>
            <a:pPr marL="1657350" lvl="3" indent="-285750">
              <a:buFont typeface="맑은 고딕" panose="020B0503020000020004" pitchFamily="50" charset="-127"/>
              <a:buChar char="√"/>
            </a:pPr>
            <a:r>
              <a:rPr lang="ko-KR" altLang="en-US" sz="1500" dirty="0">
                <a:latin typeface="+mn-ea"/>
                <a:cs typeface="Times New Roman" panose="02020603050405020304" pitchFamily="18" charset="0"/>
              </a:rPr>
              <a:t>각 </a:t>
            </a:r>
            <a:r>
              <a:rPr lang="en-US" altLang="ko-KR" sz="1500" dirty="0">
                <a:latin typeface="+mn-ea"/>
                <a:cs typeface="Times New Roman" panose="02020603050405020304" pitchFamily="18" charset="0"/>
              </a:rPr>
              <a:t>layer </a:t>
            </a:r>
            <a:r>
              <a:rPr lang="ko-KR" altLang="en-US" sz="1500" dirty="0">
                <a:latin typeface="+mn-ea"/>
                <a:cs typeface="Times New Roman" panose="02020603050405020304" pitchFamily="18" charset="0"/>
              </a:rPr>
              <a:t>출력의 분포가 거의 고정이기 때문에 </a:t>
            </a:r>
            <a:r>
              <a:rPr lang="en-US" altLang="ko-KR" sz="1500" dirty="0">
                <a:latin typeface="+mn-ea"/>
                <a:cs typeface="Times New Roman" panose="02020603050405020304" pitchFamily="18" charset="0"/>
              </a:rPr>
              <a:t>Learning rate</a:t>
            </a:r>
            <a:r>
              <a:rPr lang="ko-KR" altLang="en-US" sz="1500" dirty="0">
                <a:latin typeface="+mn-ea"/>
                <a:cs typeface="Times New Roman" panose="02020603050405020304" pitchFamily="18" charset="0"/>
              </a:rPr>
              <a:t>를 키워도 됨</a:t>
            </a:r>
            <a:endParaRPr lang="en-US" altLang="ko-KR" sz="1500" dirty="0">
              <a:latin typeface="+mn-ea"/>
              <a:cs typeface="Times New Roman" panose="02020603050405020304" pitchFamily="18" charset="0"/>
            </a:endParaRPr>
          </a:p>
          <a:p>
            <a:pPr marL="1657350" lvl="3" indent="-285750">
              <a:buFont typeface="맑은 고딕" panose="020B0503020000020004" pitchFamily="50" charset="-127"/>
              <a:buChar char="√"/>
            </a:pPr>
            <a:r>
              <a:rPr lang="en-US" altLang="ko-KR" sz="1500" dirty="0">
                <a:latin typeface="+mn-ea"/>
                <a:cs typeface="Times New Roman" panose="02020603050405020304" pitchFamily="18" charset="0"/>
              </a:rPr>
              <a:t>Inference</a:t>
            </a:r>
            <a:r>
              <a:rPr lang="ko-KR" altLang="en-US" sz="1500" dirty="0">
                <a:latin typeface="+mn-ea"/>
                <a:cs typeface="Times New Roman" panose="02020603050405020304" pitchFamily="18" charset="0"/>
              </a:rPr>
              <a:t>에서는 모든 </a:t>
            </a:r>
            <a:r>
              <a:rPr lang="en-US" altLang="ko-KR" sz="1500" dirty="0">
                <a:latin typeface="+mn-ea"/>
                <a:cs typeface="Times New Roman" panose="02020603050405020304" pitchFamily="18" charset="0"/>
              </a:rPr>
              <a:t>Batch</a:t>
            </a:r>
            <a:r>
              <a:rPr lang="ko-KR" altLang="en-US" sz="1500" dirty="0">
                <a:latin typeface="+mn-ea"/>
                <a:cs typeface="Times New Roman" panose="02020603050405020304" pitchFamily="18" charset="0"/>
              </a:rPr>
              <a:t>의 평균과 분산을 이용하여 구한 </a:t>
            </a:r>
            <a:r>
              <a:rPr lang="en-US" altLang="ko-KR" sz="1500" dirty="0">
                <a:latin typeface="+mn-ea"/>
                <a:cs typeface="Times New Roman" panose="02020603050405020304" pitchFamily="18" charset="0"/>
              </a:rPr>
              <a:t>running </a:t>
            </a:r>
            <a:r>
              <a:rPr lang="ko-KR" altLang="en-US" sz="1500" dirty="0">
                <a:latin typeface="+mn-ea"/>
                <a:cs typeface="Times New Roman" panose="02020603050405020304" pitchFamily="18" charset="0"/>
              </a:rPr>
              <a:t>평균과 분산을 이용</a:t>
            </a:r>
            <a:endParaRPr lang="en-US" altLang="ko-KR" sz="1500" dirty="0">
              <a:latin typeface="+mn-ea"/>
              <a:cs typeface="Times New Roman" panose="02020603050405020304" pitchFamily="18" charset="0"/>
            </a:endParaRPr>
          </a:p>
          <a:p>
            <a:pPr marL="1657350" lvl="3" indent="-285750">
              <a:buFont typeface="맑은 고딕" panose="020B0503020000020004" pitchFamily="50" charset="-127"/>
              <a:buChar char="√"/>
            </a:pPr>
            <a:r>
              <a:rPr lang="en-US" altLang="ko-KR" sz="1500" dirty="0">
                <a:latin typeface="+mn-ea"/>
                <a:cs typeface="Times New Roman" panose="02020603050405020304" pitchFamily="18" charset="0"/>
              </a:rPr>
              <a:t>Feedforward</a:t>
            </a:r>
            <a:r>
              <a:rPr lang="ko-KR" altLang="en-US" sz="1500" dirty="0">
                <a:latin typeface="+mn-ea"/>
                <a:cs typeface="Times New Roman" panose="02020603050405020304" pitchFamily="18" charset="0"/>
              </a:rPr>
              <a:t> 기반의 </a:t>
            </a:r>
            <a:r>
              <a:rPr lang="en-US" altLang="ko-KR" sz="1500" dirty="0">
                <a:latin typeface="+mn-ea"/>
                <a:cs typeface="Times New Roman" panose="02020603050405020304" pitchFamily="18" charset="0"/>
              </a:rPr>
              <a:t>FC, CNN</a:t>
            </a:r>
            <a:r>
              <a:rPr lang="ko-KR" altLang="en-US" sz="1500" dirty="0">
                <a:latin typeface="+mn-ea"/>
                <a:cs typeface="Times New Roman" panose="02020603050405020304" pitchFamily="18" charset="0"/>
              </a:rPr>
              <a:t>에서 가장 널리 사용됨</a:t>
            </a:r>
            <a:r>
              <a:rPr lang="en-US" altLang="ko-KR" sz="1500" dirty="0">
                <a:latin typeface="+mn-ea"/>
                <a:cs typeface="Times New Roman" panose="02020603050405020304" pitchFamily="18" charset="0"/>
              </a:rPr>
              <a:t>, RNN </a:t>
            </a:r>
            <a:r>
              <a:rPr lang="ko-KR" altLang="en-US" sz="1500" dirty="0">
                <a:latin typeface="+mn-ea"/>
                <a:cs typeface="Times New Roman" panose="02020603050405020304" pitchFamily="18" charset="0"/>
              </a:rPr>
              <a:t>같은 </a:t>
            </a:r>
            <a:r>
              <a:rPr lang="en-US" altLang="ko-KR" sz="1500" dirty="0">
                <a:latin typeface="+mn-ea"/>
                <a:cs typeface="Times New Roman" panose="02020603050405020304" pitchFamily="18" charset="0"/>
              </a:rPr>
              <a:t>sequential model</a:t>
            </a:r>
            <a:r>
              <a:rPr lang="ko-KR" altLang="en-US" sz="1500" dirty="0">
                <a:latin typeface="+mn-ea"/>
                <a:cs typeface="Times New Roman" panose="02020603050405020304" pitchFamily="18" charset="0"/>
              </a:rPr>
              <a:t>에 적용이 어려움</a:t>
            </a:r>
            <a:endParaRPr lang="en-US" altLang="ko-KR" sz="1500" dirty="0">
              <a:latin typeface="+mn-ea"/>
              <a:cs typeface="Times New Roman" panose="02020603050405020304" pitchFamily="18" charset="0"/>
            </a:endParaRPr>
          </a:p>
          <a:p>
            <a:pPr marL="1657350" lvl="3" indent="-285750">
              <a:buFont typeface="맑은 고딕" panose="020B0503020000020004" pitchFamily="50" charset="-127"/>
              <a:buChar char="√"/>
            </a:pPr>
            <a:r>
              <a:rPr lang="en-US" altLang="ko-KR" sz="1500" dirty="0">
                <a:latin typeface="+mn-ea"/>
                <a:cs typeface="Times New Roman" panose="02020603050405020304" pitchFamily="18" charset="0"/>
              </a:rPr>
              <a:t>Batch size</a:t>
            </a:r>
            <a:r>
              <a:rPr lang="ko-KR" altLang="en-US" sz="1500" dirty="0">
                <a:latin typeface="+mn-ea"/>
                <a:cs typeface="Times New Roman" panose="02020603050405020304" pitchFamily="18" charset="0"/>
              </a:rPr>
              <a:t>가 작아지면 불안정</a:t>
            </a:r>
            <a:endParaRPr lang="en-US" altLang="ko-KR" sz="1500" dirty="0">
              <a:latin typeface="+mn-ea"/>
              <a:cs typeface="Times New Roman" panose="02020603050405020304" pitchFamily="18" charset="0"/>
            </a:endParaRPr>
          </a:p>
          <a:p>
            <a:pPr marL="1657350" lvl="3" indent="-285750">
              <a:buFont typeface="맑은 고딕" panose="020B0503020000020004" pitchFamily="50" charset="-127"/>
              <a:buChar char="√"/>
            </a:pPr>
            <a:endParaRPr lang="en-US" altLang="ko-KR" sz="1500" dirty="0">
              <a:latin typeface="+mn-ea"/>
              <a:cs typeface="Times New Roman" panose="02020603050405020304" pitchFamily="18" charset="0"/>
            </a:endParaRPr>
          </a:p>
          <a:p>
            <a:pPr marL="1200150" lvl="2" indent="-285750">
              <a:buFontTx/>
              <a:buChar char="-"/>
            </a:pPr>
            <a:r>
              <a:rPr lang="en-US" altLang="ko-KR" sz="1500" dirty="0">
                <a:latin typeface="+mn-ea"/>
                <a:cs typeface="Times New Roman" panose="02020603050405020304" pitchFamily="18" charset="0"/>
              </a:rPr>
              <a:t>Layer normalization (LN)</a:t>
            </a:r>
          </a:p>
          <a:p>
            <a:pPr marL="1657350" lvl="3" indent="-285750">
              <a:buFont typeface="맑은 고딕" panose="020B0503020000020004" pitchFamily="50" charset="-127"/>
              <a:buChar char="√"/>
            </a:pPr>
            <a:r>
              <a:rPr lang="en-US" altLang="ko-KR" sz="1500" dirty="0">
                <a:latin typeface="+mn-ea"/>
                <a:cs typeface="Times New Roman" panose="02020603050405020304" pitchFamily="18" charset="0"/>
              </a:rPr>
              <a:t>Batch normalization</a:t>
            </a:r>
            <a:r>
              <a:rPr lang="ko-KR" altLang="en-US" sz="1500" dirty="0">
                <a:latin typeface="+mn-ea"/>
                <a:cs typeface="Times New Roman" panose="02020603050405020304" pitchFamily="18" charset="0"/>
              </a:rPr>
              <a:t>이 가진 </a:t>
            </a:r>
            <a:r>
              <a:rPr lang="en-US" altLang="ko-KR" sz="1500" dirty="0">
                <a:latin typeface="+mn-ea"/>
                <a:cs typeface="Times New Roman" panose="02020603050405020304" pitchFamily="18" charset="0"/>
              </a:rPr>
              <a:t>Batch</a:t>
            </a:r>
            <a:r>
              <a:rPr lang="ko-KR" altLang="en-US" sz="1500" dirty="0">
                <a:latin typeface="+mn-ea"/>
                <a:cs typeface="Times New Roman" panose="02020603050405020304" pitchFamily="18" charset="0"/>
              </a:rPr>
              <a:t>에 대한 의존도를 제거하고자 </a:t>
            </a:r>
            <a:r>
              <a:rPr lang="en-US" altLang="ko-KR" sz="1500" dirty="0">
                <a:latin typeface="+mn-ea"/>
                <a:cs typeface="Times New Roman" panose="02020603050405020304" pitchFamily="18" charset="0"/>
              </a:rPr>
              <a:t>layer </a:t>
            </a:r>
            <a:r>
              <a:rPr lang="ko-KR" altLang="en-US" sz="1500" dirty="0">
                <a:latin typeface="+mn-ea"/>
                <a:cs typeface="Times New Roman" panose="02020603050405020304" pitchFamily="18" charset="0"/>
              </a:rPr>
              <a:t>기반의 샘플 단위로 정규화 진행 </a:t>
            </a:r>
            <a:r>
              <a:rPr lang="en-US" altLang="ko-KR" sz="1500" dirty="0">
                <a:latin typeface="+mn-ea"/>
                <a:cs typeface="Times New Roman" panose="02020603050405020304" pitchFamily="18" charset="0"/>
              </a:rPr>
              <a:t>(batch </a:t>
            </a:r>
            <a:r>
              <a:rPr lang="ko-KR" altLang="en-US" sz="1500" dirty="0">
                <a:latin typeface="+mn-ea"/>
                <a:cs typeface="Times New Roman" panose="02020603050405020304" pitchFamily="18" charset="0"/>
              </a:rPr>
              <a:t>별로 </a:t>
            </a:r>
            <a:r>
              <a:rPr lang="en-US" altLang="ko-KR" sz="1500" dirty="0">
                <a:latin typeface="+mn-ea"/>
                <a:cs typeface="Times New Roman" panose="02020603050405020304" pitchFamily="18" charset="0"/>
              </a:rPr>
              <a:t>batch size </a:t>
            </a:r>
            <a:r>
              <a:rPr lang="ko-KR" altLang="en-US" sz="1500" dirty="0">
                <a:latin typeface="+mn-ea"/>
                <a:cs typeface="Times New Roman" panose="02020603050405020304" pitchFamily="18" charset="0"/>
              </a:rPr>
              <a:t>만큼의 평균과 표준편차가 </a:t>
            </a:r>
            <a:r>
              <a:rPr lang="ko-KR" altLang="en-US" sz="1500" dirty="0" err="1">
                <a:latin typeface="+mn-ea"/>
                <a:cs typeface="Times New Roman" panose="02020603050405020304" pitchFamily="18" charset="0"/>
              </a:rPr>
              <a:t>구해짐</a:t>
            </a:r>
            <a:r>
              <a:rPr lang="en-US" altLang="ko-KR" sz="1500" dirty="0">
                <a:latin typeface="+mn-ea"/>
                <a:cs typeface="Times New Roman" panose="02020603050405020304" pitchFamily="18" charset="0"/>
              </a:rPr>
              <a:t>)</a:t>
            </a:r>
          </a:p>
          <a:p>
            <a:pPr marL="1657350" lvl="3" indent="-285750">
              <a:buFont typeface="맑은 고딕" panose="020B0503020000020004" pitchFamily="50" charset="-127"/>
              <a:buChar char="√"/>
            </a:pPr>
            <a:r>
              <a:rPr lang="ko-KR" altLang="en-US" sz="1500" dirty="0">
                <a:latin typeface="+mn-ea"/>
                <a:cs typeface="Times New Roman" panose="02020603050405020304" pitchFamily="18" charset="0"/>
              </a:rPr>
              <a:t>작은 </a:t>
            </a:r>
            <a:r>
              <a:rPr lang="en-US" altLang="ko-KR" sz="1500" dirty="0">
                <a:latin typeface="+mn-ea"/>
                <a:cs typeface="Times New Roman" panose="02020603050405020304" pitchFamily="18" charset="0"/>
              </a:rPr>
              <a:t>Batch size</a:t>
            </a:r>
            <a:r>
              <a:rPr lang="ko-KR" altLang="en-US" sz="1500" dirty="0">
                <a:latin typeface="+mn-ea"/>
                <a:cs typeface="Times New Roman" panose="02020603050405020304" pitchFamily="18" charset="0"/>
              </a:rPr>
              <a:t>에서도 효과적으로 이용 가능</a:t>
            </a:r>
            <a:endParaRPr lang="en-US" altLang="ko-KR" sz="1500" dirty="0">
              <a:latin typeface="+mn-ea"/>
              <a:cs typeface="Times New Roman" panose="02020603050405020304" pitchFamily="18" charset="0"/>
            </a:endParaRPr>
          </a:p>
          <a:p>
            <a:pPr marL="1657350" lvl="3" indent="-285750">
              <a:buFont typeface="맑은 고딕" panose="020B0503020000020004" pitchFamily="50" charset="-127"/>
              <a:buChar char="√"/>
            </a:pPr>
            <a:r>
              <a:rPr lang="en-US" altLang="ko-KR" sz="1500" dirty="0">
                <a:latin typeface="+mn-ea"/>
                <a:cs typeface="Times New Roman" panose="02020603050405020304" pitchFamily="18" charset="0"/>
              </a:rPr>
              <a:t>Feedforward model</a:t>
            </a:r>
            <a:r>
              <a:rPr lang="ko-KR" altLang="en-US" sz="1500" dirty="0">
                <a:latin typeface="+mn-ea"/>
                <a:cs typeface="Times New Roman" panose="02020603050405020304" pitchFamily="18" charset="0"/>
              </a:rPr>
              <a:t>에서는 </a:t>
            </a:r>
            <a:r>
              <a:rPr lang="en-US" altLang="ko-KR" sz="1500" dirty="0">
                <a:latin typeface="+mn-ea"/>
                <a:cs typeface="Times New Roman" panose="02020603050405020304" pitchFamily="18" charset="0"/>
              </a:rPr>
              <a:t>BN</a:t>
            </a:r>
            <a:r>
              <a:rPr lang="ko-KR" altLang="en-US" sz="1500" dirty="0">
                <a:latin typeface="+mn-ea"/>
                <a:cs typeface="Times New Roman" panose="02020603050405020304" pitchFamily="18" charset="0"/>
              </a:rPr>
              <a:t>보다 덜 효과적</a:t>
            </a:r>
            <a:endParaRPr lang="en-US" altLang="ko-KR" sz="1500" dirty="0">
              <a:latin typeface="+mn-ea"/>
              <a:cs typeface="Times New Roman" panose="02020603050405020304" pitchFamily="18" charset="0"/>
            </a:endParaRPr>
          </a:p>
          <a:p>
            <a:pPr marL="1657350" lvl="3" indent="-285750">
              <a:buFont typeface="맑은 고딕" panose="020B0503020000020004" pitchFamily="50" charset="-127"/>
              <a:buChar char="√"/>
            </a:pPr>
            <a:r>
              <a:rPr lang="en-US" altLang="ko-KR" sz="1500" dirty="0">
                <a:latin typeface="+mn-ea"/>
                <a:cs typeface="Times New Roman" panose="02020603050405020304" pitchFamily="18" charset="0"/>
              </a:rPr>
              <a:t>Learning rate, </a:t>
            </a:r>
            <a:r>
              <a:rPr lang="ko-KR" altLang="en-US" sz="1500" dirty="0">
                <a:latin typeface="+mn-ea"/>
                <a:cs typeface="Times New Roman" panose="02020603050405020304" pitchFamily="18" charset="0"/>
              </a:rPr>
              <a:t>초기 가중치 값 등의 </a:t>
            </a:r>
            <a:r>
              <a:rPr lang="ko-KR" altLang="en-US" sz="1500" dirty="0" err="1">
                <a:latin typeface="+mn-ea"/>
                <a:cs typeface="Times New Roman" panose="02020603050405020304" pitchFamily="18" charset="0"/>
              </a:rPr>
              <a:t>하이퍼파라미터</a:t>
            </a:r>
            <a:r>
              <a:rPr lang="ko-KR" altLang="en-US" sz="1500" dirty="0">
                <a:latin typeface="+mn-ea"/>
                <a:cs typeface="Times New Roman" panose="02020603050405020304" pitchFamily="18" charset="0"/>
              </a:rPr>
              <a:t> 조정에 민감</a:t>
            </a:r>
            <a:endParaRPr lang="en-US" altLang="ko-KR" sz="1500" dirty="0">
              <a:latin typeface="+mn-ea"/>
              <a:cs typeface="Times New Roman" panose="02020603050405020304" pitchFamily="18" charset="0"/>
            </a:endParaRPr>
          </a:p>
          <a:p>
            <a:pPr marL="1657350" lvl="3" indent="-285750">
              <a:buFont typeface="맑은 고딕" panose="020B0503020000020004" pitchFamily="50" charset="-127"/>
              <a:buChar char="√"/>
            </a:pPr>
            <a:r>
              <a:rPr lang="en-US" altLang="ko-KR" sz="1500" dirty="0">
                <a:latin typeface="+mn-ea"/>
                <a:cs typeface="Times New Roman" panose="02020603050405020304" pitchFamily="18" charset="0"/>
              </a:rPr>
              <a:t>RNN, transformer</a:t>
            </a:r>
            <a:r>
              <a:rPr lang="ko-KR" altLang="en-US" sz="1500" dirty="0">
                <a:latin typeface="+mn-ea"/>
                <a:cs typeface="Times New Roman" panose="02020603050405020304" pitchFamily="18" charset="0"/>
              </a:rPr>
              <a:t>에서 </a:t>
            </a:r>
            <a:r>
              <a:rPr lang="en-US" altLang="ko-KR" sz="1500" dirty="0">
                <a:latin typeface="+mn-ea"/>
                <a:cs typeface="Times New Roman" panose="02020603050405020304" pitchFamily="18" charset="0"/>
              </a:rPr>
              <a:t>feature </a:t>
            </a:r>
            <a:r>
              <a:rPr lang="ko-KR" altLang="en-US" sz="1500" dirty="0">
                <a:latin typeface="+mn-ea"/>
                <a:cs typeface="Times New Roman" panose="02020603050405020304" pitchFamily="18" charset="0"/>
              </a:rPr>
              <a:t>차원 정규화</a:t>
            </a:r>
            <a:r>
              <a:rPr lang="en-US" altLang="ko-KR" sz="1500" dirty="0">
                <a:latin typeface="+mn-ea"/>
                <a:cs typeface="Times New Roman" panose="02020603050405020304" pitchFamily="18" charset="0"/>
              </a:rPr>
              <a:t>, batch size</a:t>
            </a:r>
            <a:r>
              <a:rPr lang="ko-KR" altLang="en-US" sz="1500" dirty="0">
                <a:latin typeface="+mn-ea"/>
                <a:cs typeface="Times New Roman" panose="02020603050405020304" pitchFamily="18" charset="0"/>
              </a:rPr>
              <a:t>에 독립적</a:t>
            </a:r>
            <a:r>
              <a:rPr lang="en-US" altLang="ko-KR" sz="1500" dirty="0">
                <a:latin typeface="+mn-ea"/>
                <a:cs typeface="Times New Roman" panose="02020603050405020304" pitchFamily="18" charset="0"/>
              </a:rPr>
              <a:t>, </a:t>
            </a:r>
            <a:r>
              <a:rPr lang="ko-KR" altLang="en-US" sz="1500" dirty="0">
                <a:latin typeface="+mn-ea"/>
                <a:cs typeface="Times New Roman" panose="02020603050405020304" pitchFamily="18" charset="0"/>
              </a:rPr>
              <a:t>시퀀스 모델에 적합</a:t>
            </a:r>
            <a:endParaRPr lang="en-US" altLang="ko-KR" sz="1500" dirty="0">
              <a:latin typeface="+mn-ea"/>
              <a:cs typeface="Times New Roman" panose="02020603050405020304" pitchFamily="18" charset="0"/>
            </a:endParaRPr>
          </a:p>
        </p:txBody>
      </p:sp>
      <p:pic>
        <p:nvPicPr>
          <p:cNvPr id="5122" name="Picture 2" descr="https://img1.daumcdn.net/thumb/R1280x0/?scode=mtistory2&amp;fname=https%3A%2F%2Fblog.kakaocdn.net%2Fdna%2FqDbr2%2FbtsgsRgOE9g%2FAAAAAAAAAAAAAAAAAAAAAHA2d0Jqz2q3uHSk2eLF8RoSIKRwyk6XDzYWlgt7kamh%2Fimg.png%3Fcredential%3DyqXZFxpELC7KVnFOS48ylbz2pIh7yKj8%26expires%3D1769871599%26allow_ip%3D%26allow_referer%3D%26signature%3DjbIYJ2ZZyDTIRhK3rIPawSFMBCE%253D">
            <a:extLst>
              <a:ext uri="{FF2B5EF4-FFF2-40B4-BE49-F238E27FC236}">
                <a16:creationId xmlns:a16="http://schemas.microsoft.com/office/drawing/2014/main" id="{DEA6844C-B5EE-43EC-A15B-2396A8BF31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83601" y="1244599"/>
            <a:ext cx="3073400" cy="17554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283740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12325E3C-B977-41D9-9518-D36387EBC89B}"/>
              </a:ext>
            </a:extLst>
          </p:cNvPr>
          <p:cNvSpPr/>
          <p:nvPr/>
        </p:nvSpPr>
        <p:spPr>
          <a:xfrm>
            <a:off x="0" y="0"/>
            <a:ext cx="12192000" cy="40318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600" b="1" dirty="0">
                <a:latin typeface="+mn-ea"/>
                <a:cs typeface="Times New Roman" panose="02020603050405020304" pitchFamily="18" charset="0"/>
              </a:rPr>
              <a:t>(3) Model structure II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500" dirty="0">
              <a:latin typeface="+mn-ea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500" dirty="0">
                <a:latin typeface="+mn-ea"/>
                <a:cs typeface="Times New Roman" panose="02020603050405020304" pitchFamily="18" charset="0"/>
              </a:rPr>
              <a:t>Fully connected (FC) layer:</a:t>
            </a:r>
            <a:r>
              <a:rPr lang="ko-KR" altLang="en-US" sz="1500" dirty="0">
                <a:latin typeface="+mn-ea"/>
                <a:cs typeface="Times New Roman" panose="02020603050405020304" pitchFamily="18" charset="0"/>
              </a:rPr>
              <a:t> 모든 입력 뉴런</a:t>
            </a:r>
            <a:r>
              <a:rPr lang="en-US" altLang="ko-KR" sz="1500" dirty="0">
                <a:latin typeface="+mn-ea"/>
                <a:cs typeface="Times New Roman" panose="02020603050405020304" pitchFamily="18" charset="0"/>
              </a:rPr>
              <a:t>(</a:t>
            </a:r>
            <a:r>
              <a:rPr lang="ko-KR" altLang="en-US" sz="1500" dirty="0">
                <a:latin typeface="+mn-ea"/>
                <a:cs typeface="Times New Roman" panose="02020603050405020304" pitchFamily="18" charset="0"/>
              </a:rPr>
              <a:t>노드</a:t>
            </a:r>
            <a:r>
              <a:rPr lang="en-US" altLang="ko-KR" sz="1500" dirty="0">
                <a:latin typeface="+mn-ea"/>
                <a:cs typeface="Times New Roman" panose="02020603050405020304" pitchFamily="18" charset="0"/>
              </a:rPr>
              <a:t>)</a:t>
            </a:r>
            <a:r>
              <a:rPr lang="ko-KR" altLang="en-US" sz="1500" dirty="0">
                <a:latin typeface="+mn-ea"/>
                <a:cs typeface="Times New Roman" panose="02020603050405020304" pitchFamily="18" charset="0"/>
              </a:rPr>
              <a:t>이 모든 출력 뉴런과 연결된 계층</a:t>
            </a:r>
            <a:endParaRPr lang="en-US" altLang="ko-KR" sz="1500" dirty="0">
              <a:latin typeface="+mn-ea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500" dirty="0">
                <a:latin typeface="+mn-ea"/>
                <a:cs typeface="Times New Roman" panose="02020603050405020304" pitchFamily="18" charset="0"/>
              </a:rPr>
              <a:t>Multi-layer perception (MLP): FC layer</a:t>
            </a:r>
            <a:r>
              <a:rPr lang="ko-KR" altLang="en-US" sz="1500" dirty="0">
                <a:latin typeface="+mn-ea"/>
                <a:cs typeface="Times New Roman" panose="02020603050405020304" pitchFamily="18" charset="0"/>
              </a:rPr>
              <a:t>를 여러 층으로 쌓은 </a:t>
            </a:r>
            <a:r>
              <a:rPr lang="en-US" altLang="ko-KR" sz="1500" dirty="0">
                <a:latin typeface="+mn-ea"/>
                <a:cs typeface="Times New Roman" panose="02020603050405020304" pitchFamily="18" charset="0"/>
              </a:rPr>
              <a:t>feedforward </a:t>
            </a:r>
            <a:r>
              <a:rPr lang="ko-KR" altLang="en-US" sz="1500" dirty="0">
                <a:latin typeface="+mn-ea"/>
                <a:cs typeface="Times New Roman" panose="02020603050405020304" pitchFamily="18" charset="0"/>
              </a:rPr>
              <a:t>방식인 인공 신경망의 가장 기본적인 구조</a:t>
            </a:r>
            <a:endParaRPr lang="en-US" altLang="ko-KR" sz="1500" dirty="0">
              <a:latin typeface="+mn-ea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500" dirty="0">
              <a:latin typeface="+mn-ea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500" dirty="0">
                <a:latin typeface="+mn-ea"/>
                <a:cs typeface="Times New Roman" panose="02020603050405020304" pitchFamily="18" charset="0"/>
              </a:rPr>
              <a:t>Encoder: </a:t>
            </a:r>
            <a:r>
              <a:rPr lang="ko-KR" altLang="en-US" sz="1500" dirty="0">
                <a:latin typeface="+mn-ea"/>
                <a:cs typeface="Times New Roman" panose="02020603050405020304" pitchFamily="18" charset="0"/>
              </a:rPr>
              <a:t>입력 데이터를 의미 있는 </a:t>
            </a:r>
            <a:r>
              <a:rPr lang="en-US" altLang="ko-KR" sz="1500" dirty="0">
                <a:latin typeface="+mn-ea"/>
                <a:cs typeface="Times New Roman" panose="02020603050405020304" pitchFamily="18" charset="0"/>
              </a:rPr>
              <a:t>latent </a:t>
            </a:r>
            <a:r>
              <a:rPr lang="ko-KR" altLang="en-US" sz="1500" dirty="0">
                <a:latin typeface="+mn-ea"/>
                <a:cs typeface="Times New Roman" panose="02020603050405020304" pitchFamily="18" charset="0"/>
              </a:rPr>
              <a:t>표현으로 변환하는 부분 </a:t>
            </a:r>
            <a:r>
              <a:rPr lang="en-US" altLang="ko-KR" sz="1500" dirty="0">
                <a:latin typeface="+mn-ea"/>
                <a:cs typeface="Times New Roman" panose="02020603050405020304" pitchFamily="18" charset="0"/>
              </a:rPr>
              <a:t>ex) TCN, CNN, Transformer, RNN, </a:t>
            </a:r>
            <a:r>
              <a:rPr lang="ko-KR" altLang="en-US" sz="1500" dirty="0">
                <a:latin typeface="+mn-ea"/>
                <a:cs typeface="Times New Roman" panose="02020603050405020304" pitchFamily="18" charset="0"/>
              </a:rPr>
              <a:t>등</a:t>
            </a:r>
            <a:endParaRPr lang="en-US" altLang="ko-KR" sz="1500" dirty="0">
              <a:latin typeface="+mn-ea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500" dirty="0">
                <a:latin typeface="+mn-ea"/>
                <a:cs typeface="Times New Roman" panose="02020603050405020304" pitchFamily="18" charset="0"/>
              </a:rPr>
              <a:t>Decoder: Latent </a:t>
            </a:r>
            <a:r>
              <a:rPr lang="ko-KR" altLang="en-US" sz="1500" dirty="0">
                <a:latin typeface="+mn-ea"/>
                <a:cs typeface="Times New Roman" panose="02020603050405020304" pitchFamily="18" charset="0"/>
              </a:rPr>
              <a:t>표현을 원하는 출력 도메인으로 변환하는 부분 </a:t>
            </a:r>
            <a:r>
              <a:rPr lang="en-US" altLang="ko-KR" sz="1500" dirty="0">
                <a:latin typeface="+mn-ea"/>
                <a:cs typeface="Times New Roman" panose="02020603050405020304" pitchFamily="18" charset="0"/>
              </a:rPr>
              <a:t>ex) Head</a:t>
            </a:r>
            <a:r>
              <a:rPr lang="ko-KR" altLang="en-US" sz="1500" dirty="0">
                <a:latin typeface="+mn-ea"/>
                <a:cs typeface="Times New Roman" panose="02020603050405020304" pitchFamily="18" charset="0"/>
              </a:rPr>
              <a:t>는 보통 </a:t>
            </a:r>
            <a:r>
              <a:rPr lang="en-US" altLang="ko-KR" sz="1500" dirty="0">
                <a:latin typeface="+mn-ea"/>
                <a:cs typeface="Times New Roman" panose="02020603050405020304" pitchFamily="18" charset="0"/>
              </a:rPr>
              <a:t>decoder</a:t>
            </a:r>
            <a:r>
              <a:rPr lang="ko-KR" altLang="en-US" sz="1500" dirty="0">
                <a:latin typeface="+mn-ea"/>
                <a:cs typeface="Times New Roman" panose="02020603050405020304" pitchFamily="18" charset="0"/>
              </a:rPr>
              <a:t>의 가장 단순한 형태</a:t>
            </a:r>
            <a:endParaRPr lang="en-US" altLang="ko-KR" sz="1500" dirty="0">
              <a:latin typeface="+mn-ea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500" dirty="0">
              <a:latin typeface="+mn-ea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500" dirty="0">
                <a:latin typeface="+mn-ea"/>
                <a:cs typeface="Times New Roman" panose="02020603050405020304" pitchFamily="18" charset="0"/>
              </a:rPr>
              <a:t>Latent state: </a:t>
            </a:r>
            <a:r>
              <a:rPr lang="ko-KR" altLang="en-US" sz="1500" dirty="0">
                <a:latin typeface="+mn-ea"/>
                <a:cs typeface="Times New Roman" panose="02020603050405020304" pitchFamily="18" charset="0"/>
              </a:rPr>
              <a:t>물리적으로 직접 관측되지는 않지만</a:t>
            </a:r>
            <a:r>
              <a:rPr lang="en-US" altLang="ko-KR" sz="1500" dirty="0">
                <a:latin typeface="+mn-ea"/>
                <a:cs typeface="Times New Roman" panose="02020603050405020304" pitchFamily="18" charset="0"/>
              </a:rPr>
              <a:t>, </a:t>
            </a:r>
            <a:r>
              <a:rPr lang="ko-KR" altLang="en-US" sz="1500" dirty="0">
                <a:latin typeface="+mn-ea"/>
                <a:cs typeface="Times New Roman" panose="02020603050405020304" pitchFamily="18" charset="0"/>
              </a:rPr>
              <a:t>문제 해결에 충분한 정보를 담은 내부 표현</a:t>
            </a:r>
            <a:endParaRPr lang="en-US" altLang="ko-KR" sz="1500" dirty="0">
              <a:latin typeface="+mn-ea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500" dirty="0">
                <a:latin typeface="+mn-ea"/>
                <a:cs typeface="Times New Roman" panose="02020603050405020304" pitchFamily="18" charset="0"/>
              </a:rPr>
              <a:t>Receptive field: </a:t>
            </a:r>
            <a:r>
              <a:rPr lang="ko-KR" altLang="en-US" sz="1500" dirty="0">
                <a:latin typeface="+mn-ea"/>
                <a:cs typeface="Times New Roman" panose="02020603050405020304" pitchFamily="18" charset="0"/>
              </a:rPr>
              <a:t>출력 하나가 내포하고 있는 입력 범위</a:t>
            </a:r>
            <a:r>
              <a:rPr lang="en-US" altLang="ko-KR" sz="1500" dirty="0">
                <a:latin typeface="+mn-ea"/>
                <a:cs typeface="Times New Roman" panose="02020603050405020304" pitchFamily="18" charset="0"/>
              </a:rPr>
              <a:t>, </a:t>
            </a:r>
            <a:r>
              <a:rPr lang="ko-KR" altLang="en-US" sz="1500" dirty="0">
                <a:latin typeface="+mn-ea"/>
                <a:cs typeface="Times New Roman" panose="02020603050405020304" pitchFamily="18" charset="0"/>
              </a:rPr>
              <a:t>모델이 물리적으로 얼마만큼의 과거 </a:t>
            </a:r>
            <a:r>
              <a:rPr lang="en-US" altLang="ko-KR" sz="1500" dirty="0">
                <a:latin typeface="+mn-ea"/>
                <a:cs typeface="Times New Roman" panose="02020603050405020304" pitchFamily="18" charset="0"/>
              </a:rPr>
              <a:t>/ </a:t>
            </a:r>
            <a:r>
              <a:rPr lang="ko-KR" altLang="en-US" sz="1500" dirty="0">
                <a:latin typeface="+mn-ea"/>
                <a:cs typeface="Times New Roman" panose="02020603050405020304" pitchFamily="18" charset="0"/>
              </a:rPr>
              <a:t>영역을 기억하는가를 결정</a:t>
            </a:r>
            <a:endParaRPr lang="en-US" altLang="ko-KR" sz="1500" dirty="0">
              <a:latin typeface="+mn-ea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500" dirty="0">
              <a:latin typeface="+mn-ea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500" dirty="0">
                <a:latin typeface="+mn-ea"/>
                <a:cs typeface="Times New Roman" panose="02020603050405020304" pitchFamily="18" charset="0"/>
              </a:rPr>
              <a:t>Backbone: </a:t>
            </a:r>
            <a:r>
              <a:rPr lang="ko-KR" altLang="en-US" sz="1500" dirty="0">
                <a:latin typeface="+mn-ea"/>
                <a:cs typeface="Times New Roman" panose="02020603050405020304" pitchFamily="18" charset="0"/>
              </a:rPr>
              <a:t>입력에서 일반적인 </a:t>
            </a:r>
            <a:r>
              <a:rPr lang="en-US" altLang="ko-KR" sz="1500" dirty="0">
                <a:latin typeface="+mn-ea"/>
                <a:cs typeface="Times New Roman" panose="02020603050405020304" pitchFamily="18" charset="0"/>
              </a:rPr>
              <a:t>feature</a:t>
            </a:r>
            <a:r>
              <a:rPr lang="ko-KR" altLang="en-US" sz="1500" dirty="0">
                <a:latin typeface="+mn-ea"/>
                <a:cs typeface="Times New Roman" panose="02020603050405020304" pitchFamily="18" charset="0"/>
              </a:rPr>
              <a:t>를 뽑는 부분 </a:t>
            </a:r>
            <a:r>
              <a:rPr lang="en-US" altLang="ko-KR" sz="1500" dirty="0">
                <a:latin typeface="+mn-ea"/>
                <a:cs typeface="Times New Roman" panose="02020603050405020304" pitchFamily="18" charset="0"/>
              </a:rPr>
              <a:t>ex) TCN, CNN, Transformer encoder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500" dirty="0">
                <a:latin typeface="+mn-ea"/>
                <a:cs typeface="Times New Roman" panose="02020603050405020304" pitchFamily="18" charset="0"/>
              </a:rPr>
              <a:t>Neck: Backbone</a:t>
            </a:r>
            <a:r>
              <a:rPr lang="ko-KR" altLang="en-US" sz="1500" dirty="0">
                <a:latin typeface="+mn-ea"/>
                <a:cs typeface="Times New Roman" panose="02020603050405020304" pitchFamily="18" charset="0"/>
              </a:rPr>
              <a:t>과 </a:t>
            </a:r>
            <a:r>
              <a:rPr lang="en-US" altLang="ko-KR" sz="1500" dirty="0">
                <a:latin typeface="+mn-ea"/>
                <a:cs typeface="Times New Roman" panose="02020603050405020304" pitchFamily="18" charset="0"/>
              </a:rPr>
              <a:t>head </a:t>
            </a:r>
            <a:r>
              <a:rPr lang="ko-KR" altLang="en-US" sz="1500" dirty="0">
                <a:latin typeface="+mn-ea"/>
                <a:cs typeface="Times New Roman" panose="02020603050405020304" pitchFamily="18" charset="0"/>
              </a:rPr>
              <a:t>사이에서 </a:t>
            </a:r>
            <a:r>
              <a:rPr lang="en-US" altLang="ko-KR" sz="1500" dirty="0">
                <a:latin typeface="+mn-ea"/>
                <a:cs typeface="Times New Roman" panose="02020603050405020304" pitchFamily="18" charset="0"/>
              </a:rPr>
              <a:t>feature</a:t>
            </a:r>
            <a:r>
              <a:rPr lang="ko-KR" altLang="en-US" sz="1500" dirty="0">
                <a:latin typeface="+mn-ea"/>
                <a:cs typeface="Times New Roman" panose="02020603050405020304" pitchFamily="18" charset="0"/>
              </a:rPr>
              <a:t>를 정리하거나 재구성</a:t>
            </a:r>
            <a:r>
              <a:rPr lang="en-US" altLang="ko-KR" sz="1500" dirty="0">
                <a:latin typeface="+mn-ea"/>
                <a:cs typeface="Times New Roman" panose="02020603050405020304" pitchFamily="18" charset="0"/>
              </a:rPr>
              <a:t>, </a:t>
            </a:r>
            <a:r>
              <a:rPr lang="ko-KR" altLang="en-US" sz="1500" dirty="0">
                <a:latin typeface="+mn-ea"/>
                <a:cs typeface="Times New Roman" panose="02020603050405020304" pitchFamily="18" charset="0"/>
              </a:rPr>
              <a:t>차원 정렬</a:t>
            </a:r>
            <a:r>
              <a:rPr lang="en-US" altLang="ko-KR" sz="1500" dirty="0">
                <a:latin typeface="+mn-ea"/>
                <a:cs typeface="Times New Roman" panose="02020603050405020304" pitchFamily="18" charset="0"/>
              </a:rPr>
              <a:t>, </a:t>
            </a:r>
            <a:r>
              <a:rPr lang="ko-KR" altLang="en-US" sz="1500" dirty="0">
                <a:latin typeface="+mn-ea"/>
                <a:cs typeface="Times New Roman" panose="02020603050405020304" pitchFamily="18" charset="0"/>
              </a:rPr>
              <a:t>정보 압축</a:t>
            </a:r>
            <a:r>
              <a:rPr lang="en-US" altLang="ko-KR" sz="1500" dirty="0">
                <a:latin typeface="+mn-ea"/>
                <a:cs typeface="Times New Roman" panose="02020603050405020304" pitchFamily="18" charset="0"/>
              </a:rPr>
              <a:t>,</a:t>
            </a:r>
            <a:r>
              <a:rPr lang="ko-KR" altLang="en-US" sz="1500" dirty="0">
                <a:latin typeface="+mn-ea"/>
                <a:cs typeface="Times New Roman" panose="02020603050405020304" pitchFamily="18" charset="0"/>
              </a:rPr>
              <a:t> </a:t>
            </a:r>
            <a:r>
              <a:rPr lang="en-US" altLang="ko-KR" sz="1500" dirty="0">
                <a:latin typeface="+mn-ea"/>
                <a:cs typeface="Times New Roman" panose="02020603050405020304" pitchFamily="18" charset="0"/>
              </a:rPr>
              <a:t>multi-scale</a:t>
            </a:r>
            <a:r>
              <a:rPr lang="ko-KR" altLang="en-US" sz="1500" dirty="0">
                <a:latin typeface="+mn-ea"/>
                <a:cs typeface="Times New Roman" panose="02020603050405020304" pitchFamily="18" charset="0"/>
              </a:rPr>
              <a:t> 결합을 위한 부분 </a:t>
            </a:r>
            <a:r>
              <a:rPr lang="en-US" altLang="ko-KR" sz="1500" dirty="0">
                <a:latin typeface="+mn-ea"/>
                <a:cs typeface="Times New Roman" panose="02020603050405020304" pitchFamily="18" charset="0"/>
              </a:rPr>
              <a:t>ex) 1x1 Conv, projection MLP, </a:t>
            </a:r>
            <a:r>
              <a:rPr lang="ko-KR" altLang="en-US" sz="1500" dirty="0">
                <a:latin typeface="+mn-ea"/>
                <a:cs typeface="Times New Roman" panose="02020603050405020304" pitchFamily="18" charset="0"/>
              </a:rPr>
              <a:t>등</a:t>
            </a:r>
            <a:endParaRPr lang="en-US" altLang="ko-KR" sz="1500" dirty="0">
              <a:latin typeface="+mn-ea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500" dirty="0">
                <a:latin typeface="+mn-ea"/>
                <a:cs typeface="Times New Roman" panose="02020603050405020304" pitchFamily="18" charset="0"/>
              </a:rPr>
              <a:t>Head: </a:t>
            </a:r>
            <a:r>
              <a:rPr lang="ko-KR" altLang="en-US" sz="1500" dirty="0">
                <a:latin typeface="+mn-ea"/>
                <a:cs typeface="Times New Roman" panose="02020603050405020304" pitchFamily="18" charset="0"/>
              </a:rPr>
              <a:t>최종</a:t>
            </a:r>
            <a:r>
              <a:rPr lang="en-US" altLang="ko-KR" sz="1500" dirty="0">
                <a:latin typeface="+mn-ea"/>
                <a:cs typeface="Times New Roman" panose="02020603050405020304" pitchFamily="18" charset="0"/>
              </a:rPr>
              <a:t> task-specific </a:t>
            </a:r>
            <a:r>
              <a:rPr lang="ko-KR" altLang="en-US" sz="1500" dirty="0">
                <a:latin typeface="+mn-ea"/>
                <a:cs typeface="Times New Roman" panose="02020603050405020304" pitchFamily="18" charset="0"/>
              </a:rPr>
              <a:t>출력 생성</a:t>
            </a:r>
            <a:r>
              <a:rPr lang="en-US" altLang="ko-KR" sz="1500" dirty="0">
                <a:latin typeface="+mn-ea"/>
                <a:cs typeface="Times New Roman" panose="02020603050405020304" pitchFamily="18" charset="0"/>
              </a:rPr>
              <a:t>, </a:t>
            </a:r>
            <a:r>
              <a:rPr lang="ko-KR" altLang="en-US" sz="1500" dirty="0">
                <a:latin typeface="+mn-ea"/>
                <a:cs typeface="Times New Roman" panose="02020603050405020304" pitchFamily="18" charset="0"/>
              </a:rPr>
              <a:t>회귀</a:t>
            </a:r>
            <a:r>
              <a:rPr lang="en-US" altLang="ko-KR" sz="1500" dirty="0">
                <a:latin typeface="+mn-ea"/>
                <a:cs typeface="Times New Roman" panose="02020603050405020304" pitchFamily="18" charset="0"/>
              </a:rPr>
              <a:t>,</a:t>
            </a:r>
            <a:r>
              <a:rPr lang="ko-KR" altLang="en-US" sz="1500" dirty="0">
                <a:latin typeface="+mn-ea"/>
                <a:cs typeface="Times New Roman" panose="02020603050405020304" pitchFamily="18" charset="0"/>
              </a:rPr>
              <a:t> 분류</a:t>
            </a:r>
            <a:r>
              <a:rPr lang="en-US" altLang="ko-KR" sz="1500" dirty="0">
                <a:latin typeface="+mn-ea"/>
                <a:cs typeface="Times New Roman" panose="02020603050405020304" pitchFamily="18" charset="0"/>
              </a:rPr>
              <a:t>, </a:t>
            </a:r>
            <a:r>
              <a:rPr lang="ko-KR" altLang="en-US" sz="1500" dirty="0">
                <a:latin typeface="+mn-ea"/>
                <a:cs typeface="Times New Roman" panose="02020603050405020304" pitchFamily="18" charset="0"/>
              </a:rPr>
              <a:t>예측</a:t>
            </a:r>
            <a:r>
              <a:rPr lang="en-US" altLang="ko-KR" sz="1500" dirty="0">
                <a:latin typeface="+mn-ea"/>
                <a:cs typeface="Times New Roman" panose="02020603050405020304" pitchFamily="18" charset="0"/>
              </a:rPr>
              <a:t>, </a:t>
            </a:r>
            <a:r>
              <a:rPr lang="ko-KR" altLang="en-US" sz="1500" dirty="0">
                <a:latin typeface="+mn-ea"/>
                <a:cs typeface="Times New Roman" panose="02020603050405020304" pitchFamily="18" charset="0"/>
              </a:rPr>
              <a:t>분포 추정하는 부분</a:t>
            </a:r>
            <a:endParaRPr lang="en-US" altLang="ko-KR" sz="1500" dirty="0">
              <a:latin typeface="+mn-ea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500" dirty="0">
              <a:latin typeface="+mn-ea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500" dirty="0">
                <a:latin typeface="+mn-ea"/>
                <a:cs typeface="Times New Roman" panose="02020603050405020304" pitchFamily="18" charset="0"/>
              </a:rPr>
              <a:t>Residual block: </a:t>
            </a:r>
            <a:r>
              <a:rPr lang="ko-KR" altLang="en-US" sz="1500" dirty="0">
                <a:latin typeface="+mn-ea"/>
                <a:cs typeface="Times New Roman" panose="02020603050405020304" pitchFamily="18" charset="0"/>
              </a:rPr>
              <a:t>입력을 그대로 전달하는 경로를 함께 두는 </a:t>
            </a:r>
            <a:r>
              <a:rPr lang="en-US" altLang="ko-KR" sz="1500" dirty="0">
                <a:latin typeface="+mn-ea"/>
                <a:cs typeface="Times New Roman" panose="02020603050405020304" pitchFamily="18" charset="0"/>
              </a:rPr>
              <a:t>layer </a:t>
            </a:r>
            <a:r>
              <a:rPr lang="ko-KR" altLang="en-US" sz="1500" dirty="0">
                <a:latin typeface="+mn-ea"/>
                <a:cs typeface="Times New Roman" panose="02020603050405020304" pitchFamily="18" charset="0"/>
              </a:rPr>
              <a:t>묶음 </a:t>
            </a:r>
            <a:r>
              <a:rPr lang="en-US" altLang="ko-KR" sz="1500" dirty="0">
                <a:latin typeface="+mn-ea"/>
                <a:cs typeface="Times New Roman" panose="02020603050405020304" pitchFamily="18" charset="0"/>
              </a:rPr>
              <a:t>(= skip connection) </a:t>
            </a:r>
            <a:r>
              <a:rPr lang="en-US" altLang="ko-KR" sz="1500" dirty="0">
                <a:latin typeface="+mn-ea"/>
                <a:cs typeface="Times New Roman" panose="02020603050405020304" pitchFamily="18" charset="0"/>
                <a:sym typeface="Wingdings" panose="05000000000000000000" pitchFamily="2" charset="2"/>
              </a:rPr>
              <a:t> y = x + f(x)</a:t>
            </a:r>
            <a:endParaRPr lang="en-US" altLang="ko-KR" sz="1500" dirty="0">
              <a:latin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19213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12325E3C-B977-41D9-9518-D36387EBC89B}"/>
              </a:ext>
            </a:extLst>
          </p:cNvPr>
          <p:cNvSpPr/>
          <p:nvPr/>
        </p:nvSpPr>
        <p:spPr>
          <a:xfrm>
            <a:off x="0" y="0"/>
            <a:ext cx="12192000" cy="61093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600" b="1" dirty="0">
                <a:latin typeface="+mn-ea"/>
                <a:cs typeface="Times New Roman" panose="02020603050405020304" pitchFamily="18" charset="0"/>
              </a:rPr>
              <a:t>(3) Model structure III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500" dirty="0">
              <a:latin typeface="+mn-ea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500" dirty="0">
                <a:latin typeface="+mn-ea"/>
                <a:cs typeface="Times New Roman" panose="02020603050405020304" pitchFamily="18" charset="0"/>
              </a:rPr>
              <a:t>Temporal Convolutional Network (TCN)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ko-KR" altLang="en-US" sz="1500" dirty="0">
                <a:latin typeface="+mn-ea"/>
                <a:cs typeface="Times New Roman" panose="02020603050405020304" pitchFamily="18" charset="0"/>
              </a:rPr>
              <a:t>시계열 데이터에 활용성이 높은 </a:t>
            </a:r>
            <a:r>
              <a:rPr lang="en-US" altLang="ko-KR" sz="1500" dirty="0">
                <a:latin typeface="+mn-ea"/>
                <a:cs typeface="Times New Roman" panose="02020603050405020304" pitchFamily="18" charset="0"/>
              </a:rPr>
              <a:t>CNN </a:t>
            </a:r>
            <a:r>
              <a:rPr lang="ko-KR" altLang="en-US" sz="1500" dirty="0">
                <a:latin typeface="+mn-ea"/>
                <a:cs typeface="Times New Roman" panose="02020603050405020304" pitchFamily="18" charset="0"/>
              </a:rPr>
              <a:t>모델의 일종 </a:t>
            </a:r>
            <a:r>
              <a:rPr lang="en-US" altLang="ko-KR" sz="1500" dirty="0">
                <a:latin typeface="+mn-ea"/>
                <a:cs typeface="Times New Roman" panose="02020603050405020304" pitchFamily="18" charset="0"/>
              </a:rPr>
              <a:t>(Causal convolution</a:t>
            </a:r>
            <a:r>
              <a:rPr lang="ko-KR" altLang="en-US" sz="1500" dirty="0">
                <a:latin typeface="+mn-ea"/>
                <a:cs typeface="Times New Roman" panose="02020603050405020304" pitchFamily="18" charset="0"/>
              </a:rPr>
              <a:t>으로 구성</a:t>
            </a:r>
            <a:r>
              <a:rPr lang="en-US" altLang="ko-KR" sz="1500" dirty="0">
                <a:latin typeface="+mn-ea"/>
                <a:cs typeface="Times New Roman" panose="02020603050405020304" pitchFamily="18" charset="0"/>
              </a:rPr>
              <a:t>)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ko-KR" altLang="en-US" sz="1500" dirty="0">
                <a:latin typeface="+mn-ea"/>
                <a:cs typeface="Times New Roman" panose="02020603050405020304" pitchFamily="18" charset="0"/>
              </a:rPr>
              <a:t>병렬처리가 가능함</a:t>
            </a:r>
            <a:endParaRPr lang="en-US" altLang="ko-KR" sz="1500" dirty="0">
              <a:latin typeface="+mn-ea"/>
              <a:cs typeface="Times New Roman" panose="02020603050405020304" pitchFamily="18" charset="0"/>
            </a:endParaRP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altLang="ko-KR" sz="1500" dirty="0">
                <a:latin typeface="+mn-ea"/>
                <a:cs typeface="Times New Roman" panose="02020603050405020304" pitchFamily="18" charset="0"/>
              </a:rPr>
              <a:t>Recurrent</a:t>
            </a:r>
            <a:r>
              <a:rPr lang="ko-KR" altLang="en-US" sz="1500" dirty="0">
                <a:latin typeface="+mn-ea"/>
                <a:cs typeface="Times New Roman" panose="02020603050405020304" pitchFamily="18" charset="0"/>
              </a:rPr>
              <a:t> 구조가 아니기 때문에 입력 데이터에 포함되지 않은 과거 데이터는 현시점에 반영되지 않음</a:t>
            </a:r>
            <a:endParaRPr lang="en-US" altLang="ko-KR" sz="1500" dirty="0">
              <a:latin typeface="+mn-ea"/>
              <a:cs typeface="Times New Roman" panose="02020603050405020304" pitchFamily="18" charset="0"/>
            </a:endParaRP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altLang="ko-KR" sz="1500" dirty="0">
                <a:latin typeface="+mn-ea"/>
                <a:cs typeface="Times New Roman" panose="02020603050405020304" pitchFamily="18" charset="0"/>
              </a:rPr>
              <a:t>Input</a:t>
            </a:r>
            <a:r>
              <a:rPr lang="ko-KR" altLang="en-US" sz="1500" dirty="0">
                <a:latin typeface="+mn-ea"/>
                <a:cs typeface="Times New Roman" panose="02020603050405020304" pitchFamily="18" charset="0"/>
              </a:rPr>
              <a:t>으로 다양한 길이의 </a:t>
            </a:r>
            <a:r>
              <a:rPr lang="en-US" altLang="ko-KR" sz="1500" dirty="0">
                <a:latin typeface="+mn-ea"/>
                <a:cs typeface="Times New Roman" panose="02020603050405020304" pitchFamily="18" charset="0"/>
              </a:rPr>
              <a:t>sequence</a:t>
            </a:r>
            <a:r>
              <a:rPr lang="ko-KR" altLang="en-US" sz="1500" dirty="0">
                <a:latin typeface="+mn-ea"/>
                <a:cs typeface="Times New Roman" panose="02020603050405020304" pitchFamily="18" charset="0"/>
              </a:rPr>
              <a:t>를 받아 동일한 길이의 </a:t>
            </a:r>
            <a:r>
              <a:rPr lang="en-US" altLang="ko-KR" sz="1500" dirty="0">
                <a:latin typeface="+mn-ea"/>
                <a:cs typeface="Times New Roman" panose="02020603050405020304" pitchFamily="18" charset="0"/>
              </a:rPr>
              <a:t>output sequence</a:t>
            </a:r>
            <a:r>
              <a:rPr lang="ko-KR" altLang="en-US" sz="1500" dirty="0">
                <a:latin typeface="+mn-ea"/>
                <a:cs typeface="Times New Roman" panose="02020603050405020304" pitchFamily="18" charset="0"/>
              </a:rPr>
              <a:t>로 맵핑</a:t>
            </a:r>
            <a:r>
              <a:rPr lang="en-US" altLang="ko-KR" sz="1500" dirty="0">
                <a:latin typeface="+mn-ea"/>
                <a:cs typeface="Times New Roman" panose="02020603050405020304" pitchFamily="18" charset="0"/>
              </a:rPr>
              <a:t> </a:t>
            </a:r>
            <a:r>
              <a:rPr lang="en-US" altLang="ko-KR" sz="1500" dirty="0">
                <a:latin typeface="+mn-ea"/>
                <a:cs typeface="Times New Roman" panose="02020603050405020304" pitchFamily="18" charset="0"/>
                <a:sym typeface="Wingdings" panose="05000000000000000000" pitchFamily="2" charset="2"/>
              </a:rPr>
              <a:t> </a:t>
            </a:r>
            <a:r>
              <a:rPr lang="ko-KR" altLang="en-US" sz="1500" dirty="0">
                <a:latin typeface="+mn-ea"/>
                <a:cs typeface="Times New Roman" panose="02020603050405020304" pitchFamily="18" charset="0"/>
                <a:sym typeface="Wingdings" panose="05000000000000000000" pitchFamily="2" charset="2"/>
              </a:rPr>
              <a:t>이를 위하여 </a:t>
            </a:r>
            <a:r>
              <a:rPr lang="en-US" altLang="ko-KR" sz="1500" dirty="0">
                <a:latin typeface="+mn-ea"/>
                <a:cs typeface="Times New Roman" panose="02020603050405020304" pitchFamily="18" charset="0"/>
                <a:sym typeface="Wingdings" panose="05000000000000000000" pitchFamily="2" charset="2"/>
              </a:rPr>
              <a:t>(kernel size – 1) </a:t>
            </a:r>
            <a:r>
              <a:rPr lang="ko-KR" altLang="en-US" sz="1500" dirty="0">
                <a:latin typeface="+mn-ea"/>
                <a:cs typeface="Times New Roman" panose="02020603050405020304" pitchFamily="18" charset="0"/>
                <a:sym typeface="Wingdings" panose="05000000000000000000" pitchFamily="2" charset="2"/>
              </a:rPr>
              <a:t>만큼의 </a:t>
            </a:r>
            <a:r>
              <a:rPr lang="en-US" altLang="ko-KR" sz="1500" dirty="0">
                <a:latin typeface="+mn-ea"/>
                <a:cs typeface="Times New Roman" panose="02020603050405020304" pitchFamily="18" charset="0"/>
                <a:sym typeface="Wingdings" panose="05000000000000000000" pitchFamily="2" charset="2"/>
              </a:rPr>
              <a:t>zero padding </a:t>
            </a:r>
            <a:r>
              <a:rPr lang="ko-KR" altLang="en-US" sz="1500" dirty="0">
                <a:latin typeface="+mn-ea"/>
                <a:cs typeface="Times New Roman" panose="02020603050405020304" pitchFamily="18" charset="0"/>
                <a:sym typeface="Wingdings" panose="05000000000000000000" pitchFamily="2" charset="2"/>
              </a:rPr>
              <a:t>추가</a:t>
            </a:r>
            <a:r>
              <a:rPr lang="en-US" altLang="ko-KR" sz="1500" dirty="0">
                <a:latin typeface="+mn-ea"/>
                <a:cs typeface="Times New Roman" panose="02020603050405020304" pitchFamily="18" charset="0"/>
                <a:sym typeface="Wingdings" panose="05000000000000000000" pitchFamily="2" charset="2"/>
              </a:rPr>
              <a:t>, Dilation</a:t>
            </a:r>
            <a:r>
              <a:rPr lang="ko-KR" altLang="en-US" sz="1500" dirty="0">
                <a:latin typeface="+mn-ea"/>
                <a:cs typeface="Times New Roman" panose="02020603050405020304" pitchFamily="18" charset="0"/>
                <a:sym typeface="Wingdings" panose="05000000000000000000" pitchFamily="2" charset="2"/>
              </a:rPr>
              <a:t>이 추가된다면 </a:t>
            </a:r>
            <a:r>
              <a:rPr lang="en-US" altLang="ko-KR" sz="1500" dirty="0">
                <a:latin typeface="+mn-ea"/>
                <a:cs typeface="Times New Roman" panose="02020603050405020304" pitchFamily="18" charset="0"/>
                <a:sym typeface="Wingdings" panose="05000000000000000000" pitchFamily="2" charset="2"/>
              </a:rPr>
              <a:t>zero padding</a:t>
            </a:r>
            <a:r>
              <a:rPr lang="ko-KR" altLang="en-US" sz="1500" dirty="0">
                <a:latin typeface="+mn-ea"/>
                <a:cs typeface="Times New Roman" panose="02020603050405020304" pitchFamily="18" charset="0"/>
                <a:sym typeface="Wingdings" panose="05000000000000000000" pitchFamily="2" charset="2"/>
              </a:rPr>
              <a:t>은 </a:t>
            </a:r>
            <a:r>
              <a:rPr lang="en-US" altLang="ko-KR" sz="1500" dirty="0">
                <a:latin typeface="+mn-ea"/>
                <a:cs typeface="Times New Roman" panose="02020603050405020304" pitchFamily="18" charset="0"/>
                <a:sym typeface="Wingdings" panose="05000000000000000000" pitchFamily="2" charset="2"/>
              </a:rPr>
              <a:t>(kernel size – 1)*dilation factor</a:t>
            </a:r>
            <a:endParaRPr lang="en-US" altLang="ko-KR" sz="1500" dirty="0">
              <a:latin typeface="+mn-ea"/>
              <a:cs typeface="Times New Roman" panose="02020603050405020304" pitchFamily="18" charset="0"/>
            </a:endParaRP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altLang="ko-KR" sz="1500" dirty="0">
                <a:latin typeface="+mn-ea"/>
                <a:cs typeface="Times New Roman" panose="02020603050405020304" pitchFamily="18" charset="0"/>
              </a:rPr>
              <a:t>Fully-convolutional network (FCN) + Causal convolution </a:t>
            </a:r>
            <a:r>
              <a:rPr lang="ko-KR" altLang="en-US" sz="1500" dirty="0">
                <a:latin typeface="+mn-ea"/>
                <a:cs typeface="Times New Roman" panose="02020603050405020304" pitchFamily="18" charset="0"/>
              </a:rPr>
              <a:t>은 긴 길이를 갖는 </a:t>
            </a:r>
            <a:r>
              <a:rPr lang="en-US" altLang="ko-KR" sz="1500" dirty="0">
                <a:latin typeface="+mn-ea"/>
                <a:cs typeface="Times New Roman" panose="02020603050405020304" pitchFamily="18" charset="0"/>
              </a:rPr>
              <a:t>sequence </a:t>
            </a:r>
            <a:r>
              <a:rPr lang="ko-KR" altLang="en-US" sz="1500" dirty="0">
                <a:latin typeface="+mn-ea"/>
                <a:cs typeface="Times New Roman" panose="02020603050405020304" pitchFamily="18" charset="0"/>
              </a:rPr>
              <a:t>를 </a:t>
            </a:r>
            <a:r>
              <a:rPr lang="en-US" altLang="ko-KR" sz="1500" dirty="0">
                <a:latin typeface="+mn-ea"/>
                <a:cs typeface="Times New Roman" panose="02020603050405020304" pitchFamily="18" charset="0"/>
              </a:rPr>
              <a:t>input </a:t>
            </a:r>
            <a:r>
              <a:rPr lang="ko-KR" altLang="en-US" sz="1500" dirty="0">
                <a:latin typeface="+mn-ea"/>
                <a:cs typeface="Times New Roman" panose="02020603050405020304" pitchFamily="18" charset="0"/>
              </a:rPr>
              <a:t>으로 받기에 </a:t>
            </a:r>
            <a:r>
              <a:rPr lang="en-US" altLang="ko-KR" sz="1500" dirty="0">
                <a:latin typeface="+mn-ea"/>
                <a:cs typeface="Times New Roman" panose="02020603050405020304" pitchFamily="18" charset="0"/>
              </a:rPr>
              <a:t>deep network </a:t>
            </a:r>
            <a:r>
              <a:rPr lang="ko-KR" altLang="en-US" sz="1500" dirty="0">
                <a:latin typeface="+mn-ea"/>
                <a:cs typeface="Times New Roman" panose="02020603050405020304" pitchFamily="18" charset="0"/>
              </a:rPr>
              <a:t>혹은 큰 </a:t>
            </a:r>
            <a:r>
              <a:rPr lang="en-US" altLang="ko-KR" sz="1500" dirty="0" err="1">
                <a:latin typeface="+mn-ea"/>
                <a:cs typeface="Times New Roman" panose="02020603050405020304" pitchFamily="18" charset="0"/>
              </a:rPr>
              <a:t>kernal</a:t>
            </a:r>
            <a:r>
              <a:rPr lang="en-US" altLang="ko-KR" sz="1500" dirty="0">
                <a:latin typeface="+mn-ea"/>
                <a:cs typeface="Times New Roman" panose="02020603050405020304" pitchFamily="18" charset="0"/>
              </a:rPr>
              <a:t> size</a:t>
            </a:r>
            <a:r>
              <a:rPr lang="ko-KR" altLang="en-US" sz="1500" dirty="0">
                <a:latin typeface="+mn-ea"/>
                <a:cs typeface="Times New Roman" panose="02020603050405020304" pitchFamily="18" charset="0"/>
              </a:rPr>
              <a:t>를 사용해야 하는 단점 존재 </a:t>
            </a:r>
            <a:r>
              <a:rPr lang="en-US" altLang="ko-KR" sz="1500" dirty="0">
                <a:latin typeface="+mn-ea"/>
                <a:cs typeface="Times New Roman" panose="02020603050405020304" pitchFamily="18" charset="0"/>
                <a:sym typeface="Wingdings" panose="05000000000000000000" pitchFamily="2" charset="2"/>
              </a:rPr>
              <a:t> Dilated convolution, </a:t>
            </a:r>
            <a:r>
              <a:rPr lang="ko-KR" altLang="en-US" sz="1500" dirty="0">
                <a:latin typeface="+mn-ea"/>
                <a:cs typeface="Times New Roman" panose="02020603050405020304" pitchFamily="18" charset="0"/>
                <a:sym typeface="Wingdings" panose="05000000000000000000" pitchFamily="2" charset="2"/>
              </a:rPr>
              <a:t>유동적 </a:t>
            </a:r>
            <a:r>
              <a:rPr lang="en-US" altLang="ko-KR" sz="1500" dirty="0">
                <a:latin typeface="+mn-ea"/>
                <a:cs typeface="Times New Roman" panose="02020603050405020304" pitchFamily="18" charset="0"/>
                <a:sym typeface="Wingdings" panose="05000000000000000000" pitchFamily="2" charset="2"/>
              </a:rPr>
              <a:t>kernel size </a:t>
            </a:r>
            <a:r>
              <a:rPr lang="ko-KR" altLang="en-US" sz="1500" dirty="0">
                <a:latin typeface="+mn-ea"/>
                <a:cs typeface="Times New Roman" panose="02020603050405020304" pitchFamily="18" charset="0"/>
                <a:sym typeface="Wingdings" panose="05000000000000000000" pitchFamily="2" charset="2"/>
              </a:rPr>
              <a:t>사용으로 메모리 관리 가능 </a:t>
            </a:r>
            <a:endParaRPr lang="en-US" altLang="ko-KR" sz="1500" dirty="0">
              <a:latin typeface="+mn-ea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altLang="ko-KR" sz="1500" dirty="0">
                <a:latin typeface="+mn-ea"/>
                <a:cs typeface="Times New Roman" panose="02020603050405020304" pitchFamily="18" charset="0"/>
              </a:rPr>
              <a:t>Residual block</a:t>
            </a:r>
            <a:r>
              <a:rPr lang="ko-KR" altLang="en-US" sz="1500" dirty="0">
                <a:latin typeface="+mn-ea"/>
                <a:cs typeface="Times New Roman" panose="02020603050405020304" pitchFamily="18" charset="0"/>
              </a:rPr>
              <a:t>을 통해 장기 정보와 단기 정보를 </a:t>
            </a:r>
            <a:r>
              <a:rPr lang="en-US" altLang="ko-KR" sz="1500" dirty="0">
                <a:latin typeface="+mn-ea"/>
                <a:cs typeface="Times New Roman" panose="02020603050405020304" pitchFamily="18" charset="0"/>
              </a:rPr>
              <a:t>block </a:t>
            </a:r>
            <a:r>
              <a:rPr lang="ko-KR" altLang="en-US" sz="1500" dirty="0">
                <a:latin typeface="+mn-ea"/>
                <a:cs typeface="Times New Roman" panose="02020603050405020304" pitchFamily="18" charset="0"/>
              </a:rPr>
              <a:t>마다 합치며</a:t>
            </a:r>
            <a:r>
              <a:rPr lang="en-US" altLang="ko-KR" sz="1500" dirty="0">
                <a:latin typeface="+mn-ea"/>
                <a:cs typeface="Times New Roman" panose="02020603050405020304" pitchFamily="18" charset="0"/>
              </a:rPr>
              <a:t>, gradient </a:t>
            </a:r>
            <a:r>
              <a:rPr lang="ko-KR" altLang="en-US" sz="1500" dirty="0">
                <a:latin typeface="+mn-ea"/>
                <a:cs typeface="Times New Roman" panose="02020603050405020304" pitchFamily="18" charset="0"/>
              </a:rPr>
              <a:t>흐름과 정보 보존을 동시에 보장 </a:t>
            </a:r>
            <a:r>
              <a:rPr lang="en-US" altLang="ko-KR" sz="1500" dirty="0">
                <a:latin typeface="+mn-ea"/>
                <a:cs typeface="Times New Roman" panose="02020603050405020304" pitchFamily="18" charset="0"/>
              </a:rPr>
              <a:t>(layer</a:t>
            </a:r>
            <a:r>
              <a:rPr lang="ko-KR" altLang="en-US" sz="1500" dirty="0">
                <a:latin typeface="+mn-ea"/>
                <a:cs typeface="Times New Roman" panose="02020603050405020304" pitchFamily="18" charset="0"/>
              </a:rPr>
              <a:t> 수가 </a:t>
            </a:r>
            <a:r>
              <a:rPr lang="en-US" altLang="ko-KR" sz="1500" dirty="0">
                <a:latin typeface="+mn-ea"/>
                <a:cs typeface="Times New Roman" panose="02020603050405020304" pitchFamily="18" charset="0"/>
              </a:rPr>
              <a:t>1~2</a:t>
            </a:r>
            <a:r>
              <a:rPr lang="ko-KR" altLang="en-US" sz="1500" dirty="0">
                <a:latin typeface="+mn-ea"/>
                <a:cs typeface="Times New Roman" panose="02020603050405020304" pitchFamily="18" charset="0"/>
              </a:rPr>
              <a:t>개로 매우 적거나 </a:t>
            </a:r>
            <a:r>
              <a:rPr lang="en-US" altLang="ko-KR" sz="1500" dirty="0">
                <a:latin typeface="+mn-ea"/>
                <a:cs typeface="Times New Roman" panose="02020603050405020304" pitchFamily="18" charset="0"/>
              </a:rPr>
              <a:t>dilation</a:t>
            </a:r>
            <a:r>
              <a:rPr lang="ko-KR" altLang="en-US" sz="1500" dirty="0">
                <a:latin typeface="+mn-ea"/>
                <a:cs typeface="Times New Roman" panose="02020603050405020304" pitchFamily="18" charset="0"/>
              </a:rPr>
              <a:t>이 거의 사용되지 않을 때는 사용하지 않아도 됨</a:t>
            </a:r>
            <a:r>
              <a:rPr lang="en-US" altLang="ko-KR" sz="1500" dirty="0">
                <a:latin typeface="+mn-ea"/>
                <a:cs typeface="Times New Roman" panose="02020603050405020304" pitchFamily="18" charset="0"/>
              </a:rPr>
              <a:t>, but </a:t>
            </a:r>
            <a:r>
              <a:rPr lang="ko-KR" altLang="en-US" sz="1500" dirty="0">
                <a:latin typeface="+mn-ea"/>
                <a:cs typeface="Times New Roman" panose="02020603050405020304" pitchFamily="18" charset="0"/>
              </a:rPr>
              <a:t>이 경우는 </a:t>
            </a:r>
            <a:r>
              <a:rPr lang="en-US" altLang="ko-KR" sz="1500" dirty="0">
                <a:latin typeface="+mn-ea"/>
                <a:cs typeface="Times New Roman" panose="02020603050405020304" pitchFamily="18" charset="0"/>
              </a:rPr>
              <a:t>TCN</a:t>
            </a:r>
            <a:r>
              <a:rPr lang="ko-KR" altLang="en-US" sz="1500" dirty="0">
                <a:latin typeface="+mn-ea"/>
                <a:cs typeface="Times New Roman" panose="02020603050405020304" pitchFamily="18" charset="0"/>
              </a:rPr>
              <a:t>을 쓰는 의미가 없음</a:t>
            </a:r>
            <a:r>
              <a:rPr lang="en-US" altLang="ko-KR" sz="1500" dirty="0">
                <a:latin typeface="+mn-ea"/>
                <a:cs typeface="Times New Roman" panose="02020603050405020304" pitchFamily="18" charset="0"/>
              </a:rPr>
              <a:t>) </a:t>
            </a:r>
            <a:r>
              <a:rPr lang="en-US" altLang="ko-KR" sz="1500" dirty="0">
                <a:latin typeface="+mn-ea"/>
                <a:cs typeface="Times New Roman" panose="02020603050405020304" pitchFamily="18" charset="0"/>
                <a:sym typeface="Wingdings" panose="05000000000000000000" pitchFamily="2" charset="2"/>
              </a:rPr>
              <a:t> residual block</a:t>
            </a:r>
            <a:r>
              <a:rPr lang="ko-KR" altLang="en-US" sz="1500" dirty="0">
                <a:latin typeface="+mn-ea"/>
                <a:cs typeface="Times New Roman" panose="02020603050405020304" pitchFamily="18" charset="0"/>
                <a:sym typeface="Wingdings" panose="05000000000000000000" pitchFamily="2" charset="2"/>
              </a:rPr>
              <a:t>은 거의 필수</a:t>
            </a:r>
            <a:endParaRPr lang="en-US" altLang="ko-KR" sz="1500" dirty="0">
              <a:latin typeface="+mn-ea"/>
              <a:cs typeface="Times New Roman" panose="02020603050405020304" pitchFamily="18" charset="0"/>
            </a:endParaRP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altLang="ko-KR" sz="1500" dirty="0">
                <a:latin typeface="+mn-ea"/>
                <a:cs typeface="Times New Roman" panose="02020603050405020304" pitchFamily="18" charset="0"/>
              </a:rPr>
              <a:t>Dilated convolution</a:t>
            </a:r>
          </a:p>
          <a:p>
            <a:pPr marL="1200150" lvl="2" indent="-285750">
              <a:buFontTx/>
              <a:buChar char="-"/>
            </a:pPr>
            <a:r>
              <a:rPr lang="en-US" altLang="ko-KR" sz="1500" dirty="0">
                <a:latin typeface="+mn-ea"/>
                <a:cs typeface="Times New Roman" panose="02020603050405020304" pitchFamily="18" charset="0"/>
              </a:rPr>
              <a:t>Receptive</a:t>
            </a:r>
            <a:r>
              <a:rPr lang="ko-KR" altLang="en-US" sz="1500" dirty="0">
                <a:latin typeface="+mn-ea"/>
                <a:cs typeface="Times New Roman" panose="02020603050405020304" pitchFamily="18" charset="0"/>
              </a:rPr>
              <a:t> </a:t>
            </a:r>
            <a:r>
              <a:rPr lang="en-US" altLang="ko-KR" sz="1500" dirty="0">
                <a:latin typeface="+mn-ea"/>
                <a:cs typeface="Times New Roman" panose="02020603050405020304" pitchFamily="18" charset="0"/>
              </a:rPr>
              <a:t>field</a:t>
            </a:r>
            <a:r>
              <a:rPr lang="ko-KR" altLang="en-US" sz="1500" dirty="0">
                <a:latin typeface="+mn-ea"/>
                <a:cs typeface="Times New Roman" panose="02020603050405020304" pitchFamily="18" charset="0"/>
              </a:rPr>
              <a:t>를 크게 만들면서 </a:t>
            </a:r>
            <a:r>
              <a:rPr lang="ko-KR" altLang="en-US" sz="1500" dirty="0" err="1">
                <a:latin typeface="+mn-ea"/>
                <a:cs typeface="Times New Roman" panose="02020603050405020304" pitchFamily="18" charset="0"/>
              </a:rPr>
              <a:t>연산량의</a:t>
            </a:r>
            <a:r>
              <a:rPr lang="ko-KR" altLang="en-US" sz="1500" dirty="0">
                <a:latin typeface="+mn-ea"/>
                <a:cs typeface="Times New Roman" panose="02020603050405020304" pitchFamily="18" charset="0"/>
              </a:rPr>
              <a:t> 증가를 가져오지 않는 방법</a:t>
            </a:r>
            <a:r>
              <a:rPr lang="en-US" altLang="ko-KR" sz="1500" dirty="0">
                <a:latin typeface="+mn-ea"/>
                <a:cs typeface="Times New Roman" panose="02020603050405020304" pitchFamily="18" charset="0"/>
              </a:rPr>
              <a:t>: </a:t>
            </a:r>
            <a:r>
              <a:rPr lang="ko-KR" altLang="en-US" sz="1500" dirty="0">
                <a:latin typeface="+mn-ea"/>
                <a:cs typeface="Times New Roman" panose="02020603050405020304" pitchFamily="18" charset="0"/>
              </a:rPr>
              <a:t>듬성듬성 가져오는 것</a:t>
            </a:r>
            <a:endParaRPr lang="en-US" altLang="ko-KR" sz="1500" dirty="0">
              <a:latin typeface="+mn-ea"/>
              <a:cs typeface="Times New Roman" panose="02020603050405020304" pitchFamily="18" charset="0"/>
            </a:endParaRPr>
          </a:p>
          <a:p>
            <a:pPr marL="1200150" lvl="2" indent="-285750">
              <a:buFontTx/>
              <a:buChar char="-"/>
            </a:pPr>
            <a:r>
              <a:rPr lang="en-US" altLang="ko-KR" sz="1500" dirty="0">
                <a:latin typeface="+mn-ea"/>
                <a:cs typeface="Times New Roman" panose="02020603050405020304" pitchFamily="18" charset="0"/>
              </a:rPr>
              <a:t>Layer</a:t>
            </a:r>
            <a:r>
              <a:rPr lang="ko-KR" altLang="en-US" sz="1500" dirty="0">
                <a:latin typeface="+mn-ea"/>
                <a:cs typeface="Times New Roman" panose="02020603050405020304" pitchFamily="18" charset="0"/>
              </a:rPr>
              <a:t>가 깊어질수록 </a:t>
            </a:r>
            <a:r>
              <a:rPr lang="en-US" altLang="ko-KR" sz="1500" dirty="0">
                <a:latin typeface="+mn-ea"/>
                <a:cs typeface="Times New Roman" panose="02020603050405020304" pitchFamily="18" charset="0"/>
              </a:rPr>
              <a:t>receptive field</a:t>
            </a:r>
            <a:r>
              <a:rPr lang="ko-KR" altLang="en-US" sz="1500" dirty="0">
                <a:latin typeface="+mn-ea"/>
                <a:cs typeface="Times New Roman" panose="02020603050405020304" pitchFamily="18" charset="0"/>
              </a:rPr>
              <a:t>가 지수적으로 증가할 수 있게 </a:t>
            </a:r>
            <a:r>
              <a:rPr lang="ko-KR" altLang="en-US" sz="1500" dirty="0" err="1">
                <a:latin typeface="+mn-ea"/>
                <a:cs typeface="Times New Roman" panose="02020603050405020304" pitchFamily="18" charset="0"/>
              </a:rPr>
              <a:t>해줌</a:t>
            </a:r>
            <a:endParaRPr lang="en-US" altLang="ko-KR" sz="1500" dirty="0">
              <a:latin typeface="+mn-ea"/>
              <a:cs typeface="Times New Roman" panose="02020603050405020304" pitchFamily="18" charset="0"/>
            </a:endParaRPr>
          </a:p>
          <a:p>
            <a:pPr marL="1200150" lvl="2" indent="-285750">
              <a:buFontTx/>
              <a:buChar char="-"/>
            </a:pPr>
            <a:r>
              <a:rPr lang="ko-KR" altLang="en-US" sz="1500" dirty="0">
                <a:latin typeface="+mn-ea"/>
                <a:cs typeface="Times New Roman" panose="02020603050405020304" pitchFamily="18" charset="0"/>
              </a:rPr>
              <a:t>깊을 </a:t>
            </a:r>
            <a:r>
              <a:rPr lang="en-US" altLang="ko-KR" sz="1500" dirty="0">
                <a:latin typeface="+mn-ea"/>
                <a:cs typeface="Times New Roman" panose="02020603050405020304" pitchFamily="18" charset="0"/>
              </a:rPr>
              <a:t>layer</a:t>
            </a:r>
            <a:r>
              <a:rPr lang="ko-KR" altLang="en-US" sz="1500" dirty="0">
                <a:latin typeface="+mn-ea"/>
                <a:cs typeface="Times New Roman" panose="02020603050405020304" pitchFamily="18" charset="0"/>
              </a:rPr>
              <a:t>로 들어갈수록 </a:t>
            </a:r>
            <a:r>
              <a:rPr lang="en-US" altLang="ko-KR" sz="1500" dirty="0">
                <a:latin typeface="+mn-ea"/>
                <a:cs typeface="Times New Roman" panose="02020603050405020304" pitchFamily="18" charset="0"/>
              </a:rPr>
              <a:t>dilation</a:t>
            </a:r>
            <a:r>
              <a:rPr lang="ko-KR" altLang="en-US" sz="1500" dirty="0">
                <a:latin typeface="+mn-ea"/>
                <a:cs typeface="Times New Roman" panose="02020603050405020304" pitchFamily="18" charset="0"/>
              </a:rPr>
              <a:t>을 점차 </a:t>
            </a:r>
            <a:r>
              <a:rPr lang="ko-KR" altLang="en-US" sz="1500" dirty="0" err="1">
                <a:latin typeface="+mn-ea"/>
                <a:cs typeface="Times New Roman" panose="02020603050405020304" pitchFamily="18" charset="0"/>
              </a:rPr>
              <a:t>키워나가는</a:t>
            </a:r>
            <a:r>
              <a:rPr lang="ko-KR" altLang="en-US" sz="1500" dirty="0">
                <a:latin typeface="+mn-ea"/>
                <a:cs typeface="Times New Roman" panose="02020603050405020304" pitchFamily="18" charset="0"/>
              </a:rPr>
              <a:t> 것이 일반적</a:t>
            </a:r>
            <a:endParaRPr lang="en-US" altLang="ko-KR" sz="1500" dirty="0">
              <a:latin typeface="+mn-ea"/>
              <a:cs typeface="Times New Roman" panose="02020603050405020304" pitchFamily="18" charset="0"/>
            </a:endParaRP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altLang="ko-KR" sz="1500" dirty="0">
                <a:latin typeface="+mn-ea"/>
                <a:cs typeface="Times New Roman" panose="02020603050405020304" pitchFamily="18" charset="0"/>
              </a:rPr>
              <a:t>Kernel size: </a:t>
            </a:r>
            <a:r>
              <a:rPr lang="ko-KR" altLang="en-US" sz="1500" dirty="0">
                <a:latin typeface="+mn-ea"/>
                <a:cs typeface="Times New Roman" panose="02020603050405020304" pitchFamily="18" charset="0"/>
              </a:rPr>
              <a:t>한 번의 </a:t>
            </a:r>
            <a:r>
              <a:rPr lang="en-US" altLang="ko-KR" sz="1500" dirty="0">
                <a:latin typeface="+mn-ea"/>
                <a:cs typeface="Times New Roman" panose="02020603050405020304" pitchFamily="18" charset="0"/>
              </a:rPr>
              <a:t>convolution </a:t>
            </a:r>
            <a:r>
              <a:rPr lang="ko-KR" altLang="en-US" sz="1500" dirty="0">
                <a:latin typeface="+mn-ea"/>
                <a:cs typeface="Times New Roman" panose="02020603050405020304" pitchFamily="18" charset="0"/>
              </a:rPr>
              <a:t>연산이 </a:t>
            </a:r>
            <a:r>
              <a:rPr lang="ko-KR" altLang="en-US" sz="1500" dirty="0" err="1">
                <a:latin typeface="+mn-ea"/>
                <a:cs typeface="Times New Roman" panose="02020603050405020304" pitchFamily="18" charset="0"/>
              </a:rPr>
              <a:t>시간축에서</a:t>
            </a:r>
            <a:r>
              <a:rPr lang="ko-KR" altLang="en-US" sz="1500" dirty="0">
                <a:latin typeface="+mn-ea"/>
                <a:cs typeface="Times New Roman" panose="02020603050405020304" pitchFamily="18" charset="0"/>
              </a:rPr>
              <a:t> 몇 개의 시점을 동시에 보느냐</a:t>
            </a:r>
            <a:endParaRPr lang="en-US" altLang="ko-KR" sz="1500" dirty="0">
              <a:latin typeface="+mn-ea"/>
              <a:cs typeface="Times New Roman" panose="02020603050405020304" pitchFamily="18" charset="0"/>
            </a:endParaRP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ko-KR" altLang="en-US" sz="1500" dirty="0">
                <a:latin typeface="+mn-ea"/>
                <a:cs typeface="Times New Roman" panose="02020603050405020304" pitchFamily="18" charset="0"/>
              </a:rPr>
              <a:t>현재까지의 과거 패턴을 잘 요약하는 것에 강점</a:t>
            </a:r>
            <a:r>
              <a:rPr lang="en-US" altLang="ko-KR" sz="1500" dirty="0">
                <a:latin typeface="+mn-ea"/>
                <a:cs typeface="Times New Roman" panose="02020603050405020304" pitchFamily="18" charset="0"/>
              </a:rPr>
              <a:t>, </a:t>
            </a:r>
            <a:r>
              <a:rPr lang="ko-KR" altLang="en-US" sz="1500" dirty="0">
                <a:latin typeface="+mn-ea"/>
                <a:cs typeface="Times New Roman" panose="02020603050405020304" pitchFamily="18" charset="0"/>
              </a:rPr>
              <a:t>미래 생성 및 불확실성을 모델링하는 능력은 제한적</a:t>
            </a:r>
            <a:r>
              <a:rPr lang="en-US" altLang="ko-KR" sz="1500" dirty="0">
                <a:latin typeface="+mn-ea"/>
                <a:cs typeface="Times New Roman" panose="02020603050405020304" pitchFamily="18" charset="0"/>
              </a:rPr>
              <a:t> </a:t>
            </a:r>
            <a:r>
              <a:rPr lang="en-US" altLang="ko-KR" sz="1500" dirty="0">
                <a:latin typeface="+mn-ea"/>
                <a:cs typeface="Times New Roman" panose="02020603050405020304" pitchFamily="18" charset="0"/>
                <a:sym typeface="Wingdings" panose="05000000000000000000" pitchFamily="2" charset="2"/>
              </a:rPr>
              <a:t> TCN </a:t>
            </a:r>
            <a:r>
              <a:rPr lang="ko-KR" altLang="en-US" sz="1500" dirty="0">
                <a:latin typeface="+mn-ea"/>
                <a:cs typeface="Times New Roman" panose="02020603050405020304" pitchFamily="18" charset="0"/>
                <a:sym typeface="Wingdings" panose="05000000000000000000" pitchFamily="2" charset="2"/>
              </a:rPr>
              <a:t>단독 사용보다는 </a:t>
            </a:r>
            <a:r>
              <a:rPr lang="ko-KR" altLang="en-US" sz="1500" dirty="0">
                <a:latin typeface="+mn-ea"/>
                <a:cs typeface="Times New Roman" panose="02020603050405020304" pitchFamily="18" charset="0"/>
              </a:rPr>
              <a:t>미래 생성을 위한 </a:t>
            </a:r>
            <a:r>
              <a:rPr lang="en-US" altLang="ko-KR" sz="1500" dirty="0">
                <a:latin typeface="+mn-ea"/>
                <a:cs typeface="Times New Roman" panose="02020603050405020304" pitchFamily="18" charset="0"/>
              </a:rPr>
              <a:t>network block</a:t>
            </a:r>
            <a:r>
              <a:rPr lang="ko-KR" altLang="en-US" sz="1500" dirty="0">
                <a:latin typeface="+mn-ea"/>
                <a:cs typeface="Times New Roman" panose="02020603050405020304" pitchFamily="18" charset="0"/>
              </a:rPr>
              <a:t>을 결합하여 사용 </a:t>
            </a:r>
            <a:r>
              <a:rPr lang="en-US" altLang="ko-KR" sz="1500" dirty="0">
                <a:latin typeface="+mn-ea"/>
                <a:cs typeface="Times New Roman" panose="02020603050405020304" pitchFamily="18" charset="0"/>
                <a:sym typeface="Wingdings" panose="05000000000000000000" pitchFamily="2" charset="2"/>
              </a:rPr>
              <a:t> MLP / RNN, GRU, LSTM / Attention + Transformer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altLang="ko-KR" sz="1500" dirty="0">
                <a:latin typeface="+mn-ea"/>
                <a:cs typeface="Times New Roman" panose="02020603050405020304" pitchFamily="18" charset="0"/>
                <a:sym typeface="Wingdings" panose="05000000000000000000" pitchFamily="2" charset="2"/>
              </a:rPr>
              <a:t>Multi-step </a:t>
            </a:r>
            <a:r>
              <a:rPr lang="ko-KR" altLang="en-US" sz="1500" dirty="0">
                <a:latin typeface="+mn-ea"/>
                <a:cs typeface="Times New Roman" panose="02020603050405020304" pitchFamily="18" charset="0"/>
                <a:sym typeface="Wingdings" panose="05000000000000000000" pitchFamily="2" charset="2"/>
              </a:rPr>
              <a:t>예측을 위해서는 시간을 고려하지 않는 </a:t>
            </a:r>
            <a:r>
              <a:rPr lang="en-US" altLang="ko-KR" sz="1500" dirty="0">
                <a:latin typeface="+mn-ea"/>
                <a:cs typeface="Times New Roman" panose="02020603050405020304" pitchFamily="18" charset="0"/>
                <a:sym typeface="Wingdings" panose="05000000000000000000" pitchFamily="2" charset="2"/>
              </a:rPr>
              <a:t>MLP head </a:t>
            </a:r>
            <a:r>
              <a:rPr lang="ko-KR" altLang="en-US" sz="1500" dirty="0">
                <a:latin typeface="+mn-ea"/>
                <a:cs typeface="Times New Roman" panose="02020603050405020304" pitchFamily="18" charset="0"/>
                <a:sym typeface="Wingdings" panose="05000000000000000000" pitchFamily="2" charset="2"/>
              </a:rPr>
              <a:t>는 짧은 시간만 예측할 때 사용하고</a:t>
            </a:r>
            <a:r>
              <a:rPr lang="en-US" altLang="ko-KR" sz="1500" dirty="0">
                <a:latin typeface="+mn-ea"/>
                <a:cs typeface="Times New Roman" panose="02020603050405020304" pitchFamily="18" charset="0"/>
                <a:sym typeface="Wingdings" panose="05000000000000000000" pitchFamily="2" charset="2"/>
              </a:rPr>
              <a:t>, Seq2Seq </a:t>
            </a:r>
            <a:r>
              <a:rPr lang="ko-KR" altLang="en-US" sz="1500" dirty="0">
                <a:latin typeface="+mn-ea"/>
                <a:cs typeface="Times New Roman" panose="02020603050405020304" pitchFamily="18" charset="0"/>
                <a:sym typeface="Wingdings" panose="05000000000000000000" pitchFamily="2" charset="2"/>
              </a:rPr>
              <a:t>방식을 주로 사용</a:t>
            </a:r>
            <a:r>
              <a:rPr lang="en-US" altLang="ko-KR" sz="1500" dirty="0">
                <a:latin typeface="+mn-ea"/>
                <a:cs typeface="Times New Roman" panose="02020603050405020304" pitchFamily="18" charset="0"/>
                <a:sym typeface="Wingdings" panose="05000000000000000000" pitchFamily="2" charset="2"/>
              </a:rPr>
              <a:t>, TCN</a:t>
            </a:r>
            <a:r>
              <a:rPr lang="ko-KR" altLang="en-US" sz="1500" dirty="0">
                <a:latin typeface="+mn-ea"/>
                <a:cs typeface="Times New Roman" panose="02020603050405020304" pitchFamily="18" charset="0"/>
                <a:sym typeface="Wingdings" panose="05000000000000000000" pitchFamily="2" charset="2"/>
              </a:rPr>
              <a:t>이 이 중에서 </a:t>
            </a:r>
            <a:r>
              <a:rPr lang="en-US" altLang="ko-KR" sz="1500" dirty="0">
                <a:latin typeface="+mn-ea"/>
                <a:cs typeface="Times New Roman" panose="02020603050405020304" pitchFamily="18" charset="0"/>
                <a:sym typeface="Wingdings" panose="05000000000000000000" pitchFamily="2" charset="2"/>
              </a:rPr>
              <a:t>encoder</a:t>
            </a:r>
            <a:r>
              <a:rPr lang="ko-KR" altLang="en-US" sz="1500" dirty="0">
                <a:latin typeface="+mn-ea"/>
                <a:cs typeface="Times New Roman" panose="02020603050405020304" pitchFamily="18" charset="0"/>
                <a:sym typeface="Wingdings" panose="05000000000000000000" pitchFamily="2" charset="2"/>
              </a:rPr>
              <a:t>의 역할을 한 것</a:t>
            </a:r>
            <a:endParaRPr lang="en-US" altLang="ko-KR" sz="1500" dirty="0">
              <a:latin typeface="+mn-ea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altLang="ko-KR" sz="1500" dirty="0">
                <a:latin typeface="+mn-ea"/>
                <a:cs typeface="Times New Roman" panose="02020603050405020304" pitchFamily="18" charset="0"/>
                <a:sym typeface="Wingdings" panose="05000000000000000000" pitchFamily="2" charset="2"/>
              </a:rPr>
              <a:t>Seq2Seq</a:t>
            </a:r>
          </a:p>
          <a:p>
            <a:pPr marL="1200150" lvl="2" indent="-285750">
              <a:buFontTx/>
              <a:buChar char="-"/>
            </a:pPr>
            <a:r>
              <a:rPr lang="en-US" altLang="ko-KR" sz="1500" dirty="0">
                <a:latin typeface="+mn-ea"/>
                <a:cs typeface="Times New Roman" panose="02020603050405020304" pitchFamily="18" charset="0"/>
                <a:sym typeface="Wingdings" panose="05000000000000000000" pitchFamily="2" charset="2"/>
              </a:rPr>
              <a:t>Encoder: TCN / RNN / Transformer</a:t>
            </a:r>
          </a:p>
          <a:p>
            <a:pPr marL="1200150" lvl="2" indent="-285750">
              <a:buFontTx/>
              <a:buChar char="-"/>
            </a:pPr>
            <a:r>
              <a:rPr lang="en-US" altLang="ko-KR" sz="1500" dirty="0">
                <a:latin typeface="+mn-ea"/>
                <a:cs typeface="Times New Roman" panose="02020603050405020304" pitchFamily="18" charset="0"/>
                <a:sym typeface="Wingdings" panose="05000000000000000000" pitchFamily="2" charset="2"/>
              </a:rPr>
              <a:t>Decoder: Autoregressive (GRU / LSTM / Transformer), Temporal Convolution</a:t>
            </a:r>
          </a:p>
          <a:p>
            <a:pPr marL="1200150" lvl="2" indent="-285750">
              <a:buFontTx/>
              <a:buChar char="-"/>
            </a:pPr>
            <a:r>
              <a:rPr lang="en-US" altLang="ko-KR" sz="1500" dirty="0">
                <a:latin typeface="+mn-ea"/>
                <a:cs typeface="Times New Roman" panose="02020603050405020304" pitchFamily="18" charset="0"/>
              </a:rPr>
              <a:t>TCN</a:t>
            </a:r>
            <a:r>
              <a:rPr lang="ko-KR" altLang="en-US" sz="1500" dirty="0">
                <a:latin typeface="+mn-ea"/>
                <a:cs typeface="Times New Roman" panose="02020603050405020304" pitchFamily="18" charset="0"/>
              </a:rPr>
              <a:t>이 </a:t>
            </a:r>
            <a:r>
              <a:rPr lang="en-US" altLang="ko-KR" sz="1500" dirty="0">
                <a:latin typeface="+mn-ea"/>
                <a:cs typeface="Times New Roman" panose="02020603050405020304" pitchFamily="18" charset="0"/>
              </a:rPr>
              <a:t>encoder</a:t>
            </a:r>
            <a:r>
              <a:rPr lang="ko-KR" altLang="en-US" sz="1500" dirty="0">
                <a:latin typeface="+mn-ea"/>
                <a:cs typeface="Times New Roman" panose="02020603050405020304" pitchFamily="18" charset="0"/>
              </a:rPr>
              <a:t>의 역할이므로 </a:t>
            </a:r>
            <a:r>
              <a:rPr lang="en-US" altLang="ko-KR" sz="1500" dirty="0">
                <a:latin typeface="+mn-ea"/>
                <a:cs typeface="Times New Roman" panose="02020603050405020304" pitchFamily="18" charset="0"/>
              </a:rPr>
              <a:t>TCN + Decoder</a:t>
            </a:r>
            <a:r>
              <a:rPr lang="ko-KR" altLang="en-US" sz="1500" dirty="0">
                <a:latin typeface="+mn-ea"/>
                <a:cs typeface="Times New Roman" panose="02020603050405020304" pitchFamily="18" charset="0"/>
              </a:rPr>
              <a:t>만 해도 괜찮음</a:t>
            </a:r>
            <a:endParaRPr lang="en-US" altLang="ko-KR" sz="1500" dirty="0">
              <a:latin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13258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EC60EAAC-3DBC-45E9-AB04-4681F0F33284}"/>
              </a:ext>
            </a:extLst>
          </p:cNvPr>
          <p:cNvSpPr/>
          <p:nvPr/>
        </p:nvSpPr>
        <p:spPr>
          <a:xfrm>
            <a:off x="0" y="0"/>
            <a:ext cx="2499402" cy="103105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600" b="1" dirty="0">
                <a:latin typeface="+mn-ea"/>
                <a:cs typeface="Times New Roman" panose="02020603050405020304" pitchFamily="18" charset="0"/>
              </a:rPr>
              <a:t>(4) Normalization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500" dirty="0">
              <a:latin typeface="+mn-ea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500" dirty="0">
                <a:latin typeface="+mn-ea"/>
                <a:cs typeface="Times New Roman" panose="02020603050405020304" pitchFamily="18" charset="0"/>
              </a:rPr>
              <a:t>Dropout probability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500" dirty="0">
                <a:latin typeface="+mn-ea"/>
                <a:cs typeface="Times New Roman" panose="02020603050405020304" pitchFamily="18" charset="0"/>
              </a:rPr>
              <a:t>Label smoothing factor</a:t>
            </a:r>
          </a:p>
        </p:txBody>
      </p:sp>
    </p:spTree>
    <p:extLst>
      <p:ext uri="{BB962C8B-B14F-4D97-AF65-F5344CB8AC3E}">
        <p14:creationId xmlns:p14="http://schemas.microsoft.com/office/powerpoint/2010/main" val="24228867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EC60EAAC-3DBC-45E9-AB04-4681F0F33284}"/>
              </a:ext>
            </a:extLst>
          </p:cNvPr>
          <p:cNvSpPr/>
          <p:nvPr/>
        </p:nvSpPr>
        <p:spPr>
          <a:xfrm>
            <a:off x="0" y="0"/>
            <a:ext cx="2504212" cy="172354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600" b="1" dirty="0">
                <a:latin typeface="+mn-ea"/>
                <a:cs typeface="Times New Roman" panose="02020603050405020304" pitchFamily="18" charset="0"/>
              </a:rPr>
              <a:t>(5) Loss function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500" dirty="0">
              <a:latin typeface="+mn-ea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500" dirty="0">
                <a:latin typeface="+mn-ea"/>
                <a:cs typeface="Times New Roman" panose="02020603050405020304" pitchFamily="18" charset="0"/>
              </a:rPr>
              <a:t>Loss </a:t>
            </a:r>
            <a:r>
              <a:rPr lang="ko-KR" altLang="en-US" sz="1500" dirty="0">
                <a:latin typeface="+mn-ea"/>
                <a:cs typeface="Times New Roman" panose="02020603050405020304" pitchFamily="18" charset="0"/>
              </a:rPr>
              <a:t>종류</a:t>
            </a:r>
            <a:endParaRPr lang="en-US" altLang="ko-KR" sz="1500" dirty="0">
              <a:latin typeface="+mn-ea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500" dirty="0">
                <a:latin typeface="+mn-ea"/>
                <a:cs typeface="Times New Roman" panose="02020603050405020304" pitchFamily="18" charset="0"/>
              </a:rPr>
              <a:t>Loss </a:t>
            </a:r>
            <a:r>
              <a:rPr lang="ko-KR" altLang="en-US" sz="1500" dirty="0">
                <a:latin typeface="+mn-ea"/>
                <a:cs typeface="Times New Roman" panose="02020603050405020304" pitchFamily="18" charset="0"/>
              </a:rPr>
              <a:t>내부 파라미터</a:t>
            </a:r>
            <a:endParaRPr lang="en-US" altLang="ko-KR" sz="1500" dirty="0">
              <a:latin typeface="+mn-ea"/>
              <a:cs typeface="Times New Roman" panose="02020603050405020304" pitchFamily="18" charset="0"/>
            </a:endParaRP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altLang="ko-KR" sz="1500" dirty="0">
                <a:latin typeface="+mn-ea"/>
                <a:cs typeface="Times New Roman" panose="02020603050405020304" pitchFamily="18" charset="0"/>
              </a:rPr>
              <a:t>Huber delta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altLang="ko-KR" sz="1500" dirty="0">
                <a:latin typeface="+mn-ea"/>
                <a:cs typeface="Times New Roman" panose="02020603050405020304" pitchFamily="18" charset="0"/>
              </a:rPr>
              <a:t>Focal loss gamma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altLang="ko-KR" sz="1500" dirty="0">
                <a:latin typeface="+mn-ea"/>
                <a:cs typeface="Times New Roman" panose="02020603050405020304" pitchFamily="18" charset="0"/>
              </a:rPr>
              <a:t>Class weight</a:t>
            </a:r>
          </a:p>
        </p:txBody>
      </p:sp>
    </p:spTree>
    <p:extLst>
      <p:ext uri="{BB962C8B-B14F-4D97-AF65-F5344CB8AC3E}">
        <p14:creationId xmlns:p14="http://schemas.microsoft.com/office/powerpoint/2010/main" val="20817021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291615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19D6A4F6AB632C41BA8650EE0B1C0DC9" ma:contentTypeVersion="14" ma:contentTypeDescription="새 문서를 만듭니다." ma:contentTypeScope="" ma:versionID="be88fff2edd1724e905a47d2ccab3f8f">
  <xsd:schema xmlns:xsd="http://www.w3.org/2001/XMLSchema" xmlns:xs="http://www.w3.org/2001/XMLSchema" xmlns:p="http://schemas.microsoft.com/office/2006/metadata/properties" xmlns:ns3="a057c106-f706-43fd-80f6-6b86486fa890" targetNamespace="http://schemas.microsoft.com/office/2006/metadata/properties" ma:root="true" ma:fieldsID="4fbc51094906eae7cce419d34d53bb94" ns3:_="">
    <xsd:import namespace="a057c106-f706-43fd-80f6-6b86486fa890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_activity" minOccurs="0"/>
                <xsd:element ref="ns3:MediaServiceSearchProperties" minOccurs="0"/>
                <xsd:element ref="ns3:MediaServiceObjectDetectorVersions" minOccurs="0"/>
                <xsd:element ref="ns3:MediaServiceSystemTags" minOccurs="0"/>
                <xsd:element ref="ns3:MediaServiceLocation" minOccurs="0"/>
                <xsd:element ref="ns3:MediaLengthInSeconds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057c106-f706-43fd-80f6-6b86486fa89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_activity" ma:index="15" nillable="true" ma:displayName="_activity" ma:hidden="true" ma:internalName="_activity">
      <xsd:simpleType>
        <xsd:restriction base="dms:Note"/>
      </xsd:simpleType>
    </xsd:element>
    <xsd:element name="MediaServiceSearchProperties" ma:index="1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18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21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a057c106-f706-43fd-80f6-6b86486fa890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45E5065-1F86-4EE0-A319-8D64BD127B0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057c106-f706-43fd-80f6-6b86486fa89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6A6CCC9-98F7-4DC3-8CA7-A0399930C311}">
  <ds:schemaRefs>
    <ds:schemaRef ds:uri="http://schemas.openxmlformats.org/package/2006/metadata/core-properties"/>
    <ds:schemaRef ds:uri="http://purl.org/dc/elements/1.1/"/>
    <ds:schemaRef ds:uri="http://schemas.microsoft.com/office/2006/documentManagement/types"/>
    <ds:schemaRef ds:uri="http://purl.org/dc/terms/"/>
    <ds:schemaRef ds:uri="http://schemas.microsoft.com/office/infopath/2007/PartnerControls"/>
    <ds:schemaRef ds:uri="http://purl.org/dc/dcmitype/"/>
    <ds:schemaRef ds:uri="a057c106-f706-43fd-80f6-6b86486fa890"/>
    <ds:schemaRef ds:uri="http://schemas.microsoft.com/office/2006/metadata/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23779073-57B2-43AC-AABB-7CFE5DCADD4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4056</TotalTime>
  <Words>1917</Words>
  <Application>Microsoft Office PowerPoint</Application>
  <PresentationFormat>와이드스크린</PresentationFormat>
  <Paragraphs>250</Paragraphs>
  <Slides>15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21" baseType="lpstr">
      <vt:lpstr>맑은 고딕</vt:lpstr>
      <vt:lpstr>Arial</vt:lpstr>
      <vt:lpstr>Cambria Math</vt:lpstr>
      <vt:lpstr>Times New Roman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고찬영</dc:creator>
  <cp:lastModifiedBy>고찬영</cp:lastModifiedBy>
  <cp:revision>26</cp:revision>
  <dcterms:created xsi:type="dcterms:W3CDTF">2026-01-12T12:52:40Z</dcterms:created>
  <dcterms:modified xsi:type="dcterms:W3CDTF">2026-01-15T08:30:32Z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0x01010019D6A4F6AB632C41BA8650EE0B1C0DC9</vt:lpwstr>
  </property>
</Properties>
</file>