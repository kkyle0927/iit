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280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0275999" cy="6660000"/>
          </a:xfrm>
          <a:prstGeom prst="rect">
            <a:avLst/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552000"/>
            <a:ext cx="30275999" cy="108000"/>
          </a:xfrm>
          <a:prstGeom prst="rect">
            <a:avLst/>
          </a:prstGeom>
          <a:solidFill>
            <a:srgbClr val="1F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_ka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00" y="1528012"/>
            <a:ext cx="4140000" cy="1191974"/>
          </a:xfrm>
          <a:prstGeom prst="rect">
            <a:avLst/>
          </a:prstGeom>
        </p:spPr>
      </p:pic>
      <p:pic>
        <p:nvPicPr>
          <p:cNvPr id="6" name="Picture 5" descr="logo_exo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5999" y="1317146"/>
            <a:ext cx="3240000" cy="13977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055999" y="2772000"/>
            <a:ext cx="46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600" b="1" i="0">
                <a:solidFill>
                  <a:srgbClr val="9FBE19"/>
                </a:solidFill>
                <a:latin typeface="Times New Roman"/>
              </a:rPr>
              <a:t>EXOSKELETON LABORATORY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2844000"/>
            <a:ext cx="720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2600" b="1" i="0">
                <a:solidFill>
                  <a:srgbClr val="1A1A1A"/>
                </a:solidFill>
                <a:latin typeface="Times New Roman"/>
              </a:rPr>
              <a:t>ICNR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3384000"/>
            <a:ext cx="27755999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5400" b="1" i="0">
                <a:solidFill>
                  <a:srgbClr val="1F4899"/>
                </a:solidFill>
                <a:latin typeface="Times New Roman"/>
              </a:rPr>
              <a:t>Data-Driven Compensation of Human–Robot Misalignment for Human Hip Kinematics Estimation in Wearable Robots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4824000"/>
            <a:ext cx="2775599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3400" b="1" i="0">
                <a:solidFill>
                  <a:srgbClr val="1A1A1A"/>
                </a:solidFill>
                <a:latin typeface="Times New Roman"/>
              </a:rPr>
              <a:t>Chanyoung Ko and Kyoungchul Kong*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5364000"/>
            <a:ext cx="2775599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2300" b="0" i="0">
                <a:solidFill>
                  <a:srgbClr val="1A1A1A"/>
                </a:solidFill>
                <a:latin typeface="Times New Roman"/>
              </a:rPr>
              <a:t>Exoskeleton Laboratory, Department of Mechanical Engineering, KAIST, Daejeon, Republic of Korea   ·   kkyle0927@kaist.ac.kr;  kckong@kaist.ac.kr  (*corresponding author)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0000" y="5903999"/>
            <a:ext cx="2775599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3000" b="1" i="0">
                <a:solidFill>
                  <a:srgbClr val="1F4899"/>
                </a:solidFill>
                <a:latin typeface="Times New Roman"/>
              </a:rPr>
              <a:t>The wearer's own thigh angle, read from the robot's own sensors. No body-worn sensors, no motion capture.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7164000"/>
            <a:ext cx="1305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200" b="1" i="0">
                <a:solidFill>
                  <a:srgbClr val="1F4899"/>
                </a:solidFill>
                <a:latin typeface="Times New Roman"/>
              </a:rPr>
              <a:t>Background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0000" y="8154000"/>
            <a:ext cx="13050000" cy="57600"/>
          </a:xfrm>
          <a:prstGeom prst="rect">
            <a:avLst/>
          </a:prstGeom>
          <a:solidFill>
            <a:srgbClr val="1F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ig_p1_conc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564" y="8352000"/>
            <a:ext cx="7074871" cy="485068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00000" y="8352000"/>
            <a:ext cx="5670000" cy="4850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11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Robot-mounted sensors measure the robot, not the wearer's anatomical thigh angle.</a:t>
            </a:r>
          </a:p>
          <a:p>
            <a:pPr algn="l">
              <a:lnSpc>
                <a:spcPct val="95000"/>
              </a:lnSpc>
              <a:spcAft>
                <a:spcPts val="11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Trunk rotation skews the trunk-fixed robot frame off the anatomical hip axis.</a:t>
            </a:r>
          </a:p>
          <a:p>
            <a:pPr algn="l">
              <a:lnSpc>
                <a:spcPct val="95000"/>
              </a:lnSpc>
              <a:spcAft>
                <a:spcPts val="11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Body-worn IMUs would fix this, at a usability and form-factor cost.</a:t>
            </a:r>
          </a:p>
          <a:p>
            <a:pPr algn="l">
              <a:lnSpc>
                <a:spcPct val="95000"/>
              </a:lnSpc>
              <a:spcAft>
                <a:spcPts val="11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The raw robot angle is off by 6.72° on average, worse when assistance is 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13814689"/>
            <a:ext cx="1305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200" b="1" i="0">
                <a:solidFill>
                  <a:srgbClr val="1F4899"/>
                </a:solidFill>
                <a:latin typeface="Times New Roman"/>
              </a:rPr>
              <a:t>Robot 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0000" y="14804689"/>
            <a:ext cx="13050000" cy="57600"/>
          </a:xfrm>
          <a:prstGeom prst="rect">
            <a:avLst/>
          </a:prstGeom>
          <a:solidFill>
            <a:srgbClr val="1F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ig_p3_sens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0" y="15581369"/>
            <a:ext cx="7380000" cy="465147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00000" y="15002689"/>
            <a:ext cx="5670000" cy="58088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Bilateral hip exoskeleton (Angel KIT H10), 10 N·m per side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Onboard sensing: hip encoders, trunk IMU, pelvis-side robot-frame IMU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θ</a:t>
            </a:r>
            <a:r>
              <a:rPr sz="1700" baseline="-25000" b="0" i="0">
                <a:solidFill>
                  <a:srgbClr val="1A1A1A"/>
                </a:solidFill>
                <a:latin typeface="Times New Roman"/>
              </a:rPr>
              <a:t>robot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 = θ</a:t>
            </a:r>
            <a:r>
              <a:rPr sz="1700" baseline="-25000" b="0" i="0">
                <a:solidFill>
                  <a:srgbClr val="1A1A1A"/>
                </a:solidFill>
                <a:latin typeface="Times New Roman"/>
              </a:rPr>
              <a:t>encoder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 − θ</a:t>
            </a:r>
            <a:r>
              <a:rPr sz="1700" baseline="-25000" b="0" i="0">
                <a:solidFill>
                  <a:srgbClr val="1A1A1A"/>
                </a:solidFill>
                <a:latin typeface="Times New Roman"/>
              </a:rPr>
              <a:t>IMU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 − θ</a:t>
            </a:r>
            <a:r>
              <a:rPr sz="1700" baseline="-25000" b="0" i="0">
                <a:solidFill>
                  <a:srgbClr val="1A1A1A"/>
                </a:solidFill>
                <a:latin typeface="Times New Roman"/>
              </a:rPr>
              <a:t>calibration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, from a T-pose standing calibration after donning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τ</a:t>
            </a:r>
            <a:r>
              <a:rPr sz="1700" baseline="-25000" b="0" i="0">
                <a:solidFill>
                  <a:srgbClr val="1A1A1A"/>
                </a:solidFill>
                <a:latin typeface="Times New Roman"/>
              </a:rPr>
              <a:t>peak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 = 4 / 7 N·m (lv4 / lv7),  T</a:t>
            </a:r>
            <a:r>
              <a:rPr sz="1700" baseline="-25000" b="0" i="0">
                <a:solidFill>
                  <a:srgbClr val="1A1A1A"/>
                </a:solidFill>
                <a:latin typeface="Times New Roman"/>
              </a:rPr>
              <a:t>p</a:t>
            </a:r>
            <a:r>
              <a:rPr sz="2600" b="0" i="0">
                <a:solidFill>
                  <a:srgbClr val="1A1A1A"/>
                </a:solidFill>
                <a:latin typeface="Times New Roman"/>
              </a:rPr>
              <a:t> = 0.1 s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Embedded module: NVIDIA Jetson Orin NX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Everything the estimator needs is already mounted on the robot.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21423527"/>
            <a:ext cx="1305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200" b="1" i="0">
                <a:solidFill>
                  <a:srgbClr val="1F4899"/>
                </a:solidFill>
                <a:latin typeface="Times New Roman"/>
              </a:rPr>
              <a:t>Methodology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0000" y="22413527"/>
            <a:ext cx="13050000" cy="57600"/>
          </a:xfrm>
          <a:prstGeom prst="rect">
            <a:avLst/>
          </a:prstGeom>
          <a:solidFill>
            <a:srgbClr val="1F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440000" y="22611527"/>
            <a:ext cx="1305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200" b="1" i="0">
                <a:solidFill>
                  <a:srgbClr val="3D3F36"/>
                </a:solidFill>
                <a:latin typeface="Times New Roman"/>
              </a:rPr>
              <a:t>Biomechanical cue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23259527"/>
            <a:ext cx="13050000" cy="131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Trunk and pelvis counter-rotate during gait, and the robot frame rides on the trunk, so trunk yaw carries information about the discrepancy that the robot's own IMU already measures.</a:t>
            </a:r>
          </a:p>
        </p:txBody>
      </p:sp>
      <p:pic>
        <p:nvPicPr>
          <p:cNvPr id="25" name="Picture 24" descr="fig_p2_ya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0000" y="24613935"/>
            <a:ext cx="13050000" cy="42974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40000" y="28963539"/>
            <a:ext cx="13050000" cy="8777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Relative yaw grows with walking speed and is negatively correlated with the discrepancy in all ten participants analysed.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0000" y="29985278"/>
            <a:ext cx="1305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200" b="1" i="0">
                <a:solidFill>
                  <a:srgbClr val="3D3F36"/>
                </a:solidFill>
                <a:latin typeface="Times New Roman"/>
              </a:rPr>
              <a:t>Estimator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40000" y="30633278"/>
            <a:ext cx="4205999" cy="129600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548000" y="30633278"/>
            <a:ext cx="3989999" cy="12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2600" b="1" i="0">
                <a:solidFill>
                  <a:srgbClr val="1F4899"/>
                </a:solidFill>
                <a:latin typeface="Times New Roman"/>
              </a:rPr>
              <a:t>θ</a:t>
            </a:r>
            <a:r>
              <a:rPr sz="1700" baseline="-25000" b="1" i="0">
                <a:solidFill>
                  <a:srgbClr val="1F4899"/>
                </a:solidFill>
                <a:latin typeface="Times New Roman"/>
              </a:rPr>
              <a:t>robot</a:t>
            </a:r>
            <a:r>
              <a:rPr sz="2600" b="1" i="0">
                <a:solidFill>
                  <a:srgbClr val="1F4899"/>
                </a:solidFill>
                <a:latin typeface="Times New Roman"/>
              </a:rPr>
              <a:t>   (left hip)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61999" y="30633278"/>
            <a:ext cx="4205999" cy="129600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70000" y="30633278"/>
            <a:ext cx="3989999" cy="12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2600" b="1" i="0">
                <a:solidFill>
                  <a:srgbClr val="1F4899"/>
                </a:solidFill>
                <a:latin typeface="Times New Roman"/>
              </a:rPr>
              <a:t>θ</a:t>
            </a:r>
            <a:r>
              <a:rPr sz="1700" baseline="-25000" b="1" i="0">
                <a:solidFill>
                  <a:srgbClr val="1F4899"/>
                </a:solidFill>
                <a:latin typeface="Times New Roman"/>
              </a:rPr>
              <a:t>robot</a:t>
            </a:r>
            <a:r>
              <a:rPr sz="2600" b="1" i="0">
                <a:solidFill>
                  <a:srgbClr val="1F4899"/>
                </a:solidFill>
                <a:latin typeface="Times New Roman"/>
              </a:rPr>
              <a:t>   (right hip)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3999" y="30633278"/>
            <a:ext cx="4205999" cy="129600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391999" y="30633278"/>
            <a:ext cx="3989999" cy="12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2600" b="1" i="0">
                <a:solidFill>
                  <a:srgbClr val="1F4899"/>
                </a:solidFill>
                <a:latin typeface="Times New Roman"/>
              </a:rPr>
              <a:t>θ̃</a:t>
            </a:r>
            <a:r>
              <a:rPr sz="1700" baseline="-25000" b="1" i="0">
                <a:solidFill>
                  <a:srgbClr val="1F4899"/>
                </a:solidFill>
                <a:latin typeface="Times New Roman"/>
              </a:rPr>
              <a:t>yaw</a:t>
            </a:r>
            <a:r>
              <a:rPr sz="2600" b="1" i="0">
                <a:solidFill>
                  <a:srgbClr val="1F4899"/>
                </a:solidFill>
                <a:latin typeface="Times New Roman"/>
              </a:rPr>
              <a:t>   trunk-IMU yaw
(0.1 Hz high-pass)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0000" y="32037278"/>
            <a:ext cx="13050000" cy="8777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Calibration: one 1.0-s standing window after donning. No motion-capture label is used at any point during inference.</a:t>
            </a:r>
          </a:p>
        </p:txBody>
      </p:sp>
      <p:pic>
        <p:nvPicPr>
          <p:cNvPr id="35" name="Picture 34" descr="fig_p_architec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5930" y="33059017"/>
            <a:ext cx="8618139" cy="603691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40000" y="39218336"/>
            <a:ext cx="13050000" cy="4748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2600" b="1" i="0">
                <a:solidFill>
                  <a:srgbClr val="1F4899"/>
                </a:solidFill>
                <a:latin typeface="Times New Roman"/>
              </a:rPr>
              <a:t>8,658 parameters  ·  fully causal  ·  no actuator current  ·  no body-worn sensor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0000" y="39711205"/>
            <a:ext cx="13050000" cy="4748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A biomechanically motivated input, compact enough for the robot's own embedded computer.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86000" y="7164000"/>
            <a:ext cx="1305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200" b="1" i="0">
                <a:solidFill>
                  <a:srgbClr val="1F4899"/>
                </a:solidFill>
                <a:latin typeface="Times New Roman"/>
              </a:rPr>
              <a:t>Experiment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786000" y="8154000"/>
            <a:ext cx="13050000" cy="57600"/>
          </a:xfrm>
          <a:prstGeom prst="rect">
            <a:avLst/>
          </a:prstGeom>
          <a:solidFill>
            <a:srgbClr val="1F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fig_p4_set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000" y="8867482"/>
            <a:ext cx="7380000" cy="340415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3345999" y="8352000"/>
            <a:ext cx="5670000" cy="44351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16 healthy adults · 11.7 h of robot–mocap data at 100 Hz</a:t>
            </a:r>
          </a:p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0.75 / 1.00 / 1.25 m/s and stop-and-go; assist lv0 / lv4 / lv7</a:t>
            </a:r>
          </a:p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Reference: 12-camera Vicon, three thigh markers, T-pose zeroed</a:t>
            </a:r>
          </a:p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Leave-one-subject-out over participants</a:t>
            </a:r>
          </a:p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Motion capture trains and scores the estimate; never used at inference.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786000" y="13399119"/>
            <a:ext cx="1305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200" b="1" i="0">
                <a:solidFill>
                  <a:srgbClr val="1F4899"/>
                </a:solidFill>
                <a:latin typeface="Times New Roman"/>
              </a:rPr>
              <a:t>Results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786000" y="14389119"/>
            <a:ext cx="13050000" cy="57600"/>
          </a:xfrm>
          <a:prstGeom prst="rect">
            <a:avLst/>
          </a:prstGeom>
          <a:solidFill>
            <a:srgbClr val="1F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5786000" y="14587119"/>
            <a:ext cx="1305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200" b="1" i="0">
                <a:solidFill>
                  <a:srgbClr val="3D3F36"/>
                </a:solidFill>
                <a:latin typeface="Times New Roman"/>
              </a:rPr>
              <a:t>•  Accuracy on unseen participants</a:t>
            </a:r>
          </a:p>
        </p:txBody>
      </p:sp>
      <p:pic>
        <p:nvPicPr>
          <p:cNvPr id="45" name="Picture 44" descr="fig_r1_indom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86000" y="15218919"/>
            <a:ext cx="13050000" cy="390757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786000" y="19153494"/>
            <a:ext cx="13050000" cy="356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16-fold leave-one-subject-out: −3.15° vs the raw robot angle (95% CI −3.79 to −2.47°, p &lt; 0.001), lower in all 16 held-out participants.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−0.28° vs the no-yaw network (p = 0.039); −0.70° vs linear Ridge (p = 0.002).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86000" y="20512409"/>
            <a:ext cx="1305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200" b="1" i="0">
                <a:solidFill>
                  <a:srgbClr val="3D3F36"/>
                </a:solidFill>
                <a:latin typeface="Times New Roman"/>
              </a:rPr>
              <a:t>•  Conditions the model never saw</a:t>
            </a:r>
          </a:p>
        </p:txBody>
      </p:sp>
      <p:pic>
        <p:nvPicPr>
          <p:cNvPr id="48" name="Picture 47" descr="fig_r2_oo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86000" y="21144209"/>
            <a:ext cx="13050000" cy="441806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5786000" y="25589274"/>
            <a:ext cx="13050000" cy="356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Each target condition (assistance, faster walking, stop-and-go) was excluded from training, validation and model selection.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Overall MAE fell 35–53% relative to the raw robot angle across all three shifts.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786000" y="26948190"/>
            <a:ext cx="1305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200" b="1" i="0">
                <a:solidFill>
                  <a:srgbClr val="3D3F36"/>
                </a:solidFill>
                <a:latin typeface="Times New Roman"/>
              </a:rPr>
              <a:t>•  Where the raw angle fails most</a:t>
            </a:r>
          </a:p>
        </p:txBody>
      </p:sp>
      <p:pic>
        <p:nvPicPr>
          <p:cNvPr id="51" name="Picture 50" descr="fig_r3_assis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86000" y="27579990"/>
            <a:ext cx="13050000" cy="453408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5786000" y="32141076"/>
            <a:ext cx="13050000" cy="356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High-flexion MAE: 14.23° → 4.21° (−70.4%) under assistance.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Raw error grows with assistance level (7.67° → 8.94°); Proposed stays flat (3.74° → 4.09°).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786000" y="33499991"/>
            <a:ext cx="1305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3200" b="1" i="0">
                <a:solidFill>
                  <a:srgbClr val="3D3F36"/>
                </a:solidFill>
                <a:latin typeface="Times New Roman"/>
              </a:rPr>
              <a:t>•  What this makes possible</a:t>
            </a:r>
          </a:p>
        </p:txBody>
      </p:sp>
      <p:pic>
        <p:nvPicPr>
          <p:cNvPr id="54" name="Picture 53" descr="fig_r4_applica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86000" y="34131791"/>
            <a:ext cx="13050000" cy="441806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5786000" y="38576856"/>
            <a:ext cx="13050000" cy="356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Raw overstates the lv0→lv7 ROM change by 172%, Proposed only 50%; samples above 5° error fall from 58.4% to 30.1%.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2600" b="0" i="0">
                <a:solidFill>
                  <a:srgbClr val="1A1A1A"/>
                </a:solidFill>
                <a:latin typeface="Times New Roman"/>
              </a:rPr>
              <a:t>•  2.642 ms mean latency and 8,658 parameters on a Jetson Orin NX may enable estimator-in-the-loop use; closed-loop control was not verified.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60000" y="40752000"/>
            <a:ext cx="27755999" cy="1800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260000" y="40878000"/>
            <a:ext cx="2775599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Times New Roman"/>
              </a:rPr>
              <a:t>Evaluated in 16 healthy adult male participants, one hip exoskeleton and one low-magnitude assistance profile.   ·   KAIST IRB 2025-295   ·   Supported by NRF Korea (MSIT) No. 2022R1A3B1077880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